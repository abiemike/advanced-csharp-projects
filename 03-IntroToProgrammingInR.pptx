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32"/>
  </p:notesMasterIdLst>
  <p:sldIdLst>
    <p:sldId id="256" r:id="rId2"/>
    <p:sldId id="273" r:id="rId3"/>
    <p:sldId id="296" r:id="rId4"/>
    <p:sldId id="279" r:id="rId5"/>
    <p:sldId id="294" r:id="rId6"/>
    <p:sldId id="295" r:id="rId7"/>
    <p:sldId id="297" r:id="rId8"/>
    <p:sldId id="303" r:id="rId9"/>
    <p:sldId id="304" r:id="rId10"/>
    <p:sldId id="305" r:id="rId11"/>
    <p:sldId id="306" r:id="rId12"/>
    <p:sldId id="307" r:id="rId13"/>
    <p:sldId id="308" r:id="rId14"/>
    <p:sldId id="298" r:id="rId15"/>
    <p:sldId id="299" r:id="rId16"/>
    <p:sldId id="300" r:id="rId17"/>
    <p:sldId id="301" r:id="rId18"/>
    <p:sldId id="302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292" r:id="rId27"/>
    <p:sldId id="293" r:id="rId28"/>
    <p:sldId id="309" r:id="rId29"/>
    <p:sldId id="317" r:id="rId30"/>
    <p:sldId id="27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0"/>
    <p:restoredTop sz="77738"/>
  </p:normalViewPr>
  <p:slideViewPr>
    <p:cSldViewPr snapToGrid="0" snapToObjects="1">
      <p:cViewPr varScale="1">
        <p:scale>
          <a:sx n="109" d="100"/>
          <a:sy n="109" d="100"/>
        </p:scale>
        <p:origin x="18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D1AFB-1692-8A4B-97A8-F9DA79B518D2}" type="datetimeFigureOut">
              <a:rPr lang="en-US" smtClean="0"/>
              <a:t>7/23/21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97273-40AE-F746-B574-586CAEBDC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20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7/23/21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85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58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7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8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44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8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92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7/23/21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89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7/23/21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0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06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7/23/21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26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7/23/21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1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rdrr.io/r/base/mean.html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-project.org/doc/contrib/Paradis-rdebuts_en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network of lines and dots background">
            <a:extLst>
              <a:ext uri="{FF2B5EF4-FFF2-40B4-BE49-F238E27FC236}">
                <a16:creationId xmlns:a16="http://schemas.microsoft.com/office/drawing/2014/main" id="{76815CEB-2B6E-4A16-836D-280AF671E9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6" r="2454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F2315-0BE9-2547-8827-A3632E5C7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5618020" cy="3204134"/>
          </a:xfrm>
        </p:spPr>
        <p:txBody>
          <a:bodyPr anchor="b">
            <a:normAutofit/>
          </a:bodyPr>
          <a:lstStyle/>
          <a:p>
            <a:r>
              <a:rPr lang="en-CA" sz="4800" dirty="0"/>
              <a:t>Introduction to Programming in R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F222E-896C-6E4C-A947-4B73C773D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933006" cy="1208141"/>
          </a:xfrm>
        </p:spPr>
        <p:txBody>
          <a:bodyPr>
            <a:normAutofit/>
          </a:bodyPr>
          <a:lstStyle/>
          <a:p>
            <a:r>
              <a:rPr lang="en-US" sz="2000" dirty="0" err="1"/>
              <a:t>Przemyslaw</a:t>
            </a:r>
            <a:r>
              <a:rPr lang="en-US" sz="2000" dirty="0"/>
              <a:t> (</a:t>
            </a:r>
            <a:r>
              <a:rPr lang="en-US" sz="2000" dirty="0" err="1"/>
              <a:t>Pshemek</a:t>
            </a:r>
            <a:r>
              <a:rPr lang="en-US" sz="2000" dirty="0"/>
              <a:t>) </a:t>
            </a:r>
            <a:r>
              <a:rPr lang="en-US" sz="2000" dirty="0" err="1"/>
              <a:t>Pawluk</a:t>
            </a:r>
            <a:r>
              <a:rPr lang="en-US" sz="2000" dirty="0"/>
              <a:t> MSc. Eng.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6104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D65A-8F33-F44D-BD4E-A3D994BC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F39E4-16B2-514B-9045-4DEFF61CD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programming concepts in R</a:t>
            </a:r>
          </a:p>
          <a:p>
            <a:r>
              <a:rPr lang="en-US" dirty="0"/>
              <a:t>Tools - RStudio</a:t>
            </a:r>
          </a:p>
        </p:txBody>
      </p:sp>
    </p:spTree>
    <p:extLst>
      <p:ext uri="{BB962C8B-B14F-4D97-AF65-F5344CB8AC3E}">
        <p14:creationId xmlns:p14="http://schemas.microsoft.com/office/powerpoint/2010/main" val="285424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9B0F-B10E-3A48-B9AB-69560034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/ Data Analysis </a:t>
            </a:r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A66BB625-298E-8948-9501-3F2DC6663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162" y="2675577"/>
            <a:ext cx="8976940" cy="3299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411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E0C645-AAC8-5E49-BA4E-6D36F0FE9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programming tools if we can do so much in Excel?</a:t>
            </a:r>
          </a:p>
        </p:txBody>
      </p:sp>
    </p:spTree>
    <p:extLst>
      <p:ext uri="{BB962C8B-B14F-4D97-AF65-F5344CB8AC3E}">
        <p14:creationId xmlns:p14="http://schemas.microsoft.com/office/powerpoint/2010/main" val="249873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AB8D60-9731-0543-A8D1-986E390F0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C3452-0EAB-BE4D-B6C2-8F390AA99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R is an interpreted language, not a compiled one, meaning that all commands typed on the keyboard are directly executed without requiring to build a complete program like in most computer languages (C, Java, C#, . . .).</a:t>
            </a:r>
          </a:p>
          <a:p>
            <a:r>
              <a:rPr lang="en-CA" dirty="0"/>
              <a:t>R’s syntax is very simple and intuitive.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047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AB8D60-9731-0543-A8D1-986E390F0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7F01A8-2010-9143-AE20-620A058EE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154" y="2478024"/>
            <a:ext cx="5814646" cy="3694176"/>
          </a:xfrm>
        </p:spPr>
        <p:txBody>
          <a:bodyPr>
            <a:normAutofit fontScale="85000" lnSpcReduction="10000"/>
          </a:bodyPr>
          <a:lstStyle/>
          <a:p>
            <a:r>
              <a:rPr lang="en-CA" dirty="0"/>
              <a:t>When R is running, variables, data, functions, results, etc., are stored in the active memory of the computer in the form of objects which have a names. </a:t>
            </a:r>
          </a:p>
          <a:p>
            <a:r>
              <a:rPr lang="en-CA" dirty="0"/>
              <a:t>The user can do actions on these objects with operators (arithmetic, logical, comparison, . . .) and functions (which are themselves objects).</a:t>
            </a:r>
            <a:endParaRPr lang="en-US" dirty="0"/>
          </a:p>
        </p:txBody>
      </p:sp>
      <p:pic>
        <p:nvPicPr>
          <p:cNvPr id="10" name="Picture 9" descr="Diagram, schematic&#10;&#10;Description automatically generated">
            <a:extLst>
              <a:ext uri="{FF2B5EF4-FFF2-40B4-BE49-F238E27FC236}">
                <a16:creationId xmlns:a16="http://schemas.microsoft.com/office/drawing/2014/main" id="{DE17D6FE-9457-C646-BBFA-CDFCCC83D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748" y="2956131"/>
            <a:ext cx="5434135" cy="217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07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6C22-DC71-2D44-810C-5F8CD85E8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DC987-3683-DA4F-AA62-7B5348BE9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help(): prints documentation for a given R command</a:t>
            </a:r>
          </a:p>
          <a:p>
            <a:r>
              <a:rPr lang="en-US" dirty="0"/>
              <a:t>example(): view some examples on the use of a command</a:t>
            </a:r>
          </a:p>
          <a:p>
            <a:r>
              <a:rPr lang="en-US" dirty="0"/>
              <a:t>c() or scan(): enter data manually to a vector</a:t>
            </a:r>
          </a:p>
        </p:txBody>
      </p:sp>
    </p:spTree>
    <p:extLst>
      <p:ext uri="{BB962C8B-B14F-4D97-AF65-F5344CB8AC3E}">
        <p14:creationId xmlns:p14="http://schemas.microsoft.com/office/powerpoint/2010/main" val="22433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8F5A8-DF48-0C45-8669-3E22488C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3943D-196A-6D41-B63A-4B844C65D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5144555" cy="3694176"/>
          </a:xfrm>
        </p:spPr>
        <p:txBody>
          <a:bodyPr/>
          <a:lstStyle/>
          <a:p>
            <a:r>
              <a:rPr lang="en-US" dirty="0"/>
              <a:t>You can run/calculate expressions directly in the R console</a:t>
            </a:r>
          </a:p>
          <a:p>
            <a:r>
              <a:rPr lang="en-US" dirty="0"/>
              <a:t>Results are printed in the console</a:t>
            </a:r>
          </a:p>
          <a:p>
            <a:r>
              <a:rPr lang="en-US" dirty="0"/>
              <a:t>This approach is good for testing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BC7767-8079-BC4F-8E31-3CE90874F756}"/>
              </a:ext>
            </a:extLst>
          </p:cNvPr>
          <p:cNvSpPr/>
          <p:nvPr/>
        </p:nvSpPr>
        <p:spPr>
          <a:xfrm>
            <a:off x="6617912" y="2570786"/>
            <a:ext cx="466578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1 / 200 * 30</a:t>
            </a:r>
          </a:p>
          <a:p>
            <a:r>
              <a:rPr lang="en-US" sz="3200" dirty="0">
                <a:latin typeface="Courier" pitchFamily="2" charset="0"/>
              </a:rPr>
              <a:t>#&gt; [1] 0.15</a:t>
            </a:r>
          </a:p>
          <a:p>
            <a:r>
              <a:rPr lang="en-US" sz="3200" dirty="0">
                <a:latin typeface="Courier" pitchFamily="2" charset="0"/>
              </a:rPr>
              <a:t>(59 + 73 + 2) / 3</a:t>
            </a:r>
          </a:p>
          <a:p>
            <a:r>
              <a:rPr lang="en-US" sz="3200" dirty="0">
                <a:latin typeface="Courier" pitchFamily="2" charset="0"/>
              </a:rPr>
              <a:t>#&gt; [1] 44.66667</a:t>
            </a:r>
          </a:p>
          <a:p>
            <a:r>
              <a:rPr lang="en-US" sz="3200" dirty="0">
                <a:latin typeface="Courier" pitchFamily="2" charset="0"/>
              </a:rPr>
              <a:t>sin(pi / 2)</a:t>
            </a:r>
          </a:p>
          <a:p>
            <a:r>
              <a:rPr lang="en-US" sz="3200" dirty="0">
                <a:latin typeface="Courier" pitchFamily="2" charset="0"/>
              </a:rPr>
              <a:t>#&gt; [1] 1</a:t>
            </a:r>
          </a:p>
        </p:txBody>
      </p:sp>
    </p:spTree>
    <p:extLst>
      <p:ext uri="{BB962C8B-B14F-4D97-AF65-F5344CB8AC3E}">
        <p14:creationId xmlns:p14="http://schemas.microsoft.com/office/powerpoint/2010/main" val="288984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8F5A8-DF48-0C45-8669-3E22488C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3943D-196A-6D41-B63A-4B844C65D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5144555" cy="369417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the console, you can also store results in the object (some call it a variable, it is a named space in the memory)</a:t>
            </a:r>
          </a:p>
          <a:p>
            <a:r>
              <a:rPr lang="en-US" dirty="0"/>
              <a:t>It allows you to reuse the value</a:t>
            </a:r>
          </a:p>
          <a:p>
            <a:r>
              <a:rPr lang="en-US" dirty="0"/>
              <a:t>Assignment does not print value</a:t>
            </a:r>
          </a:p>
          <a:p>
            <a:r>
              <a:rPr lang="en-US" dirty="0"/>
              <a:t>Expression can be simply a value or some calculation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BC7767-8079-BC4F-8E31-3CE90874F756}"/>
              </a:ext>
            </a:extLst>
          </p:cNvPr>
          <p:cNvSpPr/>
          <p:nvPr/>
        </p:nvSpPr>
        <p:spPr>
          <a:xfrm>
            <a:off x="6606189" y="2852140"/>
            <a:ext cx="478864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Courier" pitchFamily="2" charset="0"/>
              </a:rPr>
              <a:t>name &lt;- expression</a:t>
            </a:r>
          </a:p>
          <a:p>
            <a:pPr algn="ctr"/>
            <a:endParaRPr lang="en-US" sz="3200" dirty="0">
              <a:latin typeface="Courier" pitchFamily="2" charset="0"/>
            </a:endParaRPr>
          </a:p>
          <a:p>
            <a:r>
              <a:rPr lang="en-US" sz="3200" dirty="0">
                <a:latin typeface="Courier" pitchFamily="2" charset="0"/>
              </a:rPr>
              <a:t>x &lt;- 3 * 4</a:t>
            </a:r>
          </a:p>
          <a:p>
            <a:br>
              <a:rPr lang="en-US" sz="3200" dirty="0">
                <a:latin typeface="Courier" pitchFamily="2" charset="0"/>
              </a:rPr>
            </a:br>
            <a:r>
              <a:rPr lang="en-US" sz="3200" dirty="0">
                <a:latin typeface="Courier" pitchFamily="2" charset="0"/>
              </a:rPr>
              <a:t>(x &lt;- 3 * 4)</a:t>
            </a:r>
          </a:p>
          <a:p>
            <a:r>
              <a:rPr lang="en-US" sz="3200" dirty="0">
                <a:latin typeface="Courier" pitchFamily="2" charset="0"/>
              </a:rPr>
              <a:t>#&gt; [1] 12</a:t>
            </a:r>
          </a:p>
          <a:p>
            <a:endParaRPr lang="en-US" sz="32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180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8F5A8-DF48-0C45-8669-3E22488C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Objects’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3943D-196A-6D41-B63A-4B844C65D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3"/>
            <a:ext cx="5144555" cy="3694176"/>
          </a:xfrm>
        </p:spPr>
        <p:txBody>
          <a:bodyPr>
            <a:normAutofit fontScale="77500" lnSpcReduction="20000"/>
          </a:bodyPr>
          <a:lstStyle/>
          <a:p>
            <a:r>
              <a:rPr lang="en-CA" dirty="0"/>
              <a:t>Object name must start with a letter </a:t>
            </a:r>
          </a:p>
          <a:p>
            <a:r>
              <a:rPr lang="en-CA" dirty="0"/>
              <a:t>It can only contain letters, numbers, _ and .. </a:t>
            </a:r>
          </a:p>
          <a:p>
            <a:r>
              <a:rPr lang="en-CA" dirty="0"/>
              <a:t>You want your object names to be descriptive, so you’ll need a convention for multiple words. We recommend </a:t>
            </a:r>
            <a:r>
              <a:rPr lang="en-CA" b="1" dirty="0" err="1"/>
              <a:t>snake_case</a:t>
            </a:r>
            <a:r>
              <a:rPr lang="en-CA" dirty="0"/>
              <a:t> where you separate lowercase words with _.</a:t>
            </a:r>
          </a:p>
          <a:p>
            <a:r>
              <a:rPr lang="en-CA" dirty="0"/>
              <a:t>Alternative is </a:t>
            </a:r>
            <a:r>
              <a:rPr lang="en-CA" b="1" dirty="0"/>
              <a:t>camelCase</a:t>
            </a:r>
            <a:r>
              <a:rPr lang="en-CA" dirty="0"/>
              <a:t> where each word starts with a capital letter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BC7767-8079-BC4F-8E31-3CE90874F756}"/>
              </a:ext>
            </a:extLst>
          </p:cNvPr>
          <p:cNvSpPr/>
          <p:nvPr/>
        </p:nvSpPr>
        <p:spPr>
          <a:xfrm>
            <a:off x="6260123" y="3201727"/>
            <a:ext cx="577947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urier" pitchFamily="2" charset="0"/>
              </a:rPr>
              <a:t>use_snake_case</a:t>
            </a:r>
            <a:endParaRPr lang="en-US" sz="2000" dirty="0">
              <a:latin typeface="Courier" pitchFamily="2" charset="0"/>
            </a:endParaRPr>
          </a:p>
          <a:p>
            <a:endParaRPr lang="en-US" sz="2000" dirty="0">
              <a:latin typeface="Courier" pitchFamily="2" charset="0"/>
            </a:endParaRPr>
          </a:p>
          <a:p>
            <a:r>
              <a:rPr lang="en-US" sz="2000" dirty="0" err="1">
                <a:latin typeface="Courier" pitchFamily="2" charset="0"/>
              </a:rPr>
              <a:t>orUseCamelCase</a:t>
            </a:r>
            <a:endParaRPr lang="en-US" sz="2000" dirty="0">
              <a:latin typeface="Courier" pitchFamily="2" charset="0"/>
            </a:endParaRPr>
          </a:p>
          <a:p>
            <a:endParaRPr lang="en-US" sz="2000" dirty="0">
              <a:latin typeface="Courier" pitchFamily="2" charset="0"/>
            </a:endParaRPr>
          </a:p>
          <a:p>
            <a:r>
              <a:rPr lang="en-US" sz="2000" dirty="0" err="1">
                <a:latin typeface="Courier" pitchFamily="2" charset="0"/>
              </a:rPr>
              <a:t>some.people.use.periods</a:t>
            </a:r>
            <a:endParaRPr lang="en-US" sz="2000" dirty="0">
              <a:latin typeface="Courier" pitchFamily="2" charset="0"/>
            </a:endParaRPr>
          </a:p>
          <a:p>
            <a:br>
              <a:rPr lang="en-US" sz="2000" dirty="0">
                <a:latin typeface="Courier" pitchFamily="2" charset="0"/>
              </a:rPr>
            </a:br>
            <a:r>
              <a:rPr lang="en-US" sz="2000" dirty="0" err="1">
                <a:latin typeface="Courier" pitchFamily="2" charset="0"/>
              </a:rPr>
              <a:t>And_aFew.People_RENOUNCEconvention</a:t>
            </a:r>
            <a:endParaRPr lang="en-US" sz="20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93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8F5A8-DF48-0C45-8669-3E22488C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Objects’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3943D-196A-6D41-B63A-4B844C65D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3"/>
            <a:ext cx="5144555" cy="3694176"/>
          </a:xfrm>
        </p:spPr>
        <p:txBody>
          <a:bodyPr>
            <a:normAutofit fontScale="77500" lnSpcReduction="20000"/>
          </a:bodyPr>
          <a:lstStyle/>
          <a:p>
            <a:r>
              <a:rPr lang="en-CA" dirty="0"/>
              <a:t>Object name must start with a letter </a:t>
            </a:r>
          </a:p>
          <a:p>
            <a:r>
              <a:rPr lang="en-CA" dirty="0"/>
              <a:t>It can only contain letters, numbers, _ and .. </a:t>
            </a:r>
          </a:p>
          <a:p>
            <a:r>
              <a:rPr lang="en-CA" dirty="0"/>
              <a:t>You want your object names to be descriptive, so you’ll need a convention for multiple words. We recommend </a:t>
            </a:r>
            <a:r>
              <a:rPr lang="en-CA" b="1" dirty="0" err="1"/>
              <a:t>snake_case</a:t>
            </a:r>
            <a:r>
              <a:rPr lang="en-CA" dirty="0"/>
              <a:t> where you separate lowercase words with _.</a:t>
            </a:r>
          </a:p>
          <a:p>
            <a:r>
              <a:rPr lang="en-CA" dirty="0"/>
              <a:t>Alternative is </a:t>
            </a:r>
            <a:r>
              <a:rPr lang="en-CA" b="1" dirty="0"/>
              <a:t>camelCase</a:t>
            </a:r>
            <a:r>
              <a:rPr lang="en-CA" dirty="0"/>
              <a:t> where each word starts with a capital letter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BC7767-8079-BC4F-8E31-3CE90874F756}"/>
              </a:ext>
            </a:extLst>
          </p:cNvPr>
          <p:cNvSpPr/>
          <p:nvPr/>
        </p:nvSpPr>
        <p:spPr>
          <a:xfrm>
            <a:off x="6260123" y="3201727"/>
            <a:ext cx="577947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009051"/>
                </a:solidFill>
                <a:latin typeface="Courier" pitchFamily="2" charset="0"/>
              </a:rPr>
              <a:t>use_snake_case</a:t>
            </a:r>
            <a:endParaRPr lang="en-US" sz="2000" b="1" dirty="0">
              <a:solidFill>
                <a:srgbClr val="009051"/>
              </a:solidFill>
              <a:latin typeface="Courier" pitchFamily="2" charset="0"/>
            </a:endParaRPr>
          </a:p>
          <a:p>
            <a:endParaRPr lang="en-US" sz="2000" b="1" dirty="0">
              <a:solidFill>
                <a:srgbClr val="009051"/>
              </a:solidFill>
              <a:latin typeface="Courier" pitchFamily="2" charset="0"/>
            </a:endParaRPr>
          </a:p>
          <a:p>
            <a:r>
              <a:rPr lang="en-US" sz="2000" b="1" dirty="0" err="1">
                <a:solidFill>
                  <a:srgbClr val="009051"/>
                </a:solidFill>
                <a:latin typeface="Courier" pitchFamily="2" charset="0"/>
              </a:rPr>
              <a:t>orUseCamelCase</a:t>
            </a:r>
            <a:endParaRPr lang="en-US" sz="2000" b="1" dirty="0">
              <a:solidFill>
                <a:srgbClr val="009051"/>
              </a:solidFill>
              <a:latin typeface="Courier" pitchFamily="2" charset="0"/>
            </a:endParaRPr>
          </a:p>
          <a:p>
            <a:endParaRPr lang="en-US" sz="2000" dirty="0">
              <a:latin typeface="Courier" pitchFamily="2" charset="0"/>
            </a:endParaRPr>
          </a:p>
          <a:p>
            <a:r>
              <a:rPr lang="en-US" sz="2000" strike="sngStrike" dirty="0" err="1">
                <a:solidFill>
                  <a:srgbClr val="C00000"/>
                </a:solidFill>
                <a:latin typeface="Courier" pitchFamily="2" charset="0"/>
              </a:rPr>
              <a:t>some.people.use.periods</a:t>
            </a:r>
            <a:endParaRPr lang="en-US" sz="2000" strike="sngStrike" dirty="0">
              <a:solidFill>
                <a:srgbClr val="C00000"/>
              </a:solidFill>
              <a:latin typeface="Courier" pitchFamily="2" charset="0"/>
            </a:endParaRPr>
          </a:p>
          <a:p>
            <a:br>
              <a:rPr lang="en-US" sz="2000" strike="sngStrike" dirty="0">
                <a:solidFill>
                  <a:srgbClr val="C00000"/>
                </a:solidFill>
                <a:latin typeface="Courier" pitchFamily="2" charset="0"/>
              </a:rPr>
            </a:br>
            <a:r>
              <a:rPr lang="en-US" sz="2000" strike="sngStrike" dirty="0" err="1">
                <a:solidFill>
                  <a:srgbClr val="C00000"/>
                </a:solidFill>
                <a:latin typeface="Courier" pitchFamily="2" charset="0"/>
              </a:rPr>
              <a:t>And_aFew.People_RENOUNCEconvention</a:t>
            </a:r>
            <a:endParaRPr lang="en-US" sz="2000" strike="sngStrike" dirty="0">
              <a:solidFill>
                <a:srgbClr val="C00000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45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8F5A8-DF48-0C45-8669-3E22488C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is case sensitive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3943D-196A-6D41-B63A-4B844C65D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3"/>
            <a:ext cx="5144555" cy="3694176"/>
          </a:xfrm>
        </p:spPr>
        <p:txBody>
          <a:bodyPr>
            <a:normAutofit fontScale="92500"/>
          </a:bodyPr>
          <a:lstStyle/>
          <a:p>
            <a:r>
              <a:rPr lang="en-CA" dirty="0"/>
              <a:t>R is a case sensitive language</a:t>
            </a:r>
          </a:p>
          <a:p>
            <a:r>
              <a:rPr lang="en-CA" dirty="0"/>
              <a:t>Be careful with naming as in programming there is no guessing</a:t>
            </a:r>
          </a:p>
          <a:p>
            <a:r>
              <a:rPr lang="en-CA" dirty="0"/>
              <a:t>If you want to see the value assigned to the variable surround the whole line with ()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BC7767-8079-BC4F-8E31-3CE90874F756}"/>
              </a:ext>
            </a:extLst>
          </p:cNvPr>
          <p:cNvSpPr/>
          <p:nvPr/>
        </p:nvSpPr>
        <p:spPr>
          <a:xfrm>
            <a:off x="6260123" y="2721081"/>
            <a:ext cx="577947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urier" pitchFamily="2" charset="0"/>
              </a:rPr>
              <a:t>r_rocks</a:t>
            </a:r>
            <a:r>
              <a:rPr lang="en-US" sz="2000" dirty="0">
                <a:latin typeface="Courier" pitchFamily="2" charset="0"/>
              </a:rPr>
              <a:t> &lt;- 2 ^ 3</a:t>
            </a:r>
          </a:p>
          <a:p>
            <a:endParaRPr lang="en-US" sz="2000" dirty="0">
              <a:latin typeface="Courier" pitchFamily="2" charset="0"/>
            </a:endParaRPr>
          </a:p>
          <a:p>
            <a:r>
              <a:rPr lang="en-US" sz="2000" dirty="0" err="1">
                <a:latin typeface="Courier" pitchFamily="2" charset="0"/>
              </a:rPr>
              <a:t>r_rock</a:t>
            </a:r>
            <a:endParaRPr lang="en-US" sz="2000" dirty="0">
              <a:latin typeface="Courier" pitchFamily="2" charset="0"/>
            </a:endParaRPr>
          </a:p>
          <a:p>
            <a:r>
              <a:rPr lang="en-US" sz="2000" dirty="0">
                <a:latin typeface="Courier" pitchFamily="2" charset="0"/>
              </a:rPr>
              <a:t>#&gt; </a:t>
            </a:r>
            <a:r>
              <a:rPr lang="en-US" sz="2000" dirty="0">
                <a:solidFill>
                  <a:srgbClr val="C00000"/>
                </a:solidFill>
                <a:latin typeface="Courier" pitchFamily="2" charset="0"/>
              </a:rPr>
              <a:t>Error: object '</a:t>
            </a:r>
            <a:r>
              <a:rPr lang="en-US" sz="2000" dirty="0" err="1">
                <a:solidFill>
                  <a:srgbClr val="C00000"/>
                </a:solidFill>
                <a:latin typeface="Courier" pitchFamily="2" charset="0"/>
              </a:rPr>
              <a:t>r_rock</a:t>
            </a:r>
            <a:r>
              <a:rPr lang="en-US" sz="2000" dirty="0">
                <a:solidFill>
                  <a:srgbClr val="C00000"/>
                </a:solidFill>
                <a:latin typeface="Courier" pitchFamily="2" charset="0"/>
              </a:rPr>
              <a:t>' not found</a:t>
            </a:r>
          </a:p>
          <a:p>
            <a:r>
              <a:rPr lang="en-US" sz="2000" dirty="0" err="1">
                <a:latin typeface="Courier" pitchFamily="2" charset="0"/>
              </a:rPr>
              <a:t>R_rocks</a:t>
            </a:r>
            <a:endParaRPr lang="en-US" sz="2000" dirty="0">
              <a:latin typeface="Courier" pitchFamily="2" charset="0"/>
            </a:endParaRPr>
          </a:p>
          <a:p>
            <a:r>
              <a:rPr lang="en-US" sz="2000" dirty="0">
                <a:latin typeface="Courier" pitchFamily="2" charset="0"/>
              </a:rPr>
              <a:t>#&gt; </a:t>
            </a:r>
            <a:r>
              <a:rPr lang="en-US" sz="2000" dirty="0">
                <a:solidFill>
                  <a:srgbClr val="C00000"/>
                </a:solidFill>
                <a:latin typeface="Courier" pitchFamily="2" charset="0"/>
              </a:rPr>
              <a:t>Error: object '</a:t>
            </a:r>
            <a:r>
              <a:rPr lang="en-US" sz="2000" dirty="0" err="1">
                <a:solidFill>
                  <a:srgbClr val="C00000"/>
                </a:solidFill>
                <a:latin typeface="Courier" pitchFamily="2" charset="0"/>
              </a:rPr>
              <a:t>R_rocks</a:t>
            </a:r>
            <a:r>
              <a:rPr lang="en-US" sz="2000" dirty="0">
                <a:solidFill>
                  <a:srgbClr val="C00000"/>
                </a:solidFill>
                <a:latin typeface="Courier" pitchFamily="2" charset="0"/>
              </a:rPr>
              <a:t>' not found</a:t>
            </a:r>
          </a:p>
        </p:txBody>
      </p:sp>
    </p:spTree>
    <p:extLst>
      <p:ext uri="{BB962C8B-B14F-4D97-AF65-F5344CB8AC3E}">
        <p14:creationId xmlns:p14="http://schemas.microsoft.com/office/powerpoint/2010/main" val="1934636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8F5A8-DF48-0C45-8669-3E22488C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3943D-196A-6D41-B63A-4B844C65D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60" y="2501469"/>
            <a:ext cx="5144555" cy="3694176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R has a large collection of built-in functions</a:t>
            </a:r>
          </a:p>
          <a:p>
            <a:r>
              <a:rPr lang="en-CA" dirty="0"/>
              <a:t>You can call them using name of the function and parenthesis ( and ) </a:t>
            </a:r>
          </a:p>
          <a:p>
            <a:r>
              <a:rPr lang="en-CA" dirty="0"/>
              <a:t>In parenthesis you can provide parameters for the function (if it requires them)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BC7767-8079-BC4F-8E31-3CE90874F756}"/>
              </a:ext>
            </a:extLst>
          </p:cNvPr>
          <p:cNvSpPr/>
          <p:nvPr/>
        </p:nvSpPr>
        <p:spPr>
          <a:xfrm>
            <a:off x="5967046" y="3686837"/>
            <a:ext cx="62249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urier" pitchFamily="2" charset="0"/>
              </a:rPr>
              <a:t>function_name</a:t>
            </a:r>
            <a:r>
              <a:rPr lang="en-US" sz="2000" dirty="0">
                <a:latin typeface="Courier" pitchFamily="2" charset="0"/>
              </a:rPr>
              <a:t>(arg1 = val1, ...)</a:t>
            </a:r>
          </a:p>
          <a:p>
            <a:endParaRPr lang="en-US" sz="2000" dirty="0">
              <a:latin typeface="Courier" pitchFamily="2" charset="0"/>
            </a:endParaRPr>
          </a:p>
          <a:p>
            <a:r>
              <a:rPr lang="en-US" sz="2000" dirty="0">
                <a:latin typeface="Courier" pitchFamily="2" charset="0"/>
              </a:rPr>
              <a:t>seq(1, 10)</a:t>
            </a:r>
          </a:p>
          <a:p>
            <a:r>
              <a:rPr lang="en-US" sz="2000" dirty="0">
                <a:latin typeface="Courier" pitchFamily="2" charset="0"/>
              </a:rPr>
              <a:t>#&gt;  [1]  1  2  3  4  5  6  7  8  9 10</a:t>
            </a:r>
          </a:p>
        </p:txBody>
      </p:sp>
    </p:spTree>
    <p:extLst>
      <p:ext uri="{BB962C8B-B14F-4D97-AF65-F5344CB8AC3E}">
        <p14:creationId xmlns:p14="http://schemas.microsoft.com/office/powerpoint/2010/main" val="3872335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2478-CE91-D44A-ADCF-7BF63667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D611C16-BFE8-4447-B549-628F0143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45323"/>
            <a:ext cx="2577201" cy="40268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Demos</a:t>
            </a:r>
          </a:p>
          <a:p>
            <a:pPr>
              <a:lnSpc>
                <a:spcPct val="150000"/>
              </a:lnSpc>
            </a:pPr>
            <a:r>
              <a:rPr lang="en-US" dirty="0"/>
              <a:t>Console</a:t>
            </a:r>
          </a:p>
          <a:p>
            <a:pPr>
              <a:lnSpc>
                <a:spcPct val="150000"/>
              </a:lnSpc>
            </a:pPr>
            <a:r>
              <a:rPr lang="en-US" dirty="0"/>
              <a:t>Help etc.</a:t>
            </a:r>
          </a:p>
          <a:p>
            <a:pPr>
              <a:lnSpc>
                <a:spcPct val="150000"/>
              </a:lnSpc>
            </a:pPr>
            <a:r>
              <a:rPr lang="en-US" dirty="0"/>
              <a:t>Results &amp; Graphs</a:t>
            </a:r>
          </a:p>
        </p:txBody>
      </p:sp>
      <p:pic>
        <p:nvPicPr>
          <p:cNvPr id="11" name="Content Placeholder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2A26B0B3-E462-984C-9CBF-03DB47B76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857" y="406455"/>
            <a:ext cx="8114213" cy="604509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53F46A-854A-FC4C-8A3B-E34D8D798EE3}"/>
              </a:ext>
            </a:extLst>
          </p:cNvPr>
          <p:cNvCxnSpPr/>
          <p:nvPr/>
        </p:nvCxnSpPr>
        <p:spPr>
          <a:xfrm flipV="1">
            <a:off x="2836985" y="2309446"/>
            <a:ext cx="1699846" cy="293077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566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2478-CE91-D44A-ADCF-7BF63667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D611C16-BFE8-4447-B549-628F0143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45323"/>
            <a:ext cx="2577201" cy="40268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Demos</a:t>
            </a:r>
          </a:p>
          <a:p>
            <a:pPr>
              <a:lnSpc>
                <a:spcPct val="150000"/>
              </a:lnSpc>
            </a:pPr>
            <a:r>
              <a:rPr lang="en-US" dirty="0"/>
              <a:t>Console</a:t>
            </a:r>
          </a:p>
          <a:p>
            <a:pPr>
              <a:lnSpc>
                <a:spcPct val="150000"/>
              </a:lnSpc>
            </a:pPr>
            <a:r>
              <a:rPr lang="en-US" dirty="0"/>
              <a:t>Help etc.</a:t>
            </a:r>
          </a:p>
          <a:p>
            <a:pPr>
              <a:lnSpc>
                <a:spcPct val="150000"/>
              </a:lnSpc>
            </a:pPr>
            <a:r>
              <a:rPr lang="en-US" dirty="0"/>
              <a:t>Results &amp; Graphs</a:t>
            </a:r>
          </a:p>
        </p:txBody>
      </p:sp>
      <p:pic>
        <p:nvPicPr>
          <p:cNvPr id="11" name="Content Placeholder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2A26B0B3-E462-984C-9CBF-03DB47B76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857" y="406455"/>
            <a:ext cx="8114213" cy="604509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53F46A-854A-FC4C-8A3B-E34D8D798EE3}"/>
              </a:ext>
            </a:extLst>
          </p:cNvPr>
          <p:cNvCxnSpPr>
            <a:cxnSpLocks/>
          </p:cNvCxnSpPr>
          <p:nvPr/>
        </p:nvCxnSpPr>
        <p:spPr>
          <a:xfrm>
            <a:off x="2842846" y="3329355"/>
            <a:ext cx="1330569" cy="1535722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4543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2478-CE91-D44A-ADCF-7BF63667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D611C16-BFE8-4447-B549-628F0143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45323"/>
            <a:ext cx="2577201" cy="40268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Demos</a:t>
            </a:r>
          </a:p>
          <a:p>
            <a:pPr>
              <a:lnSpc>
                <a:spcPct val="150000"/>
              </a:lnSpc>
            </a:pPr>
            <a:r>
              <a:rPr lang="en-US" dirty="0"/>
              <a:t>Console</a:t>
            </a:r>
          </a:p>
          <a:p>
            <a:pPr>
              <a:lnSpc>
                <a:spcPct val="150000"/>
              </a:lnSpc>
            </a:pPr>
            <a:r>
              <a:rPr lang="en-US" dirty="0"/>
              <a:t>Help etc.</a:t>
            </a:r>
          </a:p>
          <a:p>
            <a:pPr>
              <a:lnSpc>
                <a:spcPct val="150000"/>
              </a:lnSpc>
            </a:pPr>
            <a:r>
              <a:rPr lang="en-US" dirty="0"/>
              <a:t>Results &amp; Graphs</a:t>
            </a:r>
          </a:p>
        </p:txBody>
      </p:sp>
      <p:pic>
        <p:nvPicPr>
          <p:cNvPr id="11" name="Content Placeholder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2A26B0B3-E462-984C-9CBF-03DB47B76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857" y="406455"/>
            <a:ext cx="8114213" cy="604509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53F46A-854A-FC4C-8A3B-E34D8D798EE3}"/>
              </a:ext>
            </a:extLst>
          </p:cNvPr>
          <p:cNvCxnSpPr>
            <a:cxnSpLocks/>
          </p:cNvCxnSpPr>
          <p:nvPr/>
        </p:nvCxnSpPr>
        <p:spPr>
          <a:xfrm flipV="1">
            <a:off x="2901461" y="1641231"/>
            <a:ext cx="5597772" cy="2426677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559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2478-CE91-D44A-ADCF-7BF63667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D611C16-BFE8-4447-B549-628F0143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45323"/>
            <a:ext cx="2577201" cy="40268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Demos</a:t>
            </a:r>
          </a:p>
          <a:p>
            <a:pPr>
              <a:lnSpc>
                <a:spcPct val="150000"/>
              </a:lnSpc>
            </a:pPr>
            <a:r>
              <a:rPr lang="en-US" dirty="0"/>
              <a:t>Console</a:t>
            </a:r>
          </a:p>
          <a:p>
            <a:pPr>
              <a:lnSpc>
                <a:spcPct val="150000"/>
              </a:lnSpc>
            </a:pPr>
            <a:r>
              <a:rPr lang="en-US" dirty="0"/>
              <a:t>Help etc.</a:t>
            </a:r>
          </a:p>
          <a:p>
            <a:pPr>
              <a:lnSpc>
                <a:spcPct val="150000"/>
              </a:lnSpc>
            </a:pPr>
            <a:r>
              <a:rPr lang="en-US" dirty="0"/>
              <a:t>Results &amp; Graphs</a:t>
            </a:r>
          </a:p>
        </p:txBody>
      </p:sp>
      <p:pic>
        <p:nvPicPr>
          <p:cNvPr id="11" name="Content Placeholder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2A26B0B3-E462-984C-9CBF-03DB47B76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857" y="406455"/>
            <a:ext cx="8114213" cy="604509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53F46A-854A-FC4C-8A3B-E34D8D798EE3}"/>
              </a:ext>
            </a:extLst>
          </p:cNvPr>
          <p:cNvCxnSpPr>
            <a:cxnSpLocks/>
          </p:cNvCxnSpPr>
          <p:nvPr/>
        </p:nvCxnSpPr>
        <p:spPr>
          <a:xfrm flipV="1">
            <a:off x="3006969" y="4935415"/>
            <a:ext cx="5597772" cy="1"/>
          </a:xfrm>
          <a:prstGeom prst="straightConnector1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417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DD3A-5AE5-9347-8D68-9DF3D899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E4D6C-E0BC-E046-BF2C-0FF9855A3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data(): load built-in dataset</a:t>
            </a:r>
          </a:p>
          <a:p>
            <a:r>
              <a:rPr lang="en-US" dirty="0"/>
              <a:t>View(): view loaded datasets</a:t>
            </a:r>
          </a:p>
          <a:p>
            <a:r>
              <a:rPr lang="en-US" dirty="0" err="1"/>
              <a:t>read.csv</a:t>
            </a:r>
            <a:r>
              <a:rPr lang="en-US" dirty="0"/>
              <a:t>() – requires a path or </a:t>
            </a:r>
            <a:r>
              <a:rPr lang="en-US" dirty="0" err="1"/>
              <a:t>url</a:t>
            </a:r>
            <a:r>
              <a:rPr lang="en-US" dirty="0"/>
              <a:t> to the csv file</a:t>
            </a:r>
          </a:p>
          <a:p>
            <a:r>
              <a:rPr lang="en-US" dirty="0" err="1"/>
              <a:t>read.table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729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53CCB-B7D6-9F4D-A116-248295A83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CE2DA-649A-C54B-AD76-37758EB36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Basic data types </a:t>
            </a:r>
          </a:p>
          <a:p>
            <a:pPr lvl="1"/>
            <a:r>
              <a:rPr lang="en-CA" dirty="0">
                <a:latin typeface="Courier" pitchFamily="2" charset="0"/>
              </a:rPr>
              <a:t>int</a:t>
            </a:r>
            <a:r>
              <a:rPr lang="en-CA" dirty="0"/>
              <a:t> stands for integers.</a:t>
            </a:r>
          </a:p>
          <a:p>
            <a:pPr lvl="1"/>
            <a:r>
              <a:rPr lang="en-CA" dirty="0" err="1">
                <a:latin typeface="Courier" pitchFamily="2" charset="0"/>
              </a:rPr>
              <a:t>dbl</a:t>
            </a:r>
            <a:r>
              <a:rPr lang="en-CA" dirty="0"/>
              <a:t> stands for doubles, or real numbers.</a:t>
            </a:r>
          </a:p>
          <a:p>
            <a:pPr lvl="1"/>
            <a:r>
              <a:rPr lang="en-CA" dirty="0" err="1">
                <a:latin typeface="Courier" pitchFamily="2" charset="0"/>
              </a:rPr>
              <a:t>chr</a:t>
            </a:r>
            <a:r>
              <a:rPr lang="en-CA" dirty="0"/>
              <a:t> stands for character vectors, or strings.</a:t>
            </a:r>
          </a:p>
          <a:p>
            <a:pPr lvl="1"/>
            <a:r>
              <a:rPr lang="en-CA" dirty="0" err="1">
                <a:latin typeface="Courier" pitchFamily="2" charset="0"/>
              </a:rPr>
              <a:t>dttm</a:t>
            </a:r>
            <a:r>
              <a:rPr lang="en-CA" dirty="0"/>
              <a:t> stands for date-times (a date + a time).</a:t>
            </a:r>
          </a:p>
          <a:p>
            <a:pPr lvl="1"/>
            <a:r>
              <a:rPr lang="en-CA" dirty="0" err="1">
                <a:latin typeface="Courier" pitchFamily="2" charset="0"/>
              </a:rPr>
              <a:t>lgl</a:t>
            </a:r>
            <a:r>
              <a:rPr lang="en-CA" dirty="0"/>
              <a:t> stands for logical, vectors that contain only TRUE or FALSE.</a:t>
            </a:r>
          </a:p>
          <a:p>
            <a:pPr lvl="1"/>
            <a:r>
              <a:rPr lang="en-CA" dirty="0" err="1">
                <a:latin typeface="Courier" pitchFamily="2" charset="0"/>
              </a:rPr>
              <a:t>fctr</a:t>
            </a:r>
            <a:r>
              <a:rPr lang="en-CA" dirty="0"/>
              <a:t> stands for factors, which R uses to represent categorical variables with fixed possible values.</a:t>
            </a:r>
          </a:p>
          <a:p>
            <a:pPr lvl="1"/>
            <a:r>
              <a:rPr lang="en-CA" dirty="0">
                <a:latin typeface="Courier" pitchFamily="2" charset="0"/>
              </a:rPr>
              <a:t>date</a:t>
            </a:r>
            <a:r>
              <a:rPr lang="en-CA" dirty="0"/>
              <a:t> stands for dates.</a:t>
            </a:r>
          </a:p>
          <a:p>
            <a:pPr lvl="1"/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51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30D5-FF3A-BF4F-8553-6166EBC4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6716-3F07-BB4B-B0A8-D9708E892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Pick observations by their values (</a:t>
            </a:r>
            <a:r>
              <a:rPr lang="en-CA" dirty="0">
                <a:latin typeface="Courier" pitchFamily="2" charset="0"/>
              </a:rPr>
              <a:t>filter()</a:t>
            </a:r>
            <a:r>
              <a:rPr lang="en-CA" dirty="0"/>
              <a:t>).</a:t>
            </a:r>
          </a:p>
          <a:p>
            <a:r>
              <a:rPr lang="en-CA" dirty="0"/>
              <a:t>Reorder the rows (</a:t>
            </a:r>
            <a:r>
              <a:rPr lang="en-CA" dirty="0">
                <a:latin typeface="Courier" pitchFamily="2" charset="0"/>
              </a:rPr>
              <a:t>arrange()</a:t>
            </a:r>
            <a:r>
              <a:rPr lang="en-CA" dirty="0"/>
              <a:t>).</a:t>
            </a:r>
          </a:p>
          <a:p>
            <a:r>
              <a:rPr lang="en-CA" dirty="0"/>
              <a:t>Pick variables by their names (</a:t>
            </a:r>
            <a:r>
              <a:rPr lang="en-CA" dirty="0">
                <a:latin typeface="Courier" pitchFamily="2" charset="0"/>
              </a:rPr>
              <a:t>select()</a:t>
            </a:r>
            <a:r>
              <a:rPr lang="en-CA" dirty="0">
                <a:latin typeface="+mj-lt"/>
              </a:rPr>
              <a:t>).</a:t>
            </a:r>
          </a:p>
          <a:p>
            <a:r>
              <a:rPr lang="en-CA" dirty="0"/>
              <a:t>Create new variables with functions of existing variables (</a:t>
            </a:r>
            <a:r>
              <a:rPr lang="en-CA" dirty="0">
                <a:latin typeface="Courier" pitchFamily="2" charset="0"/>
              </a:rPr>
              <a:t>mutate()</a:t>
            </a:r>
            <a:r>
              <a:rPr lang="en-CA" dirty="0"/>
              <a:t>).</a:t>
            </a:r>
          </a:p>
          <a:p>
            <a:r>
              <a:rPr lang="en-CA" dirty="0"/>
              <a:t>Collapse many values down to a single summary (</a:t>
            </a:r>
            <a:r>
              <a:rPr lang="en-CA" dirty="0">
                <a:latin typeface="Courier" pitchFamily="2" charset="0"/>
              </a:rPr>
              <a:t>summarise()</a:t>
            </a:r>
            <a:r>
              <a:rPr lang="en-CA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165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30D5-FF3A-BF4F-8553-6166EBC4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6716-3F07-BB4B-B0A8-D9708E892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filter() allows you to subset observations based on their values. The first argument is the name of the data frame. </a:t>
            </a:r>
          </a:p>
          <a:p>
            <a:r>
              <a:rPr lang="en-CA" dirty="0"/>
              <a:t>The second and subsequent arguments are the expressions that filter the data frame.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361D4E-D6CF-A54E-8374-D010081BB38E}"/>
              </a:ext>
            </a:extLst>
          </p:cNvPr>
          <p:cNvSpPr/>
          <p:nvPr/>
        </p:nvSpPr>
        <p:spPr>
          <a:xfrm>
            <a:off x="1115568" y="4991071"/>
            <a:ext cx="101681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jan1 &lt;- filter(flights, month == 1, day == 1)</a:t>
            </a:r>
          </a:p>
          <a:p>
            <a:r>
              <a:rPr lang="en-US" sz="2400" dirty="0">
                <a:latin typeface="Courier" pitchFamily="2" charset="0"/>
              </a:rPr>
              <a:t>filter(flights, month == 11 | month == 12)</a:t>
            </a:r>
          </a:p>
          <a:p>
            <a:r>
              <a:rPr lang="en-US" sz="2400" dirty="0">
                <a:latin typeface="Courier" pitchFamily="2" charset="0"/>
              </a:rPr>
              <a:t>filter(flights, !(</a:t>
            </a:r>
            <a:r>
              <a:rPr lang="en-US" sz="2400" dirty="0" err="1">
                <a:latin typeface="Courier" pitchFamily="2" charset="0"/>
              </a:rPr>
              <a:t>arr_delay</a:t>
            </a:r>
            <a:r>
              <a:rPr lang="en-US" sz="2400" dirty="0">
                <a:latin typeface="Courier" pitchFamily="2" charset="0"/>
              </a:rPr>
              <a:t> &gt; 120 | </a:t>
            </a:r>
            <a:r>
              <a:rPr lang="en-US" sz="2400" dirty="0" err="1">
                <a:latin typeface="Courier" pitchFamily="2" charset="0"/>
              </a:rPr>
              <a:t>dep_delay</a:t>
            </a:r>
            <a:r>
              <a:rPr lang="en-US" sz="2400" dirty="0">
                <a:latin typeface="Courier" pitchFamily="2" charset="0"/>
              </a:rPr>
              <a:t> &gt; 120))</a:t>
            </a:r>
          </a:p>
          <a:p>
            <a:r>
              <a:rPr lang="en-US" sz="2400" dirty="0">
                <a:latin typeface="Courier" pitchFamily="2" charset="0"/>
              </a:rPr>
              <a:t>filter(flights, </a:t>
            </a:r>
            <a:r>
              <a:rPr lang="en-US" sz="2400" dirty="0" err="1">
                <a:latin typeface="Courier" pitchFamily="2" charset="0"/>
              </a:rPr>
              <a:t>arr_delay</a:t>
            </a:r>
            <a:r>
              <a:rPr lang="en-US" sz="2400" dirty="0">
                <a:latin typeface="Courier" pitchFamily="2" charset="0"/>
              </a:rPr>
              <a:t> &lt;= 120, </a:t>
            </a:r>
            <a:r>
              <a:rPr lang="en-US" sz="2400" dirty="0" err="1">
                <a:latin typeface="Courier" pitchFamily="2" charset="0"/>
              </a:rPr>
              <a:t>dep_delay</a:t>
            </a:r>
            <a:r>
              <a:rPr lang="en-US" sz="2400" dirty="0">
                <a:latin typeface="Courier" pitchFamily="2" charset="0"/>
              </a:rPr>
              <a:t> &lt;= 120)</a:t>
            </a:r>
          </a:p>
        </p:txBody>
      </p:sp>
    </p:spTree>
    <p:extLst>
      <p:ext uri="{BB962C8B-B14F-4D97-AF65-F5344CB8AC3E}">
        <p14:creationId xmlns:p14="http://schemas.microsoft.com/office/powerpoint/2010/main" val="27734050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30D5-FF3A-BF4F-8553-6166EBC4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Arrange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6716-3F07-BB4B-B0A8-D9708E892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7" y="2216414"/>
            <a:ext cx="10168128" cy="3694176"/>
          </a:xfrm>
        </p:spPr>
        <p:txBody>
          <a:bodyPr>
            <a:normAutofit/>
          </a:bodyPr>
          <a:lstStyle/>
          <a:p>
            <a:r>
              <a:rPr lang="en-CA" dirty="0">
                <a:latin typeface="Courier" pitchFamily="2" charset="0"/>
              </a:rPr>
              <a:t>arrange() </a:t>
            </a:r>
            <a:r>
              <a:rPr lang="en-CA" dirty="0"/>
              <a:t>works similarly to filter() except that instead of selecting rows, it changes their order. It takes a data frame and a set of column names (or more complicated expressions) to order by. </a:t>
            </a:r>
          </a:p>
          <a:p>
            <a:r>
              <a:rPr lang="en-CA" dirty="0"/>
              <a:t>If you provide more than one column name, each additional column will be used to break ties in the values of preceding columns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4F61FA-994A-534C-A16F-63F7E1A7F7F2}"/>
              </a:ext>
            </a:extLst>
          </p:cNvPr>
          <p:cNvSpPr/>
          <p:nvPr/>
        </p:nvSpPr>
        <p:spPr>
          <a:xfrm>
            <a:off x="2455658" y="5910590"/>
            <a:ext cx="74879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2800" dirty="0">
                <a:latin typeface="Courier" pitchFamily="2" charset="0"/>
              </a:rPr>
              <a:t>arrange(flights, year, month, day)</a:t>
            </a:r>
            <a:endParaRPr lang="en-US" sz="28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283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30D5-FF3A-BF4F-8553-6166EBC4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6716-3F07-BB4B-B0A8-D9708E892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Courier" pitchFamily="2" charset="0"/>
              </a:rPr>
              <a:t>select()</a:t>
            </a:r>
            <a:r>
              <a:rPr lang="en-CA" dirty="0"/>
              <a:t> allows you to rapidly zoom in on a useful subset using operations based on the names of the variables.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8CFB43-90AF-0147-B179-0D44F051C38E}"/>
              </a:ext>
            </a:extLst>
          </p:cNvPr>
          <p:cNvSpPr/>
          <p:nvPr/>
        </p:nvSpPr>
        <p:spPr>
          <a:xfrm>
            <a:off x="1833950" y="4126509"/>
            <a:ext cx="873136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A" sz="3200" dirty="0">
                <a:latin typeface="Courier" pitchFamily="2" charset="0"/>
              </a:rPr>
              <a:t>select(flights, year, month, day)</a:t>
            </a:r>
            <a:endParaRPr lang="en-US" sz="32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95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30D5-FF3A-BF4F-8553-6166EBC4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6716-3F07-BB4B-B0A8-D9708E892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Courier" pitchFamily="2" charset="0"/>
              </a:rPr>
              <a:t>mutate() </a:t>
            </a:r>
            <a:r>
              <a:rPr lang="en-CA" dirty="0"/>
              <a:t>always adds new columns at the end of your dataset so we’ll start by creating a narrower dataset so we can see the new variables.</a:t>
            </a:r>
          </a:p>
          <a:p>
            <a:r>
              <a:rPr lang="en-CA" dirty="0"/>
              <a:t>You can use the columns added in definitions of other columns that you add (be careful with cycles)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0EBAF3-E00F-A143-97DD-5DEFD0D83E22}"/>
              </a:ext>
            </a:extLst>
          </p:cNvPr>
          <p:cNvSpPr/>
          <p:nvPr/>
        </p:nvSpPr>
        <p:spPr>
          <a:xfrm>
            <a:off x="1115568" y="5129785"/>
            <a:ext cx="1058406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latin typeface="Courier" pitchFamily="2" charset="0"/>
              </a:rPr>
              <a:t>mutate(flights, </a:t>
            </a:r>
          </a:p>
          <a:p>
            <a:r>
              <a:rPr lang="en-CA" sz="2400" dirty="0">
                <a:latin typeface="Courier" pitchFamily="2" charset="0"/>
              </a:rPr>
              <a:t>	gain = </a:t>
            </a:r>
            <a:r>
              <a:rPr lang="en-CA" sz="2400" dirty="0" err="1">
                <a:latin typeface="Courier" pitchFamily="2" charset="0"/>
              </a:rPr>
              <a:t>dep_delay</a:t>
            </a:r>
            <a:r>
              <a:rPr lang="en-CA" sz="2400" dirty="0">
                <a:latin typeface="Courier" pitchFamily="2" charset="0"/>
              </a:rPr>
              <a:t> - </a:t>
            </a:r>
            <a:r>
              <a:rPr lang="en-CA" sz="2400" dirty="0" err="1">
                <a:latin typeface="Courier" pitchFamily="2" charset="0"/>
              </a:rPr>
              <a:t>arr_delay</a:t>
            </a:r>
            <a:r>
              <a:rPr lang="en-CA" sz="2400" dirty="0">
                <a:latin typeface="Courier" pitchFamily="2" charset="0"/>
              </a:rPr>
              <a:t>, </a:t>
            </a:r>
          </a:p>
          <a:p>
            <a:r>
              <a:rPr lang="en-CA" sz="2400" dirty="0">
                <a:latin typeface="Courier" pitchFamily="2" charset="0"/>
              </a:rPr>
              <a:t>	speed = distance / </a:t>
            </a:r>
            <a:r>
              <a:rPr lang="en-CA" sz="2400" dirty="0" err="1">
                <a:latin typeface="Courier" pitchFamily="2" charset="0"/>
              </a:rPr>
              <a:t>air_time</a:t>
            </a:r>
            <a:r>
              <a:rPr lang="en-CA" sz="2400" dirty="0">
                <a:latin typeface="Courier" pitchFamily="2" charset="0"/>
              </a:rPr>
              <a:t> * 60 </a:t>
            </a:r>
          </a:p>
          <a:p>
            <a:r>
              <a:rPr lang="en-CA" sz="2400" dirty="0">
                <a:latin typeface="Courier" pitchFamily="2" charset="0"/>
              </a:rPr>
              <a:t>)</a:t>
            </a:r>
            <a:endParaRPr lang="en-US" sz="2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896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30D5-FF3A-BF4F-8553-6166EBC4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6716-3F07-BB4B-B0A8-D9708E892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184947"/>
            <a:ext cx="10168128" cy="3694176"/>
          </a:xfrm>
        </p:spPr>
        <p:txBody>
          <a:bodyPr>
            <a:normAutofit/>
          </a:bodyPr>
          <a:lstStyle/>
          <a:p>
            <a:r>
              <a:rPr lang="en-CA" dirty="0">
                <a:latin typeface="Courier" pitchFamily="2" charset="0"/>
              </a:rPr>
              <a:t>summarise()</a:t>
            </a:r>
            <a:r>
              <a:rPr lang="en-CA" dirty="0"/>
              <a:t> is not terribly useful unless we pair it with </a:t>
            </a:r>
            <a:r>
              <a:rPr lang="en-CA" dirty="0" err="1">
                <a:latin typeface="Courier" pitchFamily="2" charset="0"/>
              </a:rPr>
              <a:t>group_by</a:t>
            </a:r>
            <a:r>
              <a:rPr lang="en-CA" dirty="0">
                <a:latin typeface="Courier" pitchFamily="2" charset="0"/>
              </a:rPr>
              <a:t>()</a:t>
            </a:r>
            <a:r>
              <a:rPr lang="en-CA" dirty="0"/>
              <a:t>. </a:t>
            </a:r>
          </a:p>
          <a:p>
            <a:r>
              <a:rPr lang="en-CA" dirty="0"/>
              <a:t>This changes the unit of analysis from the complete dataset to individual groups. Then, </a:t>
            </a:r>
            <a:r>
              <a:rPr lang="en-CA" u="sng" dirty="0"/>
              <a:t>when you use the </a:t>
            </a:r>
            <a:r>
              <a:rPr lang="en-CA" u="sng" dirty="0" err="1"/>
              <a:t>dplyr</a:t>
            </a:r>
            <a:r>
              <a:rPr lang="en-CA" u="sng" dirty="0"/>
              <a:t> verbs on a grouped data frame they’ll be automatically applied “by group”.</a:t>
            </a:r>
            <a:r>
              <a:rPr lang="en-CA" dirty="0"/>
              <a:t> 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3173A3-F710-B647-8B51-C29A1922CAFB}"/>
              </a:ext>
            </a:extLst>
          </p:cNvPr>
          <p:cNvSpPr/>
          <p:nvPr/>
        </p:nvSpPr>
        <p:spPr>
          <a:xfrm>
            <a:off x="1115568" y="5507690"/>
            <a:ext cx="107055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 err="1">
                <a:latin typeface="Courier" pitchFamily="2" charset="0"/>
              </a:rPr>
              <a:t>by_day</a:t>
            </a:r>
            <a:r>
              <a:rPr lang="en-CA" sz="2400" dirty="0">
                <a:latin typeface="Courier" pitchFamily="2" charset="0"/>
              </a:rPr>
              <a:t> &lt;- </a:t>
            </a:r>
            <a:r>
              <a:rPr lang="en-CA" sz="2400" dirty="0" err="1">
                <a:latin typeface="Courier" pitchFamily="2" charset="0"/>
              </a:rPr>
              <a:t>group_by</a:t>
            </a:r>
            <a:r>
              <a:rPr lang="en-CA" sz="2400" dirty="0">
                <a:latin typeface="Courier" pitchFamily="2" charset="0"/>
              </a:rPr>
              <a:t>(flights, year, month, day) </a:t>
            </a:r>
          </a:p>
          <a:p>
            <a:r>
              <a:rPr lang="en-CA" sz="2400" dirty="0">
                <a:latin typeface="Courier" pitchFamily="2" charset="0"/>
              </a:rPr>
              <a:t>summarise(</a:t>
            </a:r>
            <a:r>
              <a:rPr lang="en-CA" sz="2400" dirty="0" err="1">
                <a:latin typeface="Courier" pitchFamily="2" charset="0"/>
              </a:rPr>
              <a:t>by_day</a:t>
            </a:r>
            <a:r>
              <a:rPr lang="en-CA" sz="2400" dirty="0">
                <a:latin typeface="Courier" pitchFamily="2" charset="0"/>
              </a:rPr>
              <a:t>, delay = </a:t>
            </a:r>
            <a:r>
              <a:rPr lang="en-CA" sz="2400" dirty="0">
                <a:latin typeface="Courier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mean</a:t>
            </a:r>
            <a:r>
              <a:rPr lang="en-CA" sz="2400" dirty="0">
                <a:latin typeface="Courier" pitchFamily="2" charset="0"/>
              </a:rPr>
              <a:t>(</a:t>
            </a:r>
            <a:r>
              <a:rPr lang="en-CA" sz="2400" dirty="0" err="1">
                <a:latin typeface="Courier" pitchFamily="2" charset="0"/>
              </a:rPr>
              <a:t>dep_delay</a:t>
            </a:r>
            <a:r>
              <a:rPr lang="en-CA" sz="2400" dirty="0">
                <a:latin typeface="Courier" pitchFamily="2" charset="0"/>
              </a:rPr>
              <a:t>, </a:t>
            </a:r>
            <a:r>
              <a:rPr lang="en-CA" sz="2400" dirty="0" err="1">
                <a:latin typeface="Courier" pitchFamily="2" charset="0"/>
              </a:rPr>
              <a:t>na.rm</a:t>
            </a:r>
            <a:r>
              <a:rPr lang="en-CA" sz="2400" dirty="0">
                <a:latin typeface="Courier" pitchFamily="2" charset="0"/>
              </a:rPr>
              <a:t> = TRUE))</a:t>
            </a:r>
            <a:endParaRPr lang="en-US" sz="2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5454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C4D675-CAAC-5640-B03E-7CA08C51C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</a:t>
            </a:r>
          </a:p>
        </p:txBody>
      </p:sp>
    </p:spTree>
    <p:extLst>
      <p:ext uri="{BB962C8B-B14F-4D97-AF65-F5344CB8AC3E}">
        <p14:creationId xmlns:p14="http://schemas.microsoft.com/office/powerpoint/2010/main" val="4063973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BFD4-8CB7-9F49-A04D-84C56B15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 – Code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3C33D-D590-6F45-AF14-99F8F88EA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2140868"/>
          </a:xfrm>
        </p:spPr>
        <p:txBody>
          <a:bodyPr/>
          <a:lstStyle/>
          <a:p>
            <a:r>
              <a:rPr lang="en-US" dirty="0"/>
              <a:t>Why does this code not work?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6FBA27-7579-FF41-8B1C-B355B8D60032}"/>
              </a:ext>
            </a:extLst>
          </p:cNvPr>
          <p:cNvSpPr/>
          <p:nvPr/>
        </p:nvSpPr>
        <p:spPr>
          <a:xfrm>
            <a:off x="820615" y="3560125"/>
            <a:ext cx="1067972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Courier" pitchFamily="2" charset="0"/>
              </a:rPr>
              <a:t>my_variable</a:t>
            </a:r>
            <a:r>
              <a:rPr lang="en-US" sz="2400" dirty="0">
                <a:latin typeface="Courier" pitchFamily="2" charset="0"/>
              </a:rPr>
              <a:t> &lt;- 10</a:t>
            </a:r>
          </a:p>
          <a:p>
            <a:r>
              <a:rPr lang="en-US" sz="2400" dirty="0" err="1">
                <a:latin typeface="Courier" pitchFamily="2" charset="0"/>
              </a:rPr>
              <a:t>my_varıable</a:t>
            </a:r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#&gt; Error in eval(expr, </a:t>
            </a:r>
            <a:r>
              <a:rPr lang="en-US" sz="2400" dirty="0" err="1">
                <a:latin typeface="Courier" pitchFamily="2" charset="0"/>
              </a:rPr>
              <a:t>envir</a:t>
            </a:r>
            <a:r>
              <a:rPr lang="en-US" sz="2400" dirty="0">
                <a:latin typeface="Courier" pitchFamily="2" charset="0"/>
              </a:rPr>
              <a:t>, </a:t>
            </a:r>
            <a:r>
              <a:rPr lang="en-US" sz="2400" dirty="0" err="1">
                <a:latin typeface="Courier" pitchFamily="2" charset="0"/>
              </a:rPr>
              <a:t>enclos</a:t>
            </a:r>
            <a:r>
              <a:rPr lang="en-US" sz="2400" dirty="0">
                <a:latin typeface="Courier" pitchFamily="2" charset="0"/>
              </a:rPr>
              <a:t>): object '</a:t>
            </a:r>
            <a:r>
              <a:rPr lang="en-US" sz="2400" dirty="0" err="1">
                <a:latin typeface="Courier" pitchFamily="2" charset="0"/>
              </a:rPr>
              <a:t>my_varıable</a:t>
            </a:r>
            <a:r>
              <a:rPr lang="en-US" sz="2400" dirty="0">
                <a:latin typeface="Courier" pitchFamily="2" charset="0"/>
              </a:rPr>
              <a:t>' not found</a:t>
            </a:r>
          </a:p>
        </p:txBody>
      </p:sp>
    </p:spTree>
    <p:extLst>
      <p:ext uri="{BB962C8B-B14F-4D97-AF65-F5344CB8AC3E}">
        <p14:creationId xmlns:p14="http://schemas.microsoft.com/office/powerpoint/2010/main" val="10058460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1E376-E021-624C-A3F5-D83B36FC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 – Code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34E96-9A5A-964E-9776-1C604472D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5"/>
            <a:ext cx="10168128" cy="1179576"/>
          </a:xfrm>
        </p:spPr>
        <p:txBody>
          <a:bodyPr/>
          <a:lstStyle/>
          <a:p>
            <a:r>
              <a:rPr lang="en-US" dirty="0"/>
              <a:t>What is wrong with this two function calls?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B6C706-5272-9548-8274-554088279F47}"/>
              </a:ext>
            </a:extLst>
          </p:cNvPr>
          <p:cNvSpPr/>
          <p:nvPr/>
        </p:nvSpPr>
        <p:spPr>
          <a:xfrm>
            <a:off x="1887415" y="3576413"/>
            <a:ext cx="918901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3200" dirty="0" err="1">
                <a:latin typeface="Courier" pitchFamily="2" charset="0"/>
              </a:rPr>
              <a:t>fliter</a:t>
            </a:r>
            <a:r>
              <a:rPr lang="en-CA" sz="3200" dirty="0">
                <a:latin typeface="Courier" pitchFamily="2" charset="0"/>
              </a:rPr>
              <a:t>(mpg, </a:t>
            </a:r>
            <a:r>
              <a:rPr lang="en-CA" sz="3200" dirty="0" err="1">
                <a:latin typeface="Courier" pitchFamily="2" charset="0"/>
              </a:rPr>
              <a:t>cyl</a:t>
            </a:r>
            <a:r>
              <a:rPr lang="en-CA" sz="3200" dirty="0">
                <a:latin typeface="Courier" pitchFamily="2" charset="0"/>
              </a:rPr>
              <a:t> = 8) </a:t>
            </a:r>
          </a:p>
          <a:p>
            <a:r>
              <a:rPr lang="en-CA" sz="3200" dirty="0">
                <a:latin typeface="Courier" pitchFamily="2" charset="0"/>
              </a:rPr>
              <a:t>filter(diamond, carat &gt; 3)</a:t>
            </a:r>
            <a:endParaRPr lang="en-US" sz="32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153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1E376-E021-624C-A3F5-D83B36FC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 – Filter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34E96-9A5A-964E-9776-1C604472D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5"/>
            <a:ext cx="10168128" cy="1179576"/>
          </a:xfrm>
        </p:spPr>
        <p:txBody>
          <a:bodyPr/>
          <a:lstStyle/>
          <a:p>
            <a:r>
              <a:rPr lang="en-US" dirty="0"/>
              <a:t>Find all diamonds in the diamonds data set that are smaller than 3 carats and cost more than 15,000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B6C706-5272-9548-8274-554088279F47}"/>
              </a:ext>
            </a:extLst>
          </p:cNvPr>
          <p:cNvSpPr/>
          <p:nvPr/>
        </p:nvSpPr>
        <p:spPr>
          <a:xfrm>
            <a:off x="1115568" y="4407410"/>
            <a:ext cx="10168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3200" dirty="0">
                <a:latin typeface="Courier" pitchFamily="2" charset="0"/>
              </a:rPr>
              <a:t>filter(diamonds,…)</a:t>
            </a:r>
            <a:endParaRPr lang="en-US" sz="32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7080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70049-EF4A-1144-8149-13433AC5B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83E06-B957-EB49-A466-9F686FD35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https://cran.r-project.org/doc/contrib/Paradis-rdebuts_en.pdf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363318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LeftStep">
      <a:dk1>
        <a:srgbClr val="000000"/>
      </a:dk1>
      <a:lt1>
        <a:srgbClr val="FFFFFF"/>
      </a:lt1>
      <a:dk2>
        <a:srgbClr val="161734"/>
      </a:dk2>
      <a:lt2>
        <a:srgbClr val="F0F3F2"/>
      </a:lt2>
      <a:accent1>
        <a:srgbClr val="C34D79"/>
      </a:accent1>
      <a:accent2>
        <a:srgbClr val="B13B98"/>
      </a:accent2>
      <a:accent3>
        <a:srgbClr val="AB4DC3"/>
      </a:accent3>
      <a:accent4>
        <a:srgbClr val="673BB1"/>
      </a:accent4>
      <a:accent5>
        <a:srgbClr val="4D51C3"/>
      </a:accent5>
      <a:accent6>
        <a:srgbClr val="3B71B1"/>
      </a:accent6>
      <a:hlink>
        <a:srgbClr val="6455C6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12692</TotalTime>
  <Words>1296</Words>
  <Application>Microsoft Macintosh PowerPoint</Application>
  <PresentationFormat>Widescreen</PresentationFormat>
  <Paragraphs>154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Avenir Next LT Pro</vt:lpstr>
      <vt:lpstr>Calibri</vt:lpstr>
      <vt:lpstr>Courier</vt:lpstr>
      <vt:lpstr>AccentBoxVTI</vt:lpstr>
      <vt:lpstr>Introduction to Programming in R</vt:lpstr>
      <vt:lpstr>Introduction</vt:lpstr>
      <vt:lpstr>Data Science / Data Analysis </vt:lpstr>
      <vt:lpstr>Why do we use programming tools if we can do so much in Excel?</vt:lpstr>
      <vt:lpstr>About R</vt:lpstr>
      <vt:lpstr>About R</vt:lpstr>
      <vt:lpstr>Basic commands</vt:lpstr>
      <vt:lpstr>Running Calculations</vt:lpstr>
      <vt:lpstr>Objects</vt:lpstr>
      <vt:lpstr>Objects’ Names</vt:lpstr>
      <vt:lpstr>Objects’ Names</vt:lpstr>
      <vt:lpstr>R is case sensitive</vt:lpstr>
      <vt:lpstr>Functions </vt:lpstr>
      <vt:lpstr>PowerPoint Presentation</vt:lpstr>
      <vt:lpstr>PowerPoint Presentation</vt:lpstr>
      <vt:lpstr>PowerPoint Presentation</vt:lpstr>
      <vt:lpstr>PowerPoint Presentation</vt:lpstr>
      <vt:lpstr>Working with data</vt:lpstr>
      <vt:lpstr>Data Types</vt:lpstr>
      <vt:lpstr>Data Transformation in R</vt:lpstr>
      <vt:lpstr>Filter</vt:lpstr>
      <vt:lpstr>Arrange </vt:lpstr>
      <vt:lpstr>Select</vt:lpstr>
      <vt:lpstr>Mutate</vt:lpstr>
      <vt:lpstr>Summarize </vt:lpstr>
      <vt:lpstr>Hands-on</vt:lpstr>
      <vt:lpstr>Task 1 – Code analysis </vt:lpstr>
      <vt:lpstr>Task 2 – Code analysis</vt:lpstr>
      <vt:lpstr>Task 3 – Filter data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57</cp:revision>
  <dcterms:created xsi:type="dcterms:W3CDTF">2021-07-13T16:46:37Z</dcterms:created>
  <dcterms:modified xsi:type="dcterms:W3CDTF">2021-07-25T18:51:33Z</dcterms:modified>
</cp:coreProperties>
</file>