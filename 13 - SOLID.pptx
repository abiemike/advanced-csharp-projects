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0" r:id="rId5"/>
    <p:sldMasterId id="2147483655" r:id="rId6"/>
  </p:sldMasterIdLst>
  <p:notesMasterIdLst>
    <p:notesMasterId r:id="rId27"/>
  </p:notesMasterIdLst>
  <p:handoutMasterIdLst>
    <p:handoutMasterId r:id="rId28"/>
  </p:handoutMasterIdLst>
  <p:sldIdLst>
    <p:sldId id="265" r:id="rId7"/>
    <p:sldId id="264" r:id="rId8"/>
    <p:sldId id="268" r:id="rId9"/>
    <p:sldId id="269" r:id="rId10"/>
    <p:sldId id="270" r:id="rId11"/>
    <p:sldId id="271" r:id="rId12"/>
    <p:sldId id="272" r:id="rId13"/>
    <p:sldId id="273" r:id="rId14"/>
    <p:sldId id="283" r:id="rId15"/>
    <p:sldId id="275" r:id="rId16"/>
    <p:sldId id="276" r:id="rId17"/>
    <p:sldId id="277" r:id="rId18"/>
    <p:sldId id="278" r:id="rId19"/>
    <p:sldId id="284" r:id="rId20"/>
    <p:sldId id="279" r:id="rId21"/>
    <p:sldId id="280" r:id="rId22"/>
    <p:sldId id="281" r:id="rId23"/>
    <p:sldId id="285" r:id="rId24"/>
    <p:sldId id="274" r:id="rId25"/>
    <p:sldId id="261" r:id="rId26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432">
          <p15:clr>
            <a:srgbClr val="A4A3A4"/>
          </p15:clr>
        </p15:guide>
        <p15:guide id="3" orient="horz" pos="3600">
          <p15:clr>
            <a:srgbClr val="A4A3A4"/>
          </p15:clr>
        </p15:guide>
        <p15:guide id="4" orient="horz" pos="2160">
          <p15:clr>
            <a:srgbClr val="A4A3A4"/>
          </p15:clr>
        </p15:guide>
        <p15:guide id="5" pos="5328">
          <p15:clr>
            <a:srgbClr val="A4A3A4"/>
          </p15:clr>
        </p15:guide>
        <p15:guide id="6" pos="2880">
          <p15:clr>
            <a:srgbClr val="A4A3A4"/>
          </p15:clr>
        </p15:guide>
        <p15:guide id="7" pos="4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EC8"/>
    <a:srgbClr val="AFC828"/>
    <a:srgbClr val="1413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A51AC0-EA36-41AF-83E8-DAFE87FFEE50}" v="1" dt="2022-12-31T18:42:32.5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75" autoAdjust="0"/>
    <p:restoredTop sz="94660"/>
  </p:normalViewPr>
  <p:slideViewPr>
    <p:cSldViewPr snapToGrid="0" snapToObjects="1" showGuides="1">
      <p:cViewPr varScale="1">
        <p:scale>
          <a:sx n="105" d="100"/>
          <a:sy n="105" d="100"/>
        </p:scale>
        <p:origin x="1554" y="96"/>
      </p:cViewPr>
      <p:guideLst>
        <p:guide orient="horz" pos="3888"/>
        <p:guide orient="horz" pos="432"/>
        <p:guide orient="horz" pos="3600"/>
        <p:guide orient="horz" pos="2160"/>
        <p:guide pos="5328"/>
        <p:guide pos="2880"/>
        <p:guide pos="43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microsoft.com/office/2015/10/relationships/revisionInfo" Target="revisionInfo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Hinz" userId="7f59dc78-02bd-4886-abaf-6bd5f36ff05a" providerId="ADAL" clId="{29C98015-C0C7-4332-BBD2-506C01B29E19}"/>
    <pc:docChg chg="modSld modNotesMaster modHandout">
      <pc:chgData name="John Hinz" userId="7f59dc78-02bd-4886-abaf-6bd5f36ff05a" providerId="ADAL" clId="{29C98015-C0C7-4332-BBD2-506C01B29E19}" dt="2019-12-05T13:35:40.842" v="1"/>
      <pc:docMkLst>
        <pc:docMk/>
      </pc:docMkLst>
      <pc:sldChg chg="modSp">
        <pc:chgData name="John Hinz" userId="7f59dc78-02bd-4886-abaf-6bd5f36ff05a" providerId="ADAL" clId="{29C98015-C0C7-4332-BBD2-506C01B29E19}" dt="2019-12-05T13:35:26.654" v="0"/>
        <pc:sldMkLst>
          <pc:docMk/>
          <pc:sldMk cId="2853357568" sldId="265"/>
        </pc:sldMkLst>
        <pc:spChg chg="mod">
          <ac:chgData name="John Hinz" userId="7f59dc78-02bd-4886-abaf-6bd5f36ff05a" providerId="ADAL" clId="{29C98015-C0C7-4332-BBD2-506C01B29E19}" dt="2019-12-05T13:35:26.654" v="0"/>
          <ac:spMkLst>
            <pc:docMk/>
            <pc:sldMk cId="2853357568" sldId="265"/>
            <ac:spMk id="4" creationId="{00000000-0000-0000-0000-000000000000}"/>
          </ac:spMkLst>
        </pc:spChg>
      </pc:sldChg>
    </pc:docChg>
  </pc:docChgLst>
  <pc:docChgLst>
    <pc:chgData name="John Hinz" userId="7f59dc78-02bd-4886-abaf-6bd5f36ff05a" providerId="ADAL" clId="{C0A51AC0-EA36-41AF-83E8-DAFE87FFEE50}"/>
    <pc:docChg chg="modSld modMainMaster">
      <pc:chgData name="John Hinz" userId="7f59dc78-02bd-4886-abaf-6bd5f36ff05a" providerId="ADAL" clId="{C0A51AC0-EA36-41AF-83E8-DAFE87FFEE50}" dt="2022-12-31T18:42:32.539" v="1"/>
      <pc:docMkLst>
        <pc:docMk/>
      </pc:docMkLst>
      <pc:sldChg chg="modSp mod">
        <pc:chgData name="John Hinz" userId="7f59dc78-02bd-4886-abaf-6bd5f36ff05a" providerId="ADAL" clId="{C0A51AC0-EA36-41AF-83E8-DAFE87FFEE50}" dt="2022-12-31T18:42:25.166" v="0" actId="6549"/>
        <pc:sldMkLst>
          <pc:docMk/>
          <pc:sldMk cId="2853357568" sldId="265"/>
        </pc:sldMkLst>
        <pc:spChg chg="mod">
          <ac:chgData name="John Hinz" userId="7f59dc78-02bd-4886-abaf-6bd5f36ff05a" providerId="ADAL" clId="{C0A51AC0-EA36-41AF-83E8-DAFE87FFEE50}" dt="2022-12-31T18:42:25.166" v="0" actId="6549"/>
          <ac:spMkLst>
            <pc:docMk/>
            <pc:sldMk cId="2853357568" sldId="265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C0A51AC0-EA36-41AF-83E8-DAFE87FFEE50}" dt="2022-12-31T18:42:32.539" v="1"/>
        <pc:sldMkLst>
          <pc:docMk/>
          <pc:sldMk cId="2390032777" sldId="268"/>
        </pc:sldMkLst>
        <pc:spChg chg="mod">
          <ac:chgData name="John Hinz" userId="7f59dc78-02bd-4886-abaf-6bd5f36ff05a" providerId="ADAL" clId="{C0A51AC0-EA36-41AF-83E8-DAFE87FFEE50}" dt="2022-12-31T18:42:32.539" v="1"/>
          <ac:spMkLst>
            <pc:docMk/>
            <pc:sldMk cId="2390032777" sldId="268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C0A51AC0-EA36-41AF-83E8-DAFE87FFEE50}" dt="2022-12-31T18:42:32.539" v="1"/>
        <pc:sldMkLst>
          <pc:docMk/>
          <pc:sldMk cId="4143471558" sldId="269"/>
        </pc:sldMkLst>
        <pc:spChg chg="mod">
          <ac:chgData name="John Hinz" userId="7f59dc78-02bd-4886-abaf-6bd5f36ff05a" providerId="ADAL" clId="{C0A51AC0-EA36-41AF-83E8-DAFE87FFEE50}" dt="2022-12-31T18:42:32.539" v="1"/>
          <ac:spMkLst>
            <pc:docMk/>
            <pc:sldMk cId="4143471558" sldId="269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C0A51AC0-EA36-41AF-83E8-DAFE87FFEE50}" dt="2022-12-31T18:42:32.539" v="1"/>
        <pc:sldMkLst>
          <pc:docMk/>
          <pc:sldMk cId="2360923738" sldId="270"/>
        </pc:sldMkLst>
        <pc:spChg chg="mod">
          <ac:chgData name="John Hinz" userId="7f59dc78-02bd-4886-abaf-6bd5f36ff05a" providerId="ADAL" clId="{C0A51AC0-EA36-41AF-83E8-DAFE87FFEE50}" dt="2022-12-31T18:42:32.539" v="1"/>
          <ac:spMkLst>
            <pc:docMk/>
            <pc:sldMk cId="2360923738" sldId="270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C0A51AC0-EA36-41AF-83E8-DAFE87FFEE50}" dt="2022-12-31T18:42:32.539" v="1"/>
        <pc:sldMkLst>
          <pc:docMk/>
          <pc:sldMk cId="3358292001" sldId="271"/>
        </pc:sldMkLst>
        <pc:spChg chg="mod">
          <ac:chgData name="John Hinz" userId="7f59dc78-02bd-4886-abaf-6bd5f36ff05a" providerId="ADAL" clId="{C0A51AC0-EA36-41AF-83E8-DAFE87FFEE50}" dt="2022-12-31T18:42:32.539" v="1"/>
          <ac:spMkLst>
            <pc:docMk/>
            <pc:sldMk cId="3358292001" sldId="271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C0A51AC0-EA36-41AF-83E8-DAFE87FFEE50}" dt="2022-12-31T18:42:32.539" v="1"/>
        <pc:sldMkLst>
          <pc:docMk/>
          <pc:sldMk cId="2633988285" sldId="272"/>
        </pc:sldMkLst>
        <pc:spChg chg="mod">
          <ac:chgData name="John Hinz" userId="7f59dc78-02bd-4886-abaf-6bd5f36ff05a" providerId="ADAL" clId="{C0A51AC0-EA36-41AF-83E8-DAFE87FFEE50}" dt="2022-12-31T18:42:32.539" v="1"/>
          <ac:spMkLst>
            <pc:docMk/>
            <pc:sldMk cId="2633988285" sldId="272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C0A51AC0-EA36-41AF-83E8-DAFE87FFEE50}" dt="2022-12-31T18:42:32.539" v="1"/>
        <pc:sldMkLst>
          <pc:docMk/>
          <pc:sldMk cId="3698936835" sldId="273"/>
        </pc:sldMkLst>
        <pc:spChg chg="mod">
          <ac:chgData name="John Hinz" userId="7f59dc78-02bd-4886-abaf-6bd5f36ff05a" providerId="ADAL" clId="{C0A51AC0-EA36-41AF-83E8-DAFE87FFEE50}" dt="2022-12-31T18:42:32.539" v="1"/>
          <ac:spMkLst>
            <pc:docMk/>
            <pc:sldMk cId="3698936835" sldId="273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C0A51AC0-EA36-41AF-83E8-DAFE87FFEE50}" dt="2022-12-31T18:42:32.539" v="1"/>
        <pc:sldMkLst>
          <pc:docMk/>
          <pc:sldMk cId="2565875" sldId="274"/>
        </pc:sldMkLst>
        <pc:spChg chg="mod">
          <ac:chgData name="John Hinz" userId="7f59dc78-02bd-4886-abaf-6bd5f36ff05a" providerId="ADAL" clId="{C0A51AC0-EA36-41AF-83E8-DAFE87FFEE50}" dt="2022-12-31T18:42:32.539" v="1"/>
          <ac:spMkLst>
            <pc:docMk/>
            <pc:sldMk cId="2565875" sldId="274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C0A51AC0-EA36-41AF-83E8-DAFE87FFEE50}" dt="2022-12-31T18:42:32.539" v="1"/>
        <pc:sldMkLst>
          <pc:docMk/>
          <pc:sldMk cId="1605205012" sldId="275"/>
        </pc:sldMkLst>
        <pc:spChg chg="mod">
          <ac:chgData name="John Hinz" userId="7f59dc78-02bd-4886-abaf-6bd5f36ff05a" providerId="ADAL" clId="{C0A51AC0-EA36-41AF-83E8-DAFE87FFEE50}" dt="2022-12-31T18:42:32.539" v="1"/>
          <ac:spMkLst>
            <pc:docMk/>
            <pc:sldMk cId="1605205012" sldId="275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C0A51AC0-EA36-41AF-83E8-DAFE87FFEE50}" dt="2022-12-31T18:42:32.539" v="1"/>
        <pc:sldMkLst>
          <pc:docMk/>
          <pc:sldMk cId="653344977" sldId="276"/>
        </pc:sldMkLst>
        <pc:spChg chg="mod">
          <ac:chgData name="John Hinz" userId="7f59dc78-02bd-4886-abaf-6bd5f36ff05a" providerId="ADAL" clId="{C0A51AC0-EA36-41AF-83E8-DAFE87FFEE50}" dt="2022-12-31T18:42:32.539" v="1"/>
          <ac:spMkLst>
            <pc:docMk/>
            <pc:sldMk cId="653344977" sldId="276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C0A51AC0-EA36-41AF-83E8-DAFE87FFEE50}" dt="2022-12-31T18:42:32.539" v="1"/>
        <pc:sldMkLst>
          <pc:docMk/>
          <pc:sldMk cId="3092668918" sldId="277"/>
        </pc:sldMkLst>
        <pc:spChg chg="mod">
          <ac:chgData name="John Hinz" userId="7f59dc78-02bd-4886-abaf-6bd5f36ff05a" providerId="ADAL" clId="{C0A51AC0-EA36-41AF-83E8-DAFE87FFEE50}" dt="2022-12-31T18:42:32.539" v="1"/>
          <ac:spMkLst>
            <pc:docMk/>
            <pc:sldMk cId="3092668918" sldId="277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C0A51AC0-EA36-41AF-83E8-DAFE87FFEE50}" dt="2022-12-31T18:42:32.539" v="1"/>
        <pc:sldMkLst>
          <pc:docMk/>
          <pc:sldMk cId="1553263126" sldId="278"/>
        </pc:sldMkLst>
        <pc:spChg chg="mod">
          <ac:chgData name="John Hinz" userId="7f59dc78-02bd-4886-abaf-6bd5f36ff05a" providerId="ADAL" clId="{C0A51AC0-EA36-41AF-83E8-DAFE87FFEE50}" dt="2022-12-31T18:42:32.539" v="1"/>
          <ac:spMkLst>
            <pc:docMk/>
            <pc:sldMk cId="1553263126" sldId="278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C0A51AC0-EA36-41AF-83E8-DAFE87FFEE50}" dt="2022-12-31T18:42:32.539" v="1"/>
        <pc:sldMkLst>
          <pc:docMk/>
          <pc:sldMk cId="966820705" sldId="279"/>
        </pc:sldMkLst>
        <pc:spChg chg="mod">
          <ac:chgData name="John Hinz" userId="7f59dc78-02bd-4886-abaf-6bd5f36ff05a" providerId="ADAL" clId="{C0A51AC0-EA36-41AF-83E8-DAFE87FFEE50}" dt="2022-12-31T18:42:32.539" v="1"/>
          <ac:spMkLst>
            <pc:docMk/>
            <pc:sldMk cId="966820705" sldId="279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C0A51AC0-EA36-41AF-83E8-DAFE87FFEE50}" dt="2022-12-31T18:42:32.539" v="1"/>
        <pc:sldMkLst>
          <pc:docMk/>
          <pc:sldMk cId="3013979164" sldId="280"/>
        </pc:sldMkLst>
        <pc:spChg chg="mod">
          <ac:chgData name="John Hinz" userId="7f59dc78-02bd-4886-abaf-6bd5f36ff05a" providerId="ADAL" clId="{C0A51AC0-EA36-41AF-83E8-DAFE87FFEE50}" dt="2022-12-31T18:42:32.539" v="1"/>
          <ac:spMkLst>
            <pc:docMk/>
            <pc:sldMk cId="3013979164" sldId="280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C0A51AC0-EA36-41AF-83E8-DAFE87FFEE50}" dt="2022-12-31T18:42:32.539" v="1"/>
        <pc:sldMkLst>
          <pc:docMk/>
          <pc:sldMk cId="2285727667" sldId="281"/>
        </pc:sldMkLst>
        <pc:spChg chg="mod">
          <ac:chgData name="John Hinz" userId="7f59dc78-02bd-4886-abaf-6bd5f36ff05a" providerId="ADAL" clId="{C0A51AC0-EA36-41AF-83E8-DAFE87FFEE50}" dt="2022-12-31T18:42:32.539" v="1"/>
          <ac:spMkLst>
            <pc:docMk/>
            <pc:sldMk cId="2285727667" sldId="281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C0A51AC0-EA36-41AF-83E8-DAFE87FFEE50}" dt="2022-12-31T18:42:32.539" v="1"/>
        <pc:sldMkLst>
          <pc:docMk/>
          <pc:sldMk cId="3301539797" sldId="283"/>
        </pc:sldMkLst>
        <pc:spChg chg="mod">
          <ac:chgData name="John Hinz" userId="7f59dc78-02bd-4886-abaf-6bd5f36ff05a" providerId="ADAL" clId="{C0A51AC0-EA36-41AF-83E8-DAFE87FFEE50}" dt="2022-12-31T18:42:32.539" v="1"/>
          <ac:spMkLst>
            <pc:docMk/>
            <pc:sldMk cId="3301539797" sldId="283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C0A51AC0-EA36-41AF-83E8-DAFE87FFEE50}" dt="2022-12-31T18:42:32.539" v="1"/>
        <pc:sldMkLst>
          <pc:docMk/>
          <pc:sldMk cId="2882767560" sldId="284"/>
        </pc:sldMkLst>
        <pc:spChg chg="mod">
          <ac:chgData name="John Hinz" userId="7f59dc78-02bd-4886-abaf-6bd5f36ff05a" providerId="ADAL" clId="{C0A51AC0-EA36-41AF-83E8-DAFE87FFEE50}" dt="2022-12-31T18:42:32.539" v="1"/>
          <ac:spMkLst>
            <pc:docMk/>
            <pc:sldMk cId="2882767560" sldId="284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C0A51AC0-EA36-41AF-83E8-DAFE87FFEE50}" dt="2022-12-31T18:42:32.539" v="1"/>
        <pc:sldMkLst>
          <pc:docMk/>
          <pc:sldMk cId="294985" sldId="285"/>
        </pc:sldMkLst>
        <pc:spChg chg="mod">
          <ac:chgData name="John Hinz" userId="7f59dc78-02bd-4886-abaf-6bd5f36ff05a" providerId="ADAL" clId="{C0A51AC0-EA36-41AF-83E8-DAFE87FFEE50}" dt="2022-12-31T18:42:32.539" v="1"/>
          <ac:spMkLst>
            <pc:docMk/>
            <pc:sldMk cId="294985" sldId="285"/>
            <ac:spMk id="4" creationId="{00000000-0000-0000-0000-000000000000}"/>
          </ac:spMkLst>
        </pc:spChg>
      </pc:sldChg>
      <pc:sldMasterChg chg="modSldLayout">
        <pc:chgData name="John Hinz" userId="7f59dc78-02bd-4886-abaf-6bd5f36ff05a" providerId="ADAL" clId="{C0A51AC0-EA36-41AF-83E8-DAFE87FFEE50}" dt="2022-12-31T18:42:32.539" v="1"/>
        <pc:sldMasterMkLst>
          <pc:docMk/>
          <pc:sldMasterMk cId="3832927138" sldId="2147483650"/>
        </pc:sldMasterMkLst>
        <pc:sldLayoutChg chg="modSp">
          <pc:chgData name="John Hinz" userId="7f59dc78-02bd-4886-abaf-6bd5f36ff05a" providerId="ADAL" clId="{C0A51AC0-EA36-41AF-83E8-DAFE87FFEE50}" dt="2022-12-31T18:42:32.539" v="1"/>
          <pc:sldLayoutMkLst>
            <pc:docMk/>
            <pc:sldMasterMk cId="3832927138" sldId="2147483650"/>
            <pc:sldLayoutMk cId="2468820788" sldId="2147483657"/>
          </pc:sldLayoutMkLst>
          <pc:spChg chg="mod">
            <ac:chgData name="John Hinz" userId="7f59dc78-02bd-4886-abaf-6bd5f36ff05a" providerId="ADAL" clId="{C0A51AC0-EA36-41AF-83E8-DAFE87FFEE50}" dt="2022-12-31T18:42:32.539" v="1"/>
            <ac:spMkLst>
              <pc:docMk/>
              <pc:sldMasterMk cId="3832927138" sldId="2147483650"/>
              <pc:sldLayoutMk cId="2468820788" sldId="2147483657"/>
              <ac:spMk id="5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8DAC81C5-AE7A-1044-93C2-6BFF0DD7BC2B}" type="datetimeFigureOut">
              <a:rPr lang="en-US" smtClean="0"/>
              <a:t>10/4/2023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E6F6EB44-35E4-0D4D-B375-5AD6507359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46125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8CBB8FA7-5BDC-BF4F-AE27-E2122A3D7D4C}" type="datetimeFigureOut">
              <a:rPr lang="en-US" smtClean="0"/>
              <a:t>10/4/2023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19D953D-192A-4F4A-A51F-DC3C7E58A6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0293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300"/>
              <a:t>©2019 John Hinz</a:t>
            </a:r>
            <a:endParaRPr lang="en-CA" sz="13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9D953D-192A-4F4A-A51F-DC3C7E58A63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554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Start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9D953D-192A-4F4A-A51F-DC3C7E58A63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5003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9D953D-192A-4F4A-A51F-DC3C7E58A63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83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</a:t>
            </a:r>
            <a:r>
              <a:rPr lang="en-US" baseline="0" dirty="0"/>
              <a:t> Off 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9D953D-192A-4F4A-A51F-DC3C7E58A63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896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2980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768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CA" dirty="0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537BDD08-E33E-4E70-9A4A-E7BE06C20C0C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68820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t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839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15200" y="2984500"/>
            <a:ext cx="1828800" cy="3873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9968" y="5875020"/>
            <a:ext cx="237744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043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58200" y="5405437"/>
            <a:ext cx="685800" cy="145256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685800" y="6172200"/>
            <a:ext cx="18288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fld id="{88C0C721-AEEC-4745-A24D-5BC52D0B46FB}" type="slidenum">
              <a:rPr lang="en-US" sz="1400" b="0" i="0" smtClean="0">
                <a:latin typeface="ITC Franklin Gothic Std MedCd"/>
                <a:cs typeface="ITC Franklin Gothic Std MedCd"/>
              </a:rPr>
              <a:pPr algn="l"/>
              <a:t>‹#›</a:t>
            </a:fld>
            <a:endParaRPr lang="en-US" sz="1400" b="0" i="0" dirty="0">
              <a:latin typeface="ITC Franklin Gothic Std MedCd"/>
              <a:cs typeface="ITC Franklin Gothic Std MedCd"/>
            </a:endParaRPr>
          </a:p>
        </p:txBody>
      </p:sp>
    </p:spTree>
    <p:extLst>
      <p:ext uri="{BB962C8B-B14F-4D97-AF65-F5344CB8AC3E}">
        <p14:creationId xmlns:p14="http://schemas.microsoft.com/office/powerpoint/2010/main" val="3832927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7" r:id="rId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8E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1"/>
            <a:ext cx="9144000" cy="6858000"/>
          </a:xfrm>
          <a:prstGeom prst="rect">
            <a:avLst/>
          </a:prstGeom>
          <a:solidFill>
            <a:srgbClr val="008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58200" y="5405436"/>
            <a:ext cx="685800" cy="1452563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685800" y="6172200"/>
            <a:ext cx="18288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fld id="{88C0C721-AEEC-4745-A24D-5BC52D0B46FB}" type="slidenum">
              <a:rPr lang="en-US" sz="1400" b="0" i="0" smtClean="0">
                <a:solidFill>
                  <a:srgbClr val="FFFFFF"/>
                </a:solidFill>
                <a:latin typeface="ITC Franklin Gothic Std MedCd"/>
                <a:cs typeface="ITC Franklin Gothic Std MedCd"/>
              </a:rPr>
              <a:pPr algn="l"/>
              <a:t>‹#›</a:t>
            </a:fld>
            <a:endParaRPr lang="en-US" sz="1400" b="0" i="0" dirty="0">
              <a:solidFill>
                <a:srgbClr val="FFFFFF"/>
              </a:solidFill>
              <a:latin typeface="ITC Franklin Gothic Std MedCd"/>
              <a:cs typeface="ITC Franklin Gothic Std MedCd"/>
            </a:endParaRPr>
          </a:p>
        </p:txBody>
      </p:sp>
    </p:spTree>
    <p:extLst>
      <p:ext uri="{BB962C8B-B14F-4D97-AF65-F5344CB8AC3E}">
        <p14:creationId xmlns:p14="http://schemas.microsoft.com/office/powerpoint/2010/main" val="162998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obert_C._Martin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tnetfiddle.net/1QdgYK" TargetMode="External"/><Relationship Id="rId2" Type="http://schemas.openxmlformats.org/officeDocument/2006/relationships/hyperlink" Target="https://dotnetfiddle.net/lejJqN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otnetfiddle.net/fIljId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tnetfiddle.net/Is248z" TargetMode="External"/><Relationship Id="rId2" Type="http://schemas.openxmlformats.org/officeDocument/2006/relationships/hyperlink" Target="https://dotnetfiddle.net/y68knC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otnetfiddle.net/zxhV4x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Barbara_Liskov" TargetMode="Externa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tnetfiddle.net/1f7Nmj" TargetMode="External"/><Relationship Id="rId2" Type="http://schemas.openxmlformats.org/officeDocument/2006/relationships/hyperlink" Target="https://dotnetfiddle.net/AQkzN4" TargetMode="Externa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amzn.to/agilepppcsharp" TargetMode="External"/><Relationship Id="rId2" Type="http://schemas.openxmlformats.org/officeDocument/2006/relationships/hyperlink" Target="http://www.objectmentor.com/resources/articles/srp.pdf" TargetMode="Externa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685800"/>
            <a:ext cx="7772400" cy="27533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7500"/>
              </a:lnSpc>
            </a:pPr>
            <a:r>
              <a:rPr lang="en-US" sz="8000" spc="100" dirty="0">
                <a:solidFill>
                  <a:schemeClr val="bg1"/>
                </a:solidFill>
                <a:latin typeface="ITC Franklin Gothic Std Dm Cd"/>
                <a:cs typeface="ITC Franklin Gothic Std Dm Cd"/>
              </a:rPr>
              <a:t>NET. 012</a:t>
            </a:r>
          </a:p>
          <a:p>
            <a:pPr>
              <a:lnSpc>
                <a:spcPts val="7500"/>
              </a:lnSpc>
            </a:pPr>
            <a:r>
              <a:rPr lang="en-US" sz="8000" spc="100" dirty="0">
                <a:solidFill>
                  <a:schemeClr val="bg1"/>
                </a:solidFill>
                <a:latin typeface="ITC Franklin Gothic Std Dm Cd"/>
                <a:cs typeface="ITC Franklin Gothic Std Bk Cd"/>
              </a:rPr>
              <a:t>S.O.L.I.D.</a:t>
            </a:r>
          </a:p>
          <a:p>
            <a:pPr>
              <a:lnSpc>
                <a:spcPts val="7500"/>
              </a:lnSpc>
            </a:pPr>
            <a:r>
              <a:rPr lang="en-US" sz="3200" spc="100" dirty="0">
                <a:solidFill>
                  <a:schemeClr val="bg1"/>
                </a:solidFill>
                <a:latin typeface="ITC Franklin Gothic Std Dm Cd"/>
                <a:cs typeface="ITC Franklin Gothic Std Bk Cd"/>
              </a:rPr>
              <a:t>Class 12</a:t>
            </a:r>
          </a:p>
        </p:txBody>
      </p:sp>
    </p:spTree>
    <p:extLst>
      <p:ext uri="{BB962C8B-B14F-4D97-AF65-F5344CB8AC3E}">
        <p14:creationId xmlns:p14="http://schemas.microsoft.com/office/powerpoint/2010/main" val="2853357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85800"/>
            <a:ext cx="7772400" cy="35060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5500"/>
              </a:lnSpc>
            </a:pPr>
            <a:r>
              <a:rPr lang="en-US" sz="6000" spc="100" dirty="0">
                <a:solidFill>
                  <a:schemeClr val="bg1"/>
                </a:solidFill>
                <a:latin typeface="ITC Franklin Gothic Std Dm Cd"/>
                <a:cs typeface="ITC Franklin Gothic Std Dm Cd"/>
              </a:rPr>
              <a:t>Agenda</a:t>
            </a:r>
          </a:p>
          <a:p>
            <a:endParaRPr lang="en-US" sz="2600" dirty="0">
              <a:solidFill>
                <a:schemeClr val="bg1"/>
              </a:solidFill>
              <a:latin typeface="ITC Franklin Gothic Std Bk Cd"/>
              <a:cs typeface="ITC Franklin Gothic Std Bk Cd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>
                <a:solidFill>
                  <a:schemeClr val="bg1"/>
                </a:solidFill>
                <a:latin typeface="ITC Franklin Gothic Std Bk Cd"/>
                <a:cs typeface="ITC Franklin Gothic Std Bk Cd"/>
              </a:rPr>
              <a:t>S</a:t>
            </a:r>
            <a:r>
              <a:rPr lang="en-US" sz="2600" dirty="0">
                <a:solidFill>
                  <a:schemeClr val="bg1"/>
                </a:solidFill>
                <a:latin typeface="ITC Franklin Gothic Std Bk Cd"/>
                <a:cs typeface="ITC Franklin Gothic Std Bk Cd"/>
              </a:rPr>
              <a:t>.O.L.I.D. – Part 1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ITC Franklin Gothic Std Bk Cd"/>
                <a:cs typeface="ITC Franklin Gothic Std Bk Cd"/>
              </a:rPr>
              <a:t>Single Responsibility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ITC Franklin Gothic Std Bk Cd"/>
                <a:cs typeface="ITC Franklin Gothic Std Bk Cd"/>
              </a:rPr>
              <a:t>Open / Closed Principal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 err="1">
                <a:solidFill>
                  <a:schemeClr val="bg1"/>
                </a:solidFill>
                <a:latin typeface="ITC Franklin Gothic Std Bk Cd"/>
                <a:cs typeface="ITC Franklin Gothic Std Bk Cd"/>
              </a:rPr>
              <a:t>Liskov</a:t>
            </a:r>
            <a:r>
              <a:rPr lang="en-US" sz="2600" dirty="0">
                <a:solidFill>
                  <a:schemeClr val="bg1"/>
                </a:solidFill>
                <a:latin typeface="ITC Franklin Gothic Std Bk Cd"/>
                <a:cs typeface="ITC Franklin Gothic Std Bk Cd"/>
              </a:rPr>
              <a:t> Substitution Principal</a:t>
            </a:r>
          </a:p>
          <a:p>
            <a:endParaRPr lang="en-US" sz="2600" dirty="0">
              <a:solidFill>
                <a:schemeClr val="bg1"/>
              </a:solidFill>
              <a:latin typeface="ITC Franklin Gothic Std Bk Cd"/>
              <a:cs typeface="ITC Franklin Gothic Std Bk Cd"/>
            </a:endParaRPr>
          </a:p>
          <a:p>
            <a:endParaRPr lang="en-US" sz="2600" dirty="0">
              <a:solidFill>
                <a:schemeClr val="bg1"/>
              </a:solidFill>
              <a:latin typeface="ITC Franklin Gothic Std Bk Cd"/>
              <a:cs typeface="ITC Franklin Gothic Std Bk Cd"/>
            </a:endParaRPr>
          </a:p>
        </p:txBody>
      </p:sp>
    </p:spTree>
    <p:extLst>
      <p:ext uri="{BB962C8B-B14F-4D97-AF65-F5344CB8AC3E}">
        <p14:creationId xmlns:p14="http://schemas.microsoft.com/office/powerpoint/2010/main" val="2081111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S.O.L.I.D. (an acronym)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Single responsibility principle</a:t>
            </a:r>
          </a:p>
          <a:p>
            <a:pPr lvl="1"/>
            <a:r>
              <a:rPr lang="en-CA" dirty="0"/>
              <a:t>a class should have only a single responsibility</a:t>
            </a:r>
          </a:p>
          <a:p>
            <a:r>
              <a:rPr lang="en-CA" dirty="0"/>
              <a:t>Open/closed principle</a:t>
            </a:r>
          </a:p>
          <a:p>
            <a:pPr lvl="1"/>
            <a:r>
              <a:rPr lang="en-CA" dirty="0"/>
              <a:t>software entities should be open for extension, but closed for modification.</a:t>
            </a:r>
          </a:p>
          <a:p>
            <a:r>
              <a:rPr lang="en-CA" dirty="0" err="1"/>
              <a:t>Liskov</a:t>
            </a:r>
            <a:r>
              <a:rPr lang="en-CA" dirty="0"/>
              <a:t> substitution principle</a:t>
            </a:r>
          </a:p>
          <a:p>
            <a:pPr lvl="1"/>
            <a:r>
              <a:rPr lang="en-CA" dirty="0"/>
              <a:t>objects in a program should be replaceable with instances of their subtypes without altering the correctness of that program.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90032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SOLID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Interface segregation principle</a:t>
            </a:r>
          </a:p>
          <a:p>
            <a:pPr lvl="1"/>
            <a:r>
              <a:rPr lang="en-CA" dirty="0"/>
              <a:t>many client-specific interfaces are better than one general-purpose interface</a:t>
            </a:r>
          </a:p>
          <a:p>
            <a:r>
              <a:rPr lang="en-CA" dirty="0"/>
              <a:t>Dependency inversion principle</a:t>
            </a:r>
          </a:p>
          <a:p>
            <a:pPr lvl="1"/>
            <a:r>
              <a:rPr lang="en-CA" dirty="0"/>
              <a:t>Types (Classes) should depend upon Abstractions. Do not depend upon concretions.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3471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Single Responsibility Principal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73776"/>
            <a:ext cx="5025380" cy="3452545"/>
          </a:xfrm>
        </p:spPr>
        <p:txBody>
          <a:bodyPr/>
          <a:lstStyle/>
          <a:p>
            <a:r>
              <a:rPr lang="en-CA" dirty="0"/>
              <a:t>The single responsibility principal states that every object should have a single responsibility, and that responsibility should be entirely encapsulated by the class.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4030" y="1825625"/>
            <a:ext cx="2861320" cy="20125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8650" y="4626321"/>
            <a:ext cx="74872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3200" dirty="0"/>
              <a:t>There should never be more than one reason for a class to change.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3200" dirty="0">
                <a:hlinkClick r:id="rId3"/>
              </a:rPr>
              <a:t>Robert C. “Uncle Bob” Martin</a:t>
            </a: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2360923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Single Responsibility Principal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Cohesion and Coupling</a:t>
            </a:r>
          </a:p>
          <a:p>
            <a:pPr lvl="1"/>
            <a:r>
              <a:rPr lang="en-CA" dirty="0"/>
              <a:t>Cohesion</a:t>
            </a:r>
          </a:p>
          <a:p>
            <a:pPr lvl="2"/>
            <a:r>
              <a:rPr lang="en-CA" dirty="0"/>
              <a:t>How strongly-related and focused are the various responsibilities of a module / class</a:t>
            </a:r>
          </a:p>
          <a:p>
            <a:pPr lvl="1"/>
            <a:r>
              <a:rPr lang="en-CA" dirty="0"/>
              <a:t>Coupling</a:t>
            </a:r>
          </a:p>
          <a:p>
            <a:pPr lvl="2"/>
            <a:r>
              <a:rPr lang="en-CA" dirty="0"/>
              <a:t>The degree to which each program module relies on each of the other modules</a:t>
            </a:r>
          </a:p>
          <a:p>
            <a:r>
              <a:rPr lang="en-CA" dirty="0"/>
              <a:t>Strive for low coupling and high cohesion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8292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Responsibilities are Axes of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Requirements changes typically map to responsibilities</a:t>
            </a:r>
          </a:p>
          <a:p>
            <a:r>
              <a:rPr lang="en-CA" dirty="0"/>
              <a:t>More responsibilities == More likelihood of change</a:t>
            </a:r>
          </a:p>
          <a:p>
            <a:r>
              <a:rPr lang="en-CA" dirty="0"/>
              <a:t>Having multiple responsibilities within a class couples together these responsibilities.</a:t>
            </a:r>
          </a:p>
          <a:p>
            <a:r>
              <a:rPr lang="en-CA" dirty="0"/>
              <a:t>The more classes a change affects, the more likely the change will introduce errors.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33988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a Responsibility?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difference in usage scenarios from </a:t>
            </a:r>
            <a:r>
              <a:rPr lang="en-CA"/>
              <a:t>the user’s </a:t>
            </a:r>
            <a:r>
              <a:rPr lang="en-CA" dirty="0"/>
              <a:t>perspective</a:t>
            </a:r>
          </a:p>
          <a:p>
            <a:r>
              <a:rPr lang="en-CA" dirty="0"/>
              <a:t>Multiple small interfaces (follow Interface Segregation Principal) can help to achieve the Single Responsibility Principal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98936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Single Responsibility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Before</a:t>
            </a:r>
          </a:p>
          <a:p>
            <a:pPr lvl="1"/>
            <a:r>
              <a:rPr lang="en-CA" dirty="0">
                <a:hlinkClick r:id="rId2"/>
              </a:rPr>
              <a:t>https://dotnetfiddle.net/lejJqN</a:t>
            </a:r>
            <a:endParaRPr lang="en-CA" dirty="0"/>
          </a:p>
          <a:p>
            <a:r>
              <a:rPr lang="en-CA" dirty="0"/>
              <a:t>After</a:t>
            </a:r>
          </a:p>
          <a:p>
            <a:pPr lvl="1"/>
            <a:r>
              <a:rPr lang="en-CA" dirty="0">
                <a:hlinkClick r:id="rId3"/>
              </a:rPr>
              <a:t>https://dotnetfiddle.net/1QdgYK</a:t>
            </a:r>
            <a:endParaRPr lang="en-CA" dirty="0"/>
          </a:p>
          <a:p>
            <a:r>
              <a:rPr lang="en-CA" dirty="0"/>
              <a:t>Abstraction</a:t>
            </a:r>
          </a:p>
          <a:p>
            <a:pPr lvl="1"/>
            <a:r>
              <a:rPr lang="en-CA" dirty="0">
                <a:hlinkClick r:id="rId4"/>
              </a:rPr>
              <a:t>https://dotnetfiddle.net/fIljId</a:t>
            </a:r>
            <a:endParaRPr lang="en-CA" dirty="0"/>
          </a:p>
          <a:p>
            <a:pPr lvl="1"/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01539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Open/Closed Principal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Open / Closed Principle states that:</a:t>
            </a:r>
          </a:p>
          <a:p>
            <a:pPr lvl="1"/>
            <a:r>
              <a:rPr lang="en-CA" dirty="0"/>
              <a:t>software entities (classes, modules, functions, etc.) should be open for extension, but closed for modification.</a:t>
            </a:r>
          </a:p>
          <a:p>
            <a:r>
              <a:rPr lang="en-CA" dirty="0"/>
              <a:t>Open to Extension</a:t>
            </a:r>
          </a:p>
          <a:p>
            <a:pPr lvl="1"/>
            <a:r>
              <a:rPr lang="en-CA" dirty="0"/>
              <a:t>New behavior can be added in the future</a:t>
            </a:r>
          </a:p>
          <a:p>
            <a:r>
              <a:rPr lang="en-CA" dirty="0"/>
              <a:t>Closed to Modification</a:t>
            </a:r>
          </a:p>
          <a:p>
            <a:pPr lvl="1"/>
            <a:r>
              <a:rPr lang="en-CA" dirty="0"/>
              <a:t>Changes to source or binary code are not required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05205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Change behavior without changing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Rely on abstractions </a:t>
            </a:r>
          </a:p>
          <a:p>
            <a:r>
              <a:rPr lang="en-CA" dirty="0"/>
              <a:t>No limit to the variety of implementations of each abstraction.</a:t>
            </a:r>
          </a:p>
          <a:p>
            <a:r>
              <a:rPr lang="en-CA" dirty="0"/>
              <a:t>In .NET abstractions include:</a:t>
            </a:r>
          </a:p>
          <a:p>
            <a:pPr lvl="1"/>
            <a:r>
              <a:rPr lang="en-CA" dirty="0"/>
              <a:t>Interfaces</a:t>
            </a:r>
          </a:p>
          <a:p>
            <a:pPr lvl="1"/>
            <a:r>
              <a:rPr lang="en-CA" dirty="0"/>
              <a:t>Abstract classes</a:t>
            </a:r>
          </a:p>
          <a:p>
            <a:r>
              <a:rPr lang="en-CA" dirty="0"/>
              <a:t>Some level of OCP can be achieved via parameters (Inversion of control)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3344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Approaches to Achieve the Open /Closed Principal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Parameters (Procedural Programming)</a:t>
            </a:r>
          </a:p>
          <a:p>
            <a:pPr lvl="1"/>
            <a:r>
              <a:rPr lang="en-CA" dirty="0"/>
              <a:t>Allow client to control behavior specifics via a parameter</a:t>
            </a:r>
          </a:p>
          <a:p>
            <a:pPr lvl="1"/>
            <a:r>
              <a:rPr lang="en-CA" dirty="0"/>
              <a:t>Combined with delegates/lambda, can be very powerful approach</a:t>
            </a:r>
          </a:p>
          <a:p>
            <a:r>
              <a:rPr lang="en-CA" dirty="0"/>
              <a:t>Inheritance / Template Method Pattern</a:t>
            </a:r>
          </a:p>
          <a:p>
            <a:pPr lvl="1"/>
            <a:r>
              <a:rPr lang="en-CA" dirty="0"/>
              <a:t>Child types override behavior of a base class (or interface)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92668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When to apply the Open/Closed Principal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800" dirty="0"/>
              <a:t>Experience Tells You</a:t>
            </a:r>
          </a:p>
          <a:p>
            <a:pPr lvl="1"/>
            <a:r>
              <a:rPr lang="en-CA" sz="2400" dirty="0"/>
              <a:t>If you know from your own experience in the problem domain that a particular class of change is likely to recur, you can apply OCP up front in your design</a:t>
            </a:r>
          </a:p>
          <a:p>
            <a:r>
              <a:rPr lang="en-CA" sz="2800" dirty="0"/>
              <a:t>Fool me once, shame on you; fool me twice, shame on me</a:t>
            </a:r>
          </a:p>
          <a:p>
            <a:pPr lvl="1"/>
            <a:r>
              <a:rPr lang="en-CA" sz="2400" dirty="0"/>
              <a:t>Don’t apply OCP at first</a:t>
            </a:r>
          </a:p>
          <a:p>
            <a:pPr lvl="1"/>
            <a:r>
              <a:rPr lang="en-CA" sz="2400" dirty="0"/>
              <a:t>If the module changes once, accept it.</a:t>
            </a:r>
          </a:p>
          <a:p>
            <a:pPr lvl="1"/>
            <a:r>
              <a:rPr lang="en-CA" sz="2400" dirty="0"/>
              <a:t>If it changes a second time, refactor to achieve OCP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3263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Open/Closed Principal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Before</a:t>
            </a:r>
          </a:p>
          <a:p>
            <a:pPr lvl="1"/>
            <a:r>
              <a:rPr lang="en-CA" dirty="0">
                <a:hlinkClick r:id="rId2"/>
              </a:rPr>
              <a:t>https://dotnetfiddle.net/y68knC</a:t>
            </a:r>
            <a:endParaRPr lang="en-CA" dirty="0"/>
          </a:p>
          <a:p>
            <a:r>
              <a:rPr lang="en-CA" dirty="0"/>
              <a:t>Before with addition</a:t>
            </a:r>
          </a:p>
          <a:p>
            <a:pPr lvl="1"/>
            <a:r>
              <a:rPr lang="en-CA" dirty="0">
                <a:hlinkClick r:id="rId3"/>
              </a:rPr>
              <a:t>https://dotnetfiddle.net/Is248z</a:t>
            </a:r>
            <a:endParaRPr lang="en-CA" dirty="0"/>
          </a:p>
          <a:p>
            <a:r>
              <a:rPr lang="en-CA" dirty="0"/>
              <a:t>After</a:t>
            </a:r>
          </a:p>
          <a:p>
            <a:pPr lvl="1"/>
            <a:r>
              <a:rPr lang="en-CA" dirty="0">
                <a:hlinkClick r:id="rId4"/>
              </a:rPr>
              <a:t>https://dotnetfiddle.net/zxhV4x</a:t>
            </a:r>
            <a:endParaRPr lang="en-CA" dirty="0"/>
          </a:p>
          <a:p>
            <a:pPr lvl="1"/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82767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</a:t>
            </a:r>
            <a:r>
              <a:rPr lang="en-CA" dirty="0" err="1"/>
              <a:t>Liskov</a:t>
            </a:r>
            <a:r>
              <a:rPr lang="en-CA" dirty="0"/>
              <a:t> Substitution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</a:t>
            </a:r>
            <a:r>
              <a:rPr lang="en-CA" dirty="0" err="1"/>
              <a:t>Liskov</a:t>
            </a:r>
            <a:r>
              <a:rPr lang="en-CA" dirty="0"/>
              <a:t> Substitution Principle states that:</a:t>
            </a:r>
          </a:p>
          <a:p>
            <a:pPr lvl="1"/>
            <a:r>
              <a:rPr lang="en-CA" dirty="0"/>
              <a:t>Subtypes (child class) must be substitutable for their base (parent class) types.</a:t>
            </a:r>
          </a:p>
          <a:p>
            <a:r>
              <a:rPr lang="en-CA" dirty="0"/>
              <a:t>Named for </a:t>
            </a:r>
            <a:r>
              <a:rPr lang="en-CA" dirty="0">
                <a:hlinkClick r:id="rId2"/>
              </a:rPr>
              <a:t>Barbara </a:t>
            </a:r>
            <a:r>
              <a:rPr lang="en-CA" dirty="0" err="1">
                <a:hlinkClick r:id="rId2"/>
              </a:rPr>
              <a:t>Liskov</a:t>
            </a:r>
            <a:r>
              <a:rPr lang="en-CA" dirty="0"/>
              <a:t>, who first described the principle in 1988.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66820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Substitutability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Child classes must not:</a:t>
            </a:r>
          </a:p>
          <a:p>
            <a:pPr lvl="1"/>
            <a:r>
              <a:rPr lang="en-CA" dirty="0"/>
              <a:t>Remove base class behaviour.</a:t>
            </a:r>
          </a:p>
          <a:p>
            <a:pPr lvl="1"/>
            <a:r>
              <a:rPr lang="en-CA" dirty="0"/>
              <a:t>Violate base class invariants.</a:t>
            </a:r>
          </a:p>
          <a:p>
            <a:pPr lvl="2"/>
            <a:r>
              <a:rPr lang="en-CA" dirty="0"/>
              <a:t>Derived classes are extending the base classes without changing their behavior</a:t>
            </a:r>
          </a:p>
          <a:p>
            <a:pPr lvl="1"/>
            <a:r>
              <a:rPr lang="en-CA" dirty="0"/>
              <a:t>Require calling code to know they are different form their base type.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3979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Invariants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800" dirty="0"/>
              <a:t>Consist of reasonable assumptions of behavior by clients</a:t>
            </a:r>
          </a:p>
          <a:p>
            <a:r>
              <a:rPr lang="en-CA" sz="2800" dirty="0"/>
              <a:t>Can be expressed as preconditions and post conditions for methods</a:t>
            </a:r>
          </a:p>
          <a:p>
            <a:r>
              <a:rPr lang="en-CA" sz="2800" dirty="0"/>
              <a:t>Frequently, unit tests are used to specify expected behavior of a method or class</a:t>
            </a:r>
          </a:p>
          <a:p>
            <a:r>
              <a:rPr lang="en-CA" sz="2800" dirty="0"/>
              <a:t>To follow LSP, derived classes must not violate any constraints defined (or assumed by clients) on the base classes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5727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Liskov</a:t>
            </a:r>
            <a:r>
              <a:rPr lang="en-CA" dirty="0"/>
              <a:t> Substitution Principal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Before</a:t>
            </a:r>
          </a:p>
          <a:p>
            <a:pPr lvl="1"/>
            <a:r>
              <a:rPr lang="en-CA" dirty="0">
                <a:hlinkClick r:id="rId2"/>
              </a:rPr>
              <a:t>https://dotnetfiddle.net/AQkzN4</a:t>
            </a:r>
            <a:endParaRPr lang="en-CA" dirty="0"/>
          </a:p>
          <a:p>
            <a:r>
              <a:rPr lang="en-CA" dirty="0"/>
              <a:t>After</a:t>
            </a:r>
          </a:p>
          <a:p>
            <a:pPr lvl="1"/>
            <a:r>
              <a:rPr lang="en-CA" dirty="0">
                <a:hlinkClick r:id="rId3"/>
              </a:rPr>
              <a:t>https://dotnetfiddle.net/1f7Nmj</a:t>
            </a:r>
            <a:endParaRPr lang="en-CA" dirty="0"/>
          </a:p>
          <a:p>
            <a:pPr lvl="1"/>
            <a:endParaRPr lang="en-CA" dirty="0"/>
          </a:p>
          <a:p>
            <a:pPr lvl="1"/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4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Additional Information /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800" dirty="0"/>
              <a:t>Single Responsibility Principal</a:t>
            </a:r>
          </a:p>
          <a:p>
            <a:pPr lvl="1"/>
            <a:r>
              <a:rPr lang="en-CA" sz="2400" dirty="0">
                <a:hlinkClick r:id="rId2"/>
              </a:rPr>
              <a:t>http://www.objectmentor.com/resources/articles/srp.pdf</a:t>
            </a:r>
            <a:endParaRPr lang="en-CA" sz="2400" dirty="0"/>
          </a:p>
          <a:p>
            <a:r>
              <a:rPr lang="en-CA" sz="2800" dirty="0"/>
              <a:t>Dr. Bertrand Meyer originated the OCP term in his 1988 book, Object Oriented Software Construction</a:t>
            </a:r>
          </a:p>
          <a:p>
            <a:r>
              <a:rPr lang="en-CA" sz="2800" dirty="0"/>
              <a:t>Agile Principles, Patterns, and Practices by Robert C. Martin and Micah Martin [</a:t>
            </a:r>
            <a:r>
              <a:rPr lang="en-CA" sz="2800" dirty="0">
                <a:hlinkClick r:id="rId3"/>
              </a:rPr>
              <a:t>http://amzn.to/agilepppcsharp</a:t>
            </a:r>
            <a:r>
              <a:rPr lang="en-CA" sz="2800" dirty="0"/>
              <a:t>]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65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85800"/>
            <a:ext cx="7772400" cy="7416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5500"/>
              </a:lnSpc>
            </a:pPr>
            <a:r>
              <a:rPr lang="en-US" sz="6000" spc="100" dirty="0">
                <a:solidFill>
                  <a:schemeClr val="bg1"/>
                </a:solidFill>
                <a:latin typeface="ITC Franklin Gothic Std Dm Cd"/>
                <a:cs typeface="ITC Franklin Gothic Std Dm Cd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175705073"/>
      </p:ext>
    </p:extLst>
  </p:cSld>
  <p:clrMapOvr>
    <a:masterClrMapping/>
  </p:clrMapOvr>
</p:sld>
</file>

<file path=ppt/theme/theme1.xml><?xml version="1.0" encoding="utf-8"?>
<a:theme xmlns:a="http://schemas.openxmlformats.org/drawingml/2006/main" name="Humber Title Slide">
  <a:themeElements>
    <a:clrScheme name="Humber">
      <a:dk1>
        <a:srgbClr val="141313"/>
      </a:dk1>
      <a:lt1>
        <a:srgbClr val="FFFFFE"/>
      </a:lt1>
      <a:dk2>
        <a:srgbClr val="141313"/>
      </a:dk2>
      <a:lt2>
        <a:srgbClr val="EFEEED"/>
      </a:lt2>
      <a:accent1>
        <a:srgbClr val="008EC8"/>
      </a:accent1>
      <a:accent2>
        <a:srgbClr val="AFC828"/>
      </a:accent2>
      <a:accent3>
        <a:srgbClr val="D53958"/>
      </a:accent3>
      <a:accent4>
        <a:srgbClr val="FFE319"/>
      </a:accent4>
      <a:accent5>
        <a:srgbClr val="3C1C66"/>
      </a:accent5>
      <a:accent6>
        <a:srgbClr val="008C99"/>
      </a:accent6>
      <a:hlink>
        <a:srgbClr val="0000FF"/>
      </a:hlink>
      <a:folHlink>
        <a:srgbClr val="EFEEE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Humber Content Sl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Humber Section Start Sl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371C8B94430640A2F350B6533A274C" ma:contentTypeVersion="1" ma:contentTypeDescription="Create a new document." ma:contentTypeScope="" ma:versionID="5d43878db8b0c71b6e7401f8c5a7f179">
  <xsd:schema xmlns:xsd="http://www.w3.org/2001/XMLSchema" xmlns:xs="http://www.w3.org/2001/XMLSchema" xmlns:p="http://schemas.microsoft.com/office/2006/metadata/properties" xmlns:ns3="0c056a99-50b4-4809-aade-01fba2756a6f" targetNamespace="http://schemas.microsoft.com/office/2006/metadata/properties" ma:root="true" ma:fieldsID="2e2fcfc1b79692e7cbcf306c1c2defed" ns3:_="">
    <xsd:import namespace="0c056a99-50b4-4809-aade-01fba2756a6f"/>
    <xsd:element name="properties">
      <xsd:complexType>
        <xsd:sequence>
          <xsd:element name="documentManagement">
            <xsd:complexType>
              <xsd:all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056a99-50b4-4809-aade-01fba2756a6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B80490D-3AF5-4B12-9687-2DC26D0BB19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EF33B7-E8EB-4E3B-BA1C-BF808B8EB6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056a99-50b4-4809-aade-01fba2756a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4AAD99A-6ABE-4F1C-AC22-C5F81303ECCE}">
  <ds:schemaRefs>
    <ds:schemaRef ds:uri="http://schemas.openxmlformats.org/package/2006/metadata/core-properties"/>
    <ds:schemaRef ds:uri="http://purl.org/dc/elements/1.1/"/>
    <ds:schemaRef ds:uri="http://purl.org/dc/terms/"/>
    <ds:schemaRef ds:uri="http://www.w3.org/XML/1998/namespace"/>
    <ds:schemaRef ds:uri="http://schemas.microsoft.com/office/2006/documentManagement/types"/>
    <ds:schemaRef ds:uri="0c056a99-50b4-4809-aade-01fba2756a6f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2441</TotalTime>
  <Words>849</Words>
  <Application>Microsoft Office PowerPoint</Application>
  <PresentationFormat>On-screen Show (4:3)</PresentationFormat>
  <Paragraphs>131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ITC Franklin Gothic Std Bk Cd</vt:lpstr>
      <vt:lpstr>ITC Franklin Gothic Std Dm Cd</vt:lpstr>
      <vt:lpstr>ITC Franklin Gothic Std MedCd</vt:lpstr>
      <vt:lpstr>Humber Title Slide</vt:lpstr>
      <vt:lpstr>Humber Content Slide</vt:lpstr>
      <vt:lpstr>Humber Section Start Slide</vt:lpstr>
      <vt:lpstr>PowerPoint Presentation</vt:lpstr>
      <vt:lpstr>PowerPoint Presentation</vt:lpstr>
      <vt:lpstr>S.O.L.I.D. (an acronym)</vt:lpstr>
      <vt:lpstr>SOLID (cont.)</vt:lpstr>
      <vt:lpstr>Single Responsibility Principal</vt:lpstr>
      <vt:lpstr>Single Responsibility Principal</vt:lpstr>
      <vt:lpstr>Responsibilities are Axes of Change</vt:lpstr>
      <vt:lpstr>What is a Responsibility?</vt:lpstr>
      <vt:lpstr>Single Responsibility Demonstrated</vt:lpstr>
      <vt:lpstr>The Open/Closed Principal</vt:lpstr>
      <vt:lpstr>Change behavior without changing code</vt:lpstr>
      <vt:lpstr>Approaches to Achieve the Open /Closed Principal</vt:lpstr>
      <vt:lpstr>When to apply the Open/Closed Principal</vt:lpstr>
      <vt:lpstr>Open/Closed Principal Demonstrated</vt:lpstr>
      <vt:lpstr>The Liskov Substitution Principle</vt:lpstr>
      <vt:lpstr>Substitutability</vt:lpstr>
      <vt:lpstr>Invariants</vt:lpstr>
      <vt:lpstr>Liskov Substitution Principal Demonstrated</vt:lpstr>
      <vt:lpstr>Additional Information / Reading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Amandeep S. Patti</cp:lastModifiedBy>
  <cp:revision>3</cp:revision>
  <cp:lastPrinted>2019-12-05T13:35:58Z</cp:lastPrinted>
  <dcterms:created xsi:type="dcterms:W3CDTF">2013-11-05T15:35:21Z</dcterms:created>
  <dcterms:modified xsi:type="dcterms:W3CDTF">2023-10-04T23:26:13Z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0x010100FA371C8B94430640A2F350B6533A274C</vt:lpwstr>
  </property>
</Properties>
</file>