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99"/>
  </p:notesMasterIdLst>
  <p:sldIdLst>
    <p:sldId id="300" r:id="rId2"/>
    <p:sldId id="258" r:id="rId3"/>
    <p:sldId id="259" r:id="rId4"/>
    <p:sldId id="260" r:id="rId5"/>
    <p:sldId id="301" r:id="rId6"/>
    <p:sldId id="302" r:id="rId7"/>
    <p:sldId id="328" r:id="rId8"/>
    <p:sldId id="264" r:id="rId9"/>
    <p:sldId id="265" r:id="rId10"/>
    <p:sldId id="303" r:id="rId11"/>
    <p:sldId id="304" r:id="rId12"/>
    <p:sldId id="329" r:id="rId13"/>
    <p:sldId id="305" r:id="rId14"/>
    <p:sldId id="306" r:id="rId15"/>
    <p:sldId id="331" r:id="rId16"/>
    <p:sldId id="307" r:id="rId17"/>
    <p:sldId id="308" r:id="rId18"/>
    <p:sldId id="266" r:id="rId19"/>
    <p:sldId id="309" r:id="rId20"/>
    <p:sldId id="310" r:id="rId21"/>
    <p:sldId id="332" r:id="rId22"/>
    <p:sldId id="267" r:id="rId23"/>
    <p:sldId id="333" r:id="rId24"/>
    <p:sldId id="311" r:id="rId25"/>
    <p:sldId id="334" r:id="rId26"/>
    <p:sldId id="335" r:id="rId27"/>
    <p:sldId id="336" r:id="rId28"/>
    <p:sldId id="337" r:id="rId29"/>
    <p:sldId id="312" r:id="rId30"/>
    <p:sldId id="313" r:id="rId31"/>
    <p:sldId id="338" r:id="rId32"/>
    <p:sldId id="268" r:id="rId33"/>
    <p:sldId id="269" r:id="rId34"/>
    <p:sldId id="314" r:id="rId35"/>
    <p:sldId id="339" r:id="rId36"/>
    <p:sldId id="340" r:id="rId37"/>
    <p:sldId id="341" r:id="rId38"/>
    <p:sldId id="342" r:id="rId39"/>
    <p:sldId id="270" r:id="rId40"/>
    <p:sldId id="315" r:id="rId41"/>
    <p:sldId id="271" r:id="rId42"/>
    <p:sldId id="316" r:id="rId43"/>
    <p:sldId id="343" r:id="rId44"/>
    <p:sldId id="344" r:id="rId45"/>
    <p:sldId id="272" r:id="rId46"/>
    <p:sldId id="273" r:id="rId47"/>
    <p:sldId id="274" r:id="rId48"/>
    <p:sldId id="317" r:id="rId49"/>
    <p:sldId id="318" r:id="rId50"/>
    <p:sldId id="275" r:id="rId51"/>
    <p:sldId id="276" r:id="rId52"/>
    <p:sldId id="345" r:id="rId53"/>
    <p:sldId id="346" r:id="rId54"/>
    <p:sldId id="347" r:id="rId55"/>
    <p:sldId id="319" r:id="rId56"/>
    <p:sldId id="277" r:id="rId57"/>
    <p:sldId id="348" r:id="rId58"/>
    <p:sldId id="349" r:id="rId59"/>
    <p:sldId id="350" r:id="rId60"/>
    <p:sldId id="278" r:id="rId61"/>
    <p:sldId id="320" r:id="rId62"/>
    <p:sldId id="351" r:id="rId63"/>
    <p:sldId id="279" r:id="rId64"/>
    <p:sldId id="321" r:id="rId65"/>
    <p:sldId id="352" r:id="rId66"/>
    <p:sldId id="280" r:id="rId67"/>
    <p:sldId id="322" r:id="rId68"/>
    <p:sldId id="281" r:id="rId69"/>
    <p:sldId id="323" r:id="rId70"/>
    <p:sldId id="353" r:id="rId71"/>
    <p:sldId id="324" r:id="rId72"/>
    <p:sldId id="282" r:id="rId73"/>
    <p:sldId id="354" r:id="rId74"/>
    <p:sldId id="355" r:id="rId75"/>
    <p:sldId id="283" r:id="rId76"/>
    <p:sldId id="356" r:id="rId77"/>
    <p:sldId id="284" r:id="rId78"/>
    <p:sldId id="325" r:id="rId79"/>
    <p:sldId id="326" r:id="rId80"/>
    <p:sldId id="285" r:id="rId81"/>
    <p:sldId id="286" r:id="rId82"/>
    <p:sldId id="287" r:id="rId83"/>
    <p:sldId id="357" r:id="rId84"/>
    <p:sldId id="288" r:id="rId85"/>
    <p:sldId id="289" r:id="rId86"/>
    <p:sldId id="290" r:id="rId87"/>
    <p:sldId id="327" r:id="rId88"/>
    <p:sldId id="291" r:id="rId89"/>
    <p:sldId id="292" r:id="rId90"/>
    <p:sldId id="293" r:id="rId91"/>
    <p:sldId id="294" r:id="rId92"/>
    <p:sldId id="295" r:id="rId93"/>
    <p:sldId id="296" r:id="rId94"/>
    <p:sldId id="358" r:id="rId95"/>
    <p:sldId id="297" r:id="rId96"/>
    <p:sldId id="298" r:id="rId97"/>
    <p:sldId id="299" r:id="rId98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2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67110-4089-4B40-B15F-50AFB2EEDEF1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AB847-FEE8-4661-80C2-C49E87C4F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55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376B6E-7392-4AAB-B74D-020DDD275D8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336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extLst/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Cambria" panose="02040503050406030204" pitchFamily="18" charset="0"/>
                <a:cs typeface="+mn-cs"/>
              </a:endParaRPr>
            </a:p>
          </p:txBody>
        </p:sp>
        <p:sp>
          <p:nvSpPr>
            <p:cNvPr id="7" name="Freeform 20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7 w 5760"/>
                <a:gd name="T3" fmla="*/ 0 h 528"/>
                <a:gd name="T4" fmla="*/ 2147483647 w 5760"/>
                <a:gd name="T5" fmla="*/ 1332767423 h 528"/>
                <a:gd name="T6" fmla="*/ 120019431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extLst/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Cambria" panose="02040503050406030204" pitchFamily="18" charset="0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2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  <a:extLst/>
          </a:lstStyle>
          <a:p>
            <a:fld id="{08E736B9-25BC-4544-B4B1-F35A875D3ED2}" type="datetime1">
              <a:rPr lang="en-US" smtClean="0"/>
              <a:t>10/18/2024</a:t>
            </a:fld>
            <a:endParaRPr 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B44DC7D-967E-4872-A69F-4F99EEC0788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8"/>
          <p:cNvSpPr>
            <a:spLocks noGrp="1"/>
          </p:cNvSpPr>
          <p:nvPr>
            <p:ph type="ftr" sz="quarter" idx="12"/>
          </p:nvPr>
        </p:nvSpPr>
        <p:spPr>
          <a:xfrm>
            <a:off x="3657600" y="6408739"/>
            <a:ext cx="5317067" cy="365125"/>
          </a:xfrm>
        </p:spPr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774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tion Button: Back or Previous 3">
            <a:hlinkClick r:id="" action="ppaction://hlinkshowjump?jump=previousslide" highlightClick="1"/>
          </p:cNvPr>
          <p:cNvSpPr/>
          <p:nvPr/>
        </p:nvSpPr>
        <p:spPr>
          <a:xfrm>
            <a:off x="11074400" y="152400"/>
            <a:ext cx="406400" cy="304800"/>
          </a:xfrm>
          <a:prstGeom prst="actionButtonBackPreviou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5" name="Action Button: Forward or Next 4">
            <a:hlinkClick r:id="" action="ppaction://hlinkshowjump?jump=nextslide" highlightClick="1"/>
          </p:cNvPr>
          <p:cNvSpPr/>
          <p:nvPr/>
        </p:nvSpPr>
        <p:spPr>
          <a:xfrm>
            <a:off x="11582400" y="152400"/>
            <a:ext cx="406400" cy="304800"/>
          </a:xfrm>
          <a:prstGeom prst="actionButtonForwardNex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Font typeface="Wingdings" pitchFamily="2" charset="2"/>
              <a:buChar char="§"/>
              <a:defRPr/>
            </a:lvl2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12882004-47C7-40F0-B9EE-534874BED2A1}" type="datetime1">
              <a:rPr lang="en-US" smtClean="0"/>
              <a:t>10/18/2024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0" y="6408739"/>
            <a:ext cx="3488267" cy="365125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44DC7D-967E-4872-A69F-4F99EEC07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053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5" name="Chevron 4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4BB0DA4F-BC00-4C11-A374-996354699DCA}" type="datetime1">
              <a:rPr lang="en-US" smtClean="0"/>
              <a:t>10/18/2024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44DC7D-967E-4872-A69F-4F99EEC07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0042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780EC8A2-6FD0-4904-A69E-37712734FAB6}" type="datetime1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44DC7D-967E-4872-A69F-4F99EEC07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03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D02EE07A-4150-4D75-85DD-78B92192A022}" type="datetime1">
              <a:rPr lang="en-US" smtClean="0"/>
              <a:t>10/18/2024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44DC7D-967E-4872-A69F-4F99EEC07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8815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3D5D8A8B-CD0D-421D-8C62-EC4DF30978F3}" type="datetime1">
              <a:rPr lang="en-US" smtClean="0"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44DC7D-967E-4872-A69F-4F99EEC07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076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17B22D0-0059-427D-869E-EEA45A10127C}" type="datetime1">
              <a:rPr lang="en-US" smtClean="0"/>
              <a:t>10/18/2024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44DC7D-967E-4872-A69F-4F99EEC07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28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C010074E-B056-469B-B691-D23BB7403ACE}" type="datetime1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44DC7D-967E-4872-A69F-4F99EEC07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75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  <a:cs typeface="+mn-cs"/>
            </a:endParaRPr>
          </a:p>
        </p:txBody>
      </p:sp>
      <p:sp>
        <p:nvSpPr>
          <p:cNvPr id="6" name="Freeform 18"/>
          <p:cNvSpPr>
            <a:spLocks/>
          </p:cNvSpPr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7 w 5591"/>
              <a:gd name="T3" fmla="*/ 0 h 588"/>
              <a:gd name="T4" fmla="*/ 2147483647 w 5591"/>
              <a:gd name="T5" fmla="*/ 1330642500 h 588"/>
              <a:gd name="T6" fmla="*/ 2091905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  <a:extLst/>
          </a:lstStyle>
          <a:p>
            <a:fld id="{E114D5E4-99D1-4E7F-A1AA-10631C58E708}" type="datetime1">
              <a:rPr lang="en-US" smtClean="0"/>
              <a:t>10/18/2024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39884" y="6408739"/>
            <a:ext cx="313478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44DC7D-967E-4872-A69F-4F99EEC07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518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9AC4EB3-F5DF-48BB-B875-DF8B8A0D5194}" type="datetime1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44DC7D-967E-4872-A69F-4F99EEC07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821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2E3EED-E8F4-49AB-9806-039DAFA90C80}" type="datetime1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44DC7D-967E-4872-A69F-4F99EEC07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0302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4488296" y="6408739"/>
            <a:ext cx="7044267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44DC7D-967E-4872-A69F-4F99EEC07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551614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US" altLang="en-US" dirty="0" smtClean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tx1"/>
                </a:solidFill>
                <a:latin typeface="Cambria" panose="02040503050406030204" pitchFamily="18" charset="0"/>
                <a:cs typeface="+mn-cs"/>
              </a:defRPr>
            </a:lvl1pPr>
            <a:extLst/>
          </a:lstStyle>
          <a:p>
            <a:fld id="{82BC4518-945A-46DA-AADE-DE45454EBA34}" type="datetime1">
              <a:rPr lang="en-US" smtClean="0"/>
              <a:t>10/18/2024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283200" y="6408739"/>
            <a:ext cx="3691467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Cambria" panose="02040503050406030204" pitchFamily="18" charset="0"/>
                <a:cs typeface="+mn-cs"/>
              </a:defRPr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Cambria" panose="02040503050406030204" pitchFamily="18" charset="0"/>
              </a:defRPr>
            </a:lvl1pPr>
          </a:lstStyle>
          <a:p>
            <a:fld id="{FB44DC7D-967E-4872-A69F-4F99EEC07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2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Cambria" panose="02040503050406030204" pitchFamily="18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1" fontAlgn="base" hangingPunct="1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620713" indent="-228600" algn="l" rtl="0" eaLnBrk="1" fontAlgn="base" hangingPunct="1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2pPr>
      <a:lvl3pPr marL="858838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3pPr>
      <a:lvl4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4pPr>
      <a:lvl5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Introduction to Classes, Objects, Methods and </a:t>
            </a:r>
            <a:r>
              <a:rPr lang="en-US" b="1" dirty="0" smtClean="0"/>
              <a:t>string</a:t>
            </a:r>
            <a:r>
              <a:rPr lang="en-US" dirty="0" smtClean="0"/>
              <a:t>s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Chapter 4 of Visual C# How to Program, 6/e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smtClean="0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315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0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0"/>
            <a:ext cx="108188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786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0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75" y="0"/>
            <a:ext cx="117284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997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0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9425"/>
            <a:ext cx="12192000" cy="58991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00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Each </a:t>
            </a:r>
            <a:r>
              <a:rPr lang="en-US" sz="3200" b="1" i="1" dirty="0">
                <a:solidFill>
                  <a:srgbClr val="FF0000"/>
                </a:solidFill>
              </a:rPr>
              <a:t>class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/>
              <a:t>you create becomes </a:t>
            </a:r>
            <a:r>
              <a:rPr lang="en-US" sz="3200" b="1" dirty="0">
                <a:solidFill>
                  <a:srgbClr val="00B0F0"/>
                </a:solidFill>
              </a:rPr>
              <a:t>a new </a:t>
            </a:r>
            <a:r>
              <a:rPr lang="en-US" sz="3200" b="1" i="1" dirty="0">
                <a:solidFill>
                  <a:srgbClr val="00B0F0"/>
                </a:solidFill>
              </a:rPr>
              <a:t>type</a:t>
            </a:r>
            <a:r>
              <a:rPr lang="en-US" sz="3200" b="1" dirty="0">
                <a:solidFill>
                  <a:srgbClr val="00B0F0"/>
                </a:solidFill>
              </a:rPr>
              <a:t> </a:t>
            </a:r>
            <a:r>
              <a:rPr lang="en-US" sz="3200" dirty="0"/>
              <a:t>you can use to create objects, so C# is an </a:t>
            </a:r>
            <a:r>
              <a:rPr lang="en-US" sz="3200" b="1" dirty="0"/>
              <a:t>extensible programming language</a:t>
            </a:r>
            <a:r>
              <a:rPr lang="en-US" sz="3200" dirty="0"/>
              <a:t>. </a:t>
            </a:r>
            <a:endParaRPr lang="en-US" sz="3200" dirty="0" smtClean="0"/>
          </a:p>
          <a:p>
            <a:r>
              <a:rPr lang="en-US" sz="3200" dirty="0" smtClean="0"/>
              <a:t>Major </a:t>
            </a:r>
            <a:r>
              <a:rPr lang="en-US" sz="3200" dirty="0"/>
              <a:t>development teams in industry work on applications that contain hundreds, or even thousands, of classes.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4.1 Introduction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608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person drives a car by telling it what to do (go faster, go slower, turn left, turn right, etc.)—without having to know how the car’s internal mechanisms work. </a:t>
            </a:r>
            <a:endParaRPr lang="en-US" dirty="0" smtClean="0"/>
          </a:p>
          <a:p>
            <a:r>
              <a:rPr lang="en-US" dirty="0" smtClean="0"/>
              <a:t>Similarly</a:t>
            </a:r>
            <a:r>
              <a:rPr lang="en-US" dirty="0"/>
              <a:t>, a method (such as </a:t>
            </a:r>
            <a:r>
              <a:rPr lang="en-US" dirty="0">
                <a:latin typeface="Consolas" panose="020B0609020204030204" pitchFamily="49" charset="0"/>
              </a:rPr>
              <a:t>Main</a:t>
            </a:r>
            <a:r>
              <a:rPr lang="en-US" dirty="0"/>
              <a:t>) “drives” an </a:t>
            </a:r>
            <a:r>
              <a:rPr lang="en-US" b="1" dirty="0">
                <a:solidFill>
                  <a:srgbClr val="00B0F0"/>
                </a:solidFill>
                <a:latin typeface="Consolas" panose="020B0609020204030204" pitchFamily="49" charset="0"/>
              </a:rPr>
              <a:t>Account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/>
              <a:t>object by calling its methods—without having to know how the class’s internal mechanisms work.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this sense, the class containing method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/>
              <a:t>is referred to as a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driver class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 </a:t>
            </a:r>
            <a:endParaRPr lang="en-US" dirty="0" smtClean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4.2 </a:t>
            </a:r>
            <a:r>
              <a:rPr lang="en-US" dirty="0"/>
              <a:t>Test-Driving an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 Class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24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</a:t>
            </a:r>
            <a:r>
              <a:rPr lang="en-US" dirty="0"/>
              <a:t>help you prepare for the larger programs you’ll encounter later in this book and in industry, we define class </a:t>
            </a:r>
            <a:r>
              <a:rPr lang="en-US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AccountTest</a:t>
            </a:r>
            <a:r>
              <a:rPr lang="en-US" dirty="0"/>
              <a:t> and its </a:t>
            </a:r>
            <a:r>
              <a:rPr lang="en-US" dirty="0">
                <a:latin typeface="Consolas" panose="020B0609020204030204" pitchFamily="49" charset="0"/>
              </a:rPr>
              <a:t>Main</a:t>
            </a:r>
            <a:r>
              <a:rPr lang="en-US" dirty="0"/>
              <a:t> method in the file </a:t>
            </a:r>
            <a:r>
              <a:rPr lang="en-US" b="1" dirty="0" err="1" smtClean="0">
                <a:latin typeface="Consolas" panose="020B0609020204030204" pitchFamily="49" charset="0"/>
              </a:rPr>
              <a:t>AccountTest.cs</a:t>
            </a:r>
            <a:r>
              <a:rPr lang="en-US" dirty="0" smtClean="0"/>
              <a:t> (Fig. 4.1). </a:t>
            </a:r>
          </a:p>
          <a:p>
            <a:r>
              <a:rPr lang="en-US" dirty="0" smtClean="0"/>
              <a:t>We </a:t>
            </a:r>
            <a:r>
              <a:rPr lang="en-US" dirty="0"/>
              <a:t>define the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 class in its own file as well (file </a:t>
            </a:r>
            <a:r>
              <a:rPr lang="en-US" dirty="0" err="1" smtClean="0">
                <a:latin typeface="Consolas" panose="020B0609020204030204" pitchFamily="49" charset="0"/>
              </a:rPr>
              <a:t>Account.cs</a:t>
            </a:r>
            <a:r>
              <a:rPr lang="en-US" dirty="0" smtClean="0"/>
              <a:t>, Fig. 4.2).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4.2 </a:t>
            </a:r>
            <a:r>
              <a:rPr lang="en-US" dirty="0"/>
              <a:t>Test-Driving an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 Class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44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0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325" y="0"/>
            <a:ext cx="9783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997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0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8025"/>
            <a:ext cx="12192000" cy="29003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819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Typically, you cannot call a method of a class until you </a:t>
            </a:r>
            <a:r>
              <a:rPr lang="en-US" sz="3200" i="1" dirty="0"/>
              <a:t>create an object</a:t>
            </a:r>
            <a:r>
              <a:rPr lang="en-US" sz="3200" dirty="0"/>
              <a:t> of that class. </a:t>
            </a:r>
            <a:endParaRPr lang="en-US" sz="3200" dirty="0" smtClean="0"/>
          </a:p>
          <a:p>
            <a:pPr lvl="1"/>
            <a:r>
              <a:rPr lang="en-US" sz="2800" dirty="0" smtClean="0"/>
              <a:t>You’ll </a:t>
            </a:r>
            <a:r>
              <a:rPr lang="en-US" sz="2800" dirty="0"/>
              <a:t>see in </a:t>
            </a:r>
            <a:r>
              <a:rPr lang="en-US" sz="2800" dirty="0" smtClean="0"/>
              <a:t>Section 10.9 </a:t>
            </a:r>
            <a:r>
              <a:rPr lang="en-US" sz="2800" dirty="0"/>
              <a:t>that </a:t>
            </a:r>
            <a:r>
              <a:rPr lang="en-US" sz="2800" dirty="0">
                <a:latin typeface="Consolas" panose="020B0609020204030204" pitchFamily="49" charset="0"/>
              </a:rPr>
              <a:t>static</a:t>
            </a:r>
            <a:r>
              <a:rPr lang="en-US" sz="2800" dirty="0"/>
              <a:t> methods (and other </a:t>
            </a:r>
            <a:r>
              <a:rPr lang="en-US" sz="2800" dirty="0">
                <a:latin typeface="Consolas" panose="020B0609020204030204" pitchFamily="49" charset="0"/>
              </a:rPr>
              <a:t>static</a:t>
            </a:r>
            <a:r>
              <a:rPr lang="en-US" sz="2800" dirty="0"/>
              <a:t> class members) are an exception.</a:t>
            </a:r>
          </a:p>
          <a:p>
            <a:pPr lvl="4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Account </a:t>
            </a:r>
            <a:r>
              <a:rPr lang="en-US" sz="3600" b="1" dirty="0" err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myAccount</a:t>
            </a: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= new Account</a:t>
            </a: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()</a:t>
            </a:r>
            <a:r>
              <a:rPr lang="en-US" sz="2400" dirty="0" smtClean="0">
                <a:latin typeface="Consolas" panose="020B0609020204030204" pitchFamily="49" charset="0"/>
              </a:rPr>
              <a:t>;</a:t>
            </a:r>
            <a:endParaRPr lang="en-US" sz="2400" dirty="0">
              <a:latin typeface="Consolas" panose="020B0609020204030204" pitchFamily="49" charset="0"/>
            </a:endParaRPr>
          </a:p>
          <a:p>
            <a:pPr lvl="1"/>
            <a:r>
              <a:rPr lang="en-US" sz="2800" dirty="0" smtClean="0"/>
              <a:t>Uses an </a:t>
            </a:r>
            <a:r>
              <a:rPr lang="en-US" sz="2800" b="1" dirty="0" smtClean="0"/>
              <a:t>object-creation </a:t>
            </a:r>
            <a:r>
              <a:rPr lang="en-US" sz="2800" b="1" dirty="0"/>
              <a:t>expression</a:t>
            </a:r>
            <a:r>
              <a:rPr lang="en-US" sz="2800" dirty="0"/>
              <a:t> </a:t>
            </a:r>
            <a:r>
              <a:rPr lang="en-US" sz="2800" dirty="0" smtClean="0"/>
              <a:t>to </a:t>
            </a:r>
            <a:r>
              <a:rPr lang="en-US" sz="2800" dirty="0"/>
              <a:t>create an </a:t>
            </a:r>
            <a:r>
              <a:rPr lang="en-US" sz="2800" dirty="0">
                <a:latin typeface="Consolas" panose="020B0609020204030204" pitchFamily="49" charset="0"/>
              </a:rPr>
              <a:t>Account</a:t>
            </a:r>
            <a:r>
              <a:rPr lang="en-US" sz="2800" dirty="0"/>
              <a:t> object, then assigns it to the variable </a:t>
            </a:r>
            <a:r>
              <a:rPr lang="en-US" sz="2800" dirty="0" err="1">
                <a:latin typeface="Consolas" panose="020B0609020204030204" pitchFamily="49" charset="0"/>
              </a:rPr>
              <a:t>myAccount</a:t>
            </a:r>
            <a:r>
              <a:rPr lang="en-US" sz="2800" dirty="0"/>
              <a:t>. The variable’s type is 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Account</a:t>
            </a:r>
            <a:r>
              <a:rPr lang="en-US" sz="2800" dirty="0" smtClean="0"/>
              <a:t>.</a:t>
            </a:r>
          </a:p>
          <a:p>
            <a:pPr lvl="1"/>
            <a:r>
              <a:rPr lang="en-US" sz="2800" dirty="0" smtClean="0"/>
              <a:t>Keyword </a:t>
            </a:r>
            <a:r>
              <a:rPr lang="en-US" sz="2800" b="1" dirty="0"/>
              <a:t>new</a:t>
            </a:r>
            <a:r>
              <a:rPr lang="en-US" sz="2800" dirty="0"/>
              <a:t> creates a new object of the specified </a:t>
            </a:r>
            <a:r>
              <a:rPr lang="en-US" sz="2800" dirty="0" smtClean="0"/>
              <a:t>class.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4.2.1 </a:t>
            </a:r>
            <a:r>
              <a:rPr lang="en-US" dirty="0"/>
              <a:t>Instantiating an Object—Keyword </a:t>
            </a:r>
            <a:r>
              <a:rPr lang="en-US" dirty="0" smtClean="0">
                <a:latin typeface="Consolas" panose="020B0609020204030204" pitchFamily="49" charset="0"/>
              </a:rPr>
              <a:t>new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40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The </a:t>
            </a: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Account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3200" dirty="0"/>
              <a:t>class’s </a:t>
            </a:r>
            <a:r>
              <a:rPr lang="en-US" sz="3200" b="1" dirty="0" err="1">
                <a:latin typeface="Consolas" panose="020B0609020204030204" pitchFamily="49" charset="0"/>
              </a:rPr>
              <a:t>GetName</a:t>
            </a:r>
            <a:r>
              <a:rPr lang="en-US" sz="3200" dirty="0"/>
              <a:t> method returns </a:t>
            </a:r>
            <a:r>
              <a:rPr lang="en-US" sz="3200" b="1" i="1" dirty="0">
                <a:solidFill>
                  <a:schemeClr val="accent1">
                    <a:lumMod val="75000"/>
                  </a:schemeClr>
                </a:solidFill>
              </a:rPr>
              <a:t>the account name stored in a particular </a:t>
            </a:r>
            <a:r>
              <a:rPr lang="en-US" sz="3200" b="1" i="1" dirty="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Account</a:t>
            </a:r>
            <a:r>
              <a:rPr lang="en-US" sz="3200" b="1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i="1" dirty="0">
                <a:solidFill>
                  <a:schemeClr val="accent1">
                    <a:lumMod val="75000"/>
                  </a:schemeClr>
                </a:solidFill>
              </a:rPr>
              <a:t>object</a:t>
            </a:r>
            <a:r>
              <a:rPr lang="en-US" sz="3200" b="1" i="1" dirty="0" smtClean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r>
              <a:rPr lang="en-US" sz="3200" dirty="0" smtClean="0"/>
              <a:t>To </a:t>
            </a:r>
            <a:r>
              <a:rPr lang="en-US" sz="3200" dirty="0"/>
              <a:t>call this method for a specific object, you </a:t>
            </a:r>
            <a:r>
              <a:rPr lang="en-US" sz="3200" dirty="0" smtClean="0"/>
              <a:t>specify </a:t>
            </a:r>
          </a:p>
          <a:p>
            <a:pPr lvl="1"/>
            <a:r>
              <a:rPr lang="en-US" sz="2400" dirty="0" smtClean="0"/>
              <a:t>the </a:t>
            </a:r>
            <a:r>
              <a:rPr lang="en-US" sz="2400" dirty="0"/>
              <a:t>object’s name (</a:t>
            </a:r>
            <a:r>
              <a:rPr lang="en-US" sz="2400" dirty="0" err="1">
                <a:latin typeface="Consolas" panose="020B0609020204030204" pitchFamily="49" charset="0"/>
              </a:rPr>
              <a:t>myAccount</a:t>
            </a:r>
            <a:r>
              <a:rPr lang="en-US" sz="2400" dirty="0"/>
              <a:t>) followed by </a:t>
            </a:r>
            <a:endParaRPr lang="en-US" sz="2400" dirty="0" smtClean="0"/>
          </a:p>
          <a:p>
            <a:pPr lvl="1"/>
            <a:r>
              <a:rPr lang="en-US" sz="2400" dirty="0" smtClean="0"/>
              <a:t>the </a:t>
            </a:r>
            <a:r>
              <a:rPr lang="en-US" sz="2400" b="1" dirty="0"/>
              <a:t>member access operator (</a:t>
            </a:r>
            <a:r>
              <a:rPr lang="en-US" sz="2400" b="1" dirty="0">
                <a:latin typeface="Consolas" panose="020B0609020204030204" pitchFamily="49" charset="0"/>
              </a:rPr>
              <a:t>.</a:t>
            </a:r>
            <a:r>
              <a:rPr lang="en-US" sz="2400" b="1" dirty="0"/>
              <a:t>)</a:t>
            </a:r>
            <a:r>
              <a:rPr lang="en-US" sz="2400" dirty="0"/>
              <a:t>, </a:t>
            </a:r>
            <a:endParaRPr lang="en-US" sz="2400" dirty="0" smtClean="0"/>
          </a:p>
          <a:p>
            <a:pPr lvl="1"/>
            <a:r>
              <a:rPr lang="en-US" sz="2400" dirty="0" smtClean="0"/>
              <a:t>the </a:t>
            </a:r>
            <a:r>
              <a:rPr lang="en-US" sz="2400" dirty="0"/>
              <a:t>method name (</a:t>
            </a:r>
            <a:r>
              <a:rPr lang="en-US" sz="2400" dirty="0" err="1">
                <a:latin typeface="Consolas" panose="020B0609020204030204" pitchFamily="49" charset="0"/>
              </a:rPr>
              <a:t>GetName</a:t>
            </a:r>
            <a:r>
              <a:rPr lang="en-US" sz="2400" dirty="0"/>
              <a:t>) </a:t>
            </a:r>
            <a:r>
              <a:rPr lang="en-US" sz="2400" dirty="0" smtClean="0"/>
              <a:t>and</a:t>
            </a:r>
            <a:r>
              <a:rPr lang="en-US" sz="2400" dirty="0"/>
              <a:t> </a:t>
            </a:r>
            <a:endParaRPr lang="en-US" sz="2400" dirty="0" smtClean="0"/>
          </a:p>
          <a:p>
            <a:pPr lvl="1"/>
            <a:r>
              <a:rPr lang="en-US" sz="2400" dirty="0" smtClean="0"/>
              <a:t>a </a:t>
            </a:r>
            <a:r>
              <a:rPr lang="en-US" sz="2400" dirty="0"/>
              <a:t>set of parentheses. </a:t>
            </a:r>
          </a:p>
          <a:p>
            <a:r>
              <a:rPr lang="en-US" sz="3200" dirty="0"/>
              <a:t>The </a:t>
            </a:r>
            <a:r>
              <a:rPr lang="en-US" sz="3200" i="1" dirty="0"/>
              <a:t>empty</a:t>
            </a:r>
            <a:r>
              <a:rPr lang="en-US" sz="3200" dirty="0"/>
              <a:t> parentheses indicate that </a:t>
            </a:r>
            <a:r>
              <a:rPr lang="en-US" sz="3200" dirty="0" err="1">
                <a:latin typeface="Consolas" panose="020B0609020204030204" pitchFamily="49" charset="0"/>
              </a:rPr>
              <a:t>GetName</a:t>
            </a:r>
            <a:r>
              <a:rPr lang="en-US" sz="3200" dirty="0"/>
              <a:t> does not require any additional information to perform its task. </a:t>
            </a:r>
            <a:endParaRPr lang="en-US" sz="3200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4.2.2 </a:t>
            </a:r>
            <a:r>
              <a:rPr lang="en-US" dirty="0"/>
              <a:t>Calling Class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’s </a:t>
            </a:r>
            <a:r>
              <a:rPr lang="en-US" dirty="0" err="1">
                <a:latin typeface="Consolas" panose="020B0609020204030204" pitchFamily="49" charset="0"/>
              </a:rPr>
              <a:t>GetName</a:t>
            </a:r>
            <a:r>
              <a:rPr lang="en-US" dirty="0"/>
              <a:t> </a:t>
            </a:r>
            <a:r>
              <a:rPr lang="en-US" dirty="0" smtClean="0"/>
              <a:t>Method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188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When </a:t>
            </a:r>
            <a:r>
              <a:rPr lang="en-US" sz="2400" dirty="0">
                <a:latin typeface="Consolas" panose="020B0609020204030204" pitchFamily="49" charset="0"/>
              </a:rPr>
              <a:t>Main</a:t>
            </a:r>
            <a:r>
              <a:rPr lang="en-US" sz="2400" dirty="0"/>
              <a:t> calls the </a:t>
            </a:r>
            <a:r>
              <a:rPr lang="en-US" sz="2400" dirty="0" err="1">
                <a:latin typeface="Consolas" panose="020B0609020204030204" pitchFamily="49" charset="0"/>
              </a:rPr>
              <a:t>GetName</a:t>
            </a:r>
            <a:r>
              <a:rPr lang="en-US" sz="2400" dirty="0"/>
              <a:t> method:</a:t>
            </a:r>
          </a:p>
          <a:p>
            <a:pPr lvl="1"/>
            <a:r>
              <a:rPr lang="en-US" sz="2000" dirty="0" smtClean="0"/>
              <a:t>The app transfers execution from the expression </a:t>
            </a:r>
            <a:r>
              <a:rPr lang="en-US" sz="2000" dirty="0" err="1" smtClean="0">
                <a:latin typeface="Consolas" panose="020B0609020204030204" pitchFamily="49" charset="0"/>
              </a:rPr>
              <a:t>myAccount.GetName</a:t>
            </a:r>
            <a:r>
              <a:rPr lang="en-US" sz="2000" dirty="0" smtClean="0">
                <a:latin typeface="Consolas" panose="020B0609020204030204" pitchFamily="49" charset="0"/>
              </a:rPr>
              <a:t>()</a:t>
            </a:r>
            <a:r>
              <a:rPr lang="en-US" sz="2000" dirty="0" smtClean="0"/>
              <a:t> (line 13 in </a:t>
            </a:r>
            <a:r>
              <a:rPr lang="en-US" sz="2000" dirty="0" smtClean="0">
                <a:latin typeface="Consolas" panose="020B0609020204030204" pitchFamily="49" charset="0"/>
              </a:rPr>
              <a:t>Main</a:t>
            </a:r>
            <a:r>
              <a:rPr lang="en-US" sz="2000" dirty="0" smtClean="0"/>
              <a:t>) to method </a:t>
            </a:r>
            <a:r>
              <a:rPr lang="en-US" sz="2000" dirty="0" err="1" smtClean="0">
                <a:latin typeface="Consolas" panose="020B0609020204030204" pitchFamily="49" charset="0"/>
              </a:rPr>
              <a:t>GetName</a:t>
            </a:r>
            <a:r>
              <a:rPr lang="en-US" sz="2000" dirty="0" err="1" smtClean="0"/>
              <a:t>’s</a:t>
            </a:r>
            <a:r>
              <a:rPr lang="en-US" sz="2000" dirty="0" smtClean="0"/>
              <a:t> declaration (Fig. 4.2). 	</a:t>
            </a:r>
          </a:p>
          <a:p>
            <a:pPr lvl="2"/>
            <a:r>
              <a:rPr lang="en-US" sz="1800" dirty="0" smtClean="0"/>
              <a:t>Because </a:t>
            </a:r>
            <a:r>
              <a:rPr lang="en-US" sz="1800" dirty="0" err="1" smtClean="0">
                <a:latin typeface="Consolas" panose="020B0609020204030204" pitchFamily="49" charset="0"/>
              </a:rPr>
              <a:t>GetName</a:t>
            </a:r>
            <a:r>
              <a:rPr lang="en-US" sz="1800" dirty="0" smtClean="0"/>
              <a:t> was accessed via the object </a:t>
            </a:r>
            <a:r>
              <a:rPr lang="en-US" sz="1800" dirty="0" err="1" smtClean="0">
                <a:latin typeface="Consolas" panose="020B0609020204030204" pitchFamily="49" charset="0"/>
              </a:rPr>
              <a:t>myAccount</a:t>
            </a:r>
            <a:r>
              <a:rPr lang="en-US" sz="1800" dirty="0" smtClean="0"/>
              <a:t>, </a:t>
            </a:r>
            <a:r>
              <a:rPr lang="en-US" sz="1800" dirty="0" err="1" smtClean="0">
                <a:latin typeface="Consolas" panose="020B0609020204030204" pitchFamily="49" charset="0"/>
              </a:rPr>
              <a:t>GetName</a:t>
            </a:r>
            <a:r>
              <a:rPr lang="en-US" sz="1800" dirty="0" smtClean="0"/>
              <a:t> knows which object’s data to manipulate.</a:t>
            </a:r>
          </a:p>
          <a:p>
            <a:pPr lvl="1"/>
            <a:r>
              <a:rPr lang="en-US" sz="2000" dirty="0" smtClean="0"/>
              <a:t>Next, method </a:t>
            </a:r>
            <a:r>
              <a:rPr lang="en-US" sz="2000" dirty="0" err="1" smtClean="0">
                <a:latin typeface="Consolas" panose="020B0609020204030204" pitchFamily="49" charset="0"/>
              </a:rPr>
              <a:t>GetName</a:t>
            </a:r>
            <a:r>
              <a:rPr lang="en-US" sz="2000" dirty="0" smtClean="0"/>
              <a:t> performs its task—that is, it returns the </a:t>
            </a:r>
            <a:r>
              <a:rPr lang="en-US" sz="2000" dirty="0" err="1" smtClean="0">
                <a:latin typeface="Consolas" panose="020B0609020204030204" pitchFamily="49" charset="0"/>
              </a:rPr>
              <a:t>myAccount</a:t>
            </a:r>
            <a:r>
              <a:rPr lang="en-US" sz="2000" dirty="0" smtClean="0"/>
              <a:t> object’s name to line 13 where the method was called. </a:t>
            </a:r>
          </a:p>
          <a:p>
            <a:pPr lvl="1"/>
            <a:r>
              <a:rPr lang="en-US" sz="2000" dirty="0" err="1" smtClean="0">
                <a:latin typeface="Consolas" panose="020B0609020204030204" pitchFamily="49" charset="0"/>
              </a:rPr>
              <a:t>Console.WriteLine</a:t>
            </a:r>
            <a:r>
              <a:rPr lang="en-US" sz="2000" dirty="0" smtClean="0"/>
              <a:t> displays the string returned by </a:t>
            </a:r>
            <a:r>
              <a:rPr lang="en-US" sz="2000" dirty="0" err="1" smtClean="0">
                <a:latin typeface="Consolas" panose="020B0609020204030204" pitchFamily="49" charset="0"/>
              </a:rPr>
              <a:t>GetName</a:t>
            </a:r>
            <a:r>
              <a:rPr lang="en-US" sz="2000" dirty="0" smtClean="0"/>
              <a:t>—the name is inserted into the interpolated string in place of the call to </a:t>
            </a:r>
            <a:r>
              <a:rPr lang="en-US" sz="2000" dirty="0" err="1" smtClean="0">
                <a:latin typeface="Consolas" panose="020B0609020204030204" pitchFamily="49" charset="0"/>
              </a:rPr>
              <a:t>GetName</a:t>
            </a:r>
            <a:r>
              <a:rPr lang="en-US" sz="2000" dirty="0" smtClean="0"/>
              <a:t>—then the program continues executing at line 16 in </a:t>
            </a:r>
            <a:r>
              <a:rPr lang="en-US" sz="2000" dirty="0" smtClean="0">
                <a:latin typeface="Consolas" panose="020B0609020204030204" pitchFamily="49" charset="0"/>
              </a:rPr>
              <a:t>Main</a:t>
            </a:r>
            <a:r>
              <a:rPr lang="en-US" sz="2000" dirty="0" smtClean="0"/>
              <a:t>. </a:t>
            </a:r>
          </a:p>
          <a:p>
            <a:r>
              <a:rPr lang="en-US" sz="2400" dirty="0" smtClean="0"/>
              <a:t>Because </a:t>
            </a:r>
            <a:r>
              <a:rPr lang="en-US" sz="2400" dirty="0"/>
              <a:t>we have not yet stored a name in the </a:t>
            </a:r>
            <a:r>
              <a:rPr lang="en-US" sz="2400" dirty="0" err="1">
                <a:latin typeface="Consolas" panose="020B0609020204030204" pitchFamily="49" charset="0"/>
              </a:rPr>
              <a:t>myAccount</a:t>
            </a:r>
            <a:r>
              <a:rPr lang="en-US" sz="2400" dirty="0"/>
              <a:t> object, line 13 does not display a name. </a:t>
            </a:r>
          </a:p>
          <a:p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4.2.2 </a:t>
            </a:r>
            <a:r>
              <a:rPr lang="en-US" dirty="0"/>
              <a:t>Calling Class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’s </a:t>
            </a:r>
            <a:r>
              <a:rPr lang="en-US" dirty="0" err="1">
                <a:latin typeface="Consolas" panose="020B0609020204030204" pitchFamily="49" charset="0"/>
              </a:rPr>
              <a:t>GetName</a:t>
            </a:r>
            <a:r>
              <a:rPr lang="en-US" dirty="0"/>
              <a:t> </a:t>
            </a:r>
            <a:r>
              <a:rPr lang="en-US" dirty="0" smtClean="0"/>
              <a:t>Method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307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Lines </a:t>
            </a:r>
            <a:r>
              <a:rPr lang="en-US" dirty="0"/>
              <a:t>16–17 prompt for and input a name. </a:t>
            </a:r>
            <a:endParaRPr lang="en-US" dirty="0" smtClean="0"/>
          </a:p>
          <a:p>
            <a:r>
              <a:rPr lang="en-US" dirty="0" smtClean="0"/>
              <a:t>Line </a:t>
            </a:r>
            <a:r>
              <a:rPr lang="en-US" dirty="0"/>
              <a:t>17 </a:t>
            </a:r>
            <a:r>
              <a:rPr lang="en-US" dirty="0" smtClean="0"/>
              <a:t>uses </a:t>
            </a:r>
            <a:r>
              <a:rPr lang="en-US" dirty="0">
                <a:latin typeface="Consolas" panose="020B0609020204030204" pitchFamily="49" charset="0"/>
              </a:rPr>
              <a:t>Console</a:t>
            </a:r>
            <a:r>
              <a:rPr lang="en-US" dirty="0"/>
              <a:t> method </a:t>
            </a:r>
            <a:r>
              <a:rPr lang="en-US" dirty="0" err="1">
                <a:latin typeface="Consolas" panose="020B0609020204030204" pitchFamily="49" charset="0"/>
              </a:rPr>
              <a:t>ReadLine</a:t>
            </a:r>
            <a:r>
              <a:rPr lang="en-US" dirty="0"/>
              <a:t> to read the name from the user and assign it to the </a:t>
            </a:r>
            <a:r>
              <a:rPr lang="en-US" dirty="0">
                <a:latin typeface="Consolas" panose="020B0609020204030204" pitchFamily="49" charset="0"/>
              </a:rPr>
              <a:t>string</a:t>
            </a:r>
            <a:r>
              <a:rPr lang="en-US" dirty="0"/>
              <a:t> variable </a:t>
            </a:r>
            <a:r>
              <a:rPr lang="en-US" dirty="0" err="1">
                <a:latin typeface="Consolas" panose="020B0609020204030204" pitchFamily="49" charset="0"/>
              </a:rPr>
              <a:t>theName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Method </a:t>
            </a:r>
            <a:r>
              <a:rPr lang="en-US" dirty="0" err="1">
                <a:latin typeface="Consolas" panose="020B0609020204030204" pitchFamily="49" charset="0"/>
              </a:rPr>
              <a:t>ReadLine</a:t>
            </a:r>
            <a:r>
              <a:rPr lang="en-US" dirty="0"/>
              <a:t> reads a </a:t>
            </a:r>
            <a:r>
              <a:rPr lang="en-US" i="1" dirty="0"/>
              <a:t>whole</a:t>
            </a:r>
            <a:r>
              <a:rPr lang="en-US" dirty="0"/>
              <a:t> line, including all the characters the user types until the newline that the user typed by pressing </a:t>
            </a:r>
            <a:r>
              <a:rPr lang="en-US" i="1" dirty="0"/>
              <a:t>Enter</a:t>
            </a:r>
            <a:r>
              <a:rPr lang="en-US" dirty="0"/>
              <a:t>—the newline is discarded. </a:t>
            </a:r>
            <a:endParaRPr lang="en-US" dirty="0" smtClean="0"/>
          </a:p>
          <a:p>
            <a:r>
              <a:rPr lang="en-US" dirty="0" smtClean="0"/>
              <a:t>Pressing </a:t>
            </a:r>
            <a:r>
              <a:rPr lang="en-US" i="1" dirty="0"/>
              <a:t>Enter</a:t>
            </a:r>
            <a:r>
              <a:rPr lang="en-US" dirty="0"/>
              <a:t> also positions the output cursor to the beginning of the next line in the console window, so the program’s next output begins on the line below the user’s input.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4.2.3 </a:t>
            </a:r>
            <a:r>
              <a:rPr lang="en-US" dirty="0"/>
              <a:t>Inputting a Name from the User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488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 smtClean="0">
                <a:latin typeface="Consolas" panose="020B0609020204030204" pitchFamily="49" charset="0"/>
              </a:rPr>
              <a:t>Account</a:t>
            </a:r>
            <a:r>
              <a:rPr lang="en-US" sz="3600" dirty="0" smtClean="0"/>
              <a:t>’s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SetName</a:t>
            </a:r>
            <a:r>
              <a:rPr lang="en-US" sz="3600" dirty="0"/>
              <a:t> method </a:t>
            </a:r>
            <a:r>
              <a:rPr lang="en-US" sz="3600" b="1" dirty="0">
                <a:solidFill>
                  <a:srgbClr val="0000FF"/>
                </a:solidFill>
              </a:rPr>
              <a:t>stores</a:t>
            </a:r>
            <a:r>
              <a:rPr lang="en-US" sz="3600" dirty="0"/>
              <a:t> (</a:t>
            </a:r>
            <a:r>
              <a:rPr lang="en-US" sz="3600" i="1" dirty="0"/>
              <a:t>sets</a:t>
            </a:r>
            <a:r>
              <a:rPr lang="en-US" sz="3600" dirty="0"/>
              <a:t>) an account name in a particular </a:t>
            </a:r>
            <a:r>
              <a:rPr lang="en-US" sz="3600" b="1" dirty="0" smtClean="0">
                <a:latin typeface="Consolas" panose="020B0609020204030204" pitchFamily="49" charset="0"/>
              </a:rPr>
              <a:t>Account</a:t>
            </a:r>
            <a:r>
              <a:rPr lang="en-US" sz="3600" dirty="0" smtClean="0"/>
              <a:t> </a:t>
            </a:r>
            <a:r>
              <a:rPr lang="en-US" sz="3600" dirty="0"/>
              <a:t>object. </a:t>
            </a:r>
            <a:endParaRPr lang="en-US" sz="3600" dirty="0" smtClean="0"/>
          </a:p>
          <a:p>
            <a:r>
              <a:rPr lang="en-US" sz="3600" dirty="0" smtClean="0"/>
              <a:t>Line </a:t>
            </a:r>
            <a:r>
              <a:rPr lang="en-US" sz="3600" dirty="0"/>
              <a:t>18 calls </a:t>
            </a:r>
            <a:r>
              <a:rPr lang="en-US" sz="3600" dirty="0" err="1" smtClean="0">
                <a:latin typeface="Consolas" panose="020B0609020204030204" pitchFamily="49" charset="0"/>
              </a:rPr>
              <a:t>myAccount</a:t>
            </a:r>
            <a:r>
              <a:rPr lang="en-US" sz="3600" dirty="0" err="1" smtClean="0"/>
              <a:t>’s</a:t>
            </a:r>
            <a:r>
              <a:rPr lang="en-US" sz="3600" dirty="0" smtClean="0"/>
              <a:t> </a:t>
            </a:r>
            <a:r>
              <a:rPr lang="en-US" sz="3600" dirty="0" err="1">
                <a:latin typeface="Consolas" panose="020B0609020204030204" pitchFamily="49" charset="0"/>
              </a:rPr>
              <a:t>SetName</a:t>
            </a:r>
            <a:r>
              <a:rPr lang="en-US" sz="3600" dirty="0"/>
              <a:t> method, passing </a:t>
            </a:r>
            <a:r>
              <a:rPr lang="en-US" sz="3600" b="1" dirty="0" err="1">
                <a:latin typeface="Consolas" panose="020B0609020204030204" pitchFamily="49" charset="0"/>
              </a:rPr>
              <a:t>theName</a:t>
            </a:r>
            <a:r>
              <a:rPr lang="en-US" sz="3600" b="1" dirty="0" err="1"/>
              <a:t>’s</a:t>
            </a:r>
            <a:r>
              <a:rPr lang="en-US" sz="3600" dirty="0"/>
              <a:t> value as </a:t>
            </a:r>
            <a:r>
              <a:rPr lang="en-US" sz="3600" b="1" dirty="0" err="1">
                <a:latin typeface="Consolas" panose="020B0609020204030204" pitchFamily="49" charset="0"/>
              </a:rPr>
              <a:t>SetName</a:t>
            </a:r>
            <a:r>
              <a:rPr lang="en-US" sz="3600" b="1" dirty="0" err="1"/>
              <a:t>’s</a:t>
            </a:r>
            <a:r>
              <a:rPr lang="en-US" sz="3600" b="1" dirty="0"/>
              <a:t> argument</a:t>
            </a:r>
            <a:r>
              <a:rPr lang="en-US" sz="3600" dirty="0"/>
              <a:t>. </a:t>
            </a:r>
          </a:p>
          <a:p>
            <a:pPr lvl="1"/>
            <a:r>
              <a:rPr lang="en-US" sz="2000" dirty="0" err="1" smtClean="0">
                <a:latin typeface="Consolas" panose="020B0609020204030204" pitchFamily="49" charset="0"/>
              </a:rPr>
              <a:t>myAccount.SetName</a:t>
            </a:r>
            <a:r>
              <a:rPr lang="en-US" sz="2000" dirty="0" smtClean="0">
                <a:latin typeface="Consolas" panose="020B0609020204030204" pitchFamily="49" charset="0"/>
              </a:rPr>
              <a:t>(</a:t>
            </a:r>
            <a:r>
              <a:rPr lang="en-US" sz="2000" b="1" dirty="0" err="1" smtClean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theName</a:t>
            </a:r>
            <a:r>
              <a:rPr lang="en-US" sz="2000" dirty="0" smtClean="0">
                <a:latin typeface="Consolas" panose="020B0609020204030204" pitchFamily="49" charset="0"/>
              </a:rPr>
              <a:t>); // put </a:t>
            </a:r>
            <a:r>
              <a:rPr lang="en-US" sz="2000" dirty="0" err="1" smtClean="0">
                <a:latin typeface="Consolas" panose="020B0609020204030204" pitchFamily="49" charset="0"/>
              </a:rPr>
              <a:t>theName</a:t>
            </a:r>
            <a:r>
              <a:rPr lang="en-US" sz="2000" dirty="0" smtClean="0">
                <a:latin typeface="Consolas" panose="020B0609020204030204" pitchFamily="49" charset="0"/>
              </a:rPr>
              <a:t> in the </a:t>
            </a:r>
            <a:r>
              <a:rPr lang="en-US" sz="2000" dirty="0" err="1" smtClean="0">
                <a:latin typeface="Consolas" panose="020B0609020204030204" pitchFamily="49" charset="0"/>
              </a:rPr>
              <a:t>myAccount</a:t>
            </a:r>
            <a:r>
              <a:rPr lang="en-US" sz="2000" dirty="0" smtClean="0">
                <a:latin typeface="Consolas" panose="020B0609020204030204" pitchFamily="49" charset="0"/>
              </a:rPr>
              <a:t> object	</a:t>
            </a:r>
          </a:p>
          <a:p>
            <a:pPr lvl="1"/>
            <a:r>
              <a:rPr lang="en-US" sz="2800" dirty="0" smtClean="0"/>
              <a:t>The method stores this value in the object </a:t>
            </a:r>
            <a:r>
              <a:rPr lang="en-US" sz="2800" dirty="0" err="1" smtClean="0">
                <a:latin typeface="Consolas" panose="020B0609020204030204" pitchFamily="49" charset="0"/>
              </a:rPr>
              <a:t>myAccount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4.2.4 </a:t>
            </a:r>
            <a:r>
              <a:rPr lang="en-US" dirty="0"/>
              <a:t>Calling Class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’s </a:t>
            </a:r>
            <a:r>
              <a:rPr lang="en-US" dirty="0" err="1">
                <a:latin typeface="Consolas" panose="020B0609020204030204" pitchFamily="49" charset="0"/>
              </a:rPr>
              <a:t>SetName</a:t>
            </a:r>
            <a:r>
              <a:rPr lang="en-US" dirty="0"/>
              <a:t> Method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753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When </a:t>
            </a:r>
            <a:r>
              <a:rPr lang="en-US" sz="3200" dirty="0">
                <a:latin typeface="Consolas" panose="020B0609020204030204" pitchFamily="49" charset="0"/>
              </a:rPr>
              <a:t>Main</a:t>
            </a:r>
            <a:r>
              <a:rPr lang="en-US" sz="3200" dirty="0"/>
              <a:t> calls the </a:t>
            </a:r>
            <a:r>
              <a:rPr lang="en-US" sz="3200" dirty="0" err="1">
                <a:latin typeface="Consolas" panose="020B0609020204030204" pitchFamily="49" charset="0"/>
              </a:rPr>
              <a:t>SetName</a:t>
            </a:r>
            <a:r>
              <a:rPr lang="en-US" sz="3200" dirty="0"/>
              <a:t> method:</a:t>
            </a:r>
          </a:p>
          <a:p>
            <a:pPr lvl="1"/>
            <a:r>
              <a:rPr lang="en-US" sz="2800" dirty="0"/>
              <a:t>The app transfers program execution from line 18 in </a:t>
            </a:r>
            <a:r>
              <a:rPr lang="en-US" sz="2800" dirty="0">
                <a:latin typeface="Consolas" panose="020B0609020204030204" pitchFamily="49" charset="0"/>
              </a:rPr>
              <a:t>Main</a:t>
            </a:r>
            <a:r>
              <a:rPr lang="en-US" sz="2800" dirty="0"/>
              <a:t> to method </a:t>
            </a:r>
            <a:r>
              <a:rPr lang="en-US" sz="2800" dirty="0" err="1">
                <a:latin typeface="Consolas" panose="020B0609020204030204" pitchFamily="49" charset="0"/>
              </a:rPr>
              <a:t>SetName</a:t>
            </a:r>
            <a:r>
              <a:rPr lang="en-US" sz="2800" dirty="0" err="1"/>
              <a:t>’s</a:t>
            </a:r>
            <a:r>
              <a:rPr lang="en-US" sz="2800" dirty="0"/>
              <a:t> declaration. </a:t>
            </a:r>
            <a:endParaRPr lang="en-US" sz="2800" dirty="0" smtClean="0"/>
          </a:p>
          <a:p>
            <a:pPr lvl="2"/>
            <a:r>
              <a:rPr lang="en-US" sz="2600" dirty="0" smtClean="0"/>
              <a:t>Because </a:t>
            </a:r>
            <a:r>
              <a:rPr lang="en-US" sz="2600" dirty="0"/>
              <a:t>method </a:t>
            </a:r>
            <a:r>
              <a:rPr lang="en-US" sz="2600" dirty="0" err="1">
                <a:latin typeface="Consolas" panose="020B0609020204030204" pitchFamily="49" charset="0"/>
              </a:rPr>
              <a:t>SetName</a:t>
            </a:r>
            <a:r>
              <a:rPr lang="en-US" sz="2600" dirty="0"/>
              <a:t> was accessed via the </a:t>
            </a:r>
            <a:r>
              <a:rPr lang="en-US" sz="2600" dirty="0" err="1">
                <a:latin typeface="Consolas" panose="020B0609020204030204" pitchFamily="49" charset="0"/>
              </a:rPr>
              <a:t>myAccount</a:t>
            </a:r>
            <a:r>
              <a:rPr lang="en-US" sz="2600" dirty="0"/>
              <a:t> object, </a:t>
            </a:r>
            <a:r>
              <a:rPr lang="en-US" sz="2600" dirty="0" err="1">
                <a:latin typeface="Consolas" panose="020B0609020204030204" pitchFamily="49" charset="0"/>
              </a:rPr>
              <a:t>SetName</a:t>
            </a:r>
            <a:r>
              <a:rPr lang="en-US" sz="2600" dirty="0"/>
              <a:t> “knows” which object to manipulate.</a:t>
            </a:r>
          </a:p>
          <a:p>
            <a:pPr lvl="1"/>
            <a:r>
              <a:rPr lang="en-US" sz="2800" dirty="0"/>
              <a:t>Next, method </a:t>
            </a:r>
            <a:r>
              <a:rPr lang="en-US" sz="2800" dirty="0" err="1">
                <a:latin typeface="Consolas" panose="020B0609020204030204" pitchFamily="49" charset="0"/>
              </a:rPr>
              <a:t>SetName</a:t>
            </a:r>
            <a:r>
              <a:rPr lang="en-US" sz="2800" dirty="0"/>
              <a:t> stores the argument’s value in the </a:t>
            </a:r>
            <a:r>
              <a:rPr lang="en-US" sz="2800" b="1" dirty="0" err="1">
                <a:latin typeface="Consolas" panose="020B0609020204030204" pitchFamily="49" charset="0"/>
              </a:rPr>
              <a:t>myAccount</a:t>
            </a:r>
            <a:r>
              <a:rPr lang="en-US" sz="2800" dirty="0"/>
              <a:t> object </a:t>
            </a:r>
            <a:r>
              <a:rPr lang="en-US" sz="2800" dirty="0" smtClean="0"/>
              <a:t>.</a:t>
            </a:r>
          </a:p>
          <a:p>
            <a:pPr lvl="1"/>
            <a:r>
              <a:rPr lang="en-US" sz="2800" dirty="0" smtClean="0"/>
              <a:t>When </a:t>
            </a:r>
            <a:r>
              <a:rPr lang="en-US" sz="2800" dirty="0" err="1">
                <a:latin typeface="Consolas" panose="020B0609020204030204" pitchFamily="49" charset="0"/>
              </a:rPr>
              <a:t>SetName</a:t>
            </a:r>
            <a:r>
              <a:rPr lang="en-US" sz="2800" dirty="0"/>
              <a:t> completes execution, program control returns to where method </a:t>
            </a:r>
            <a:r>
              <a:rPr lang="en-US" sz="2800" dirty="0" err="1">
                <a:latin typeface="Consolas" panose="020B0609020204030204" pitchFamily="49" charset="0"/>
              </a:rPr>
              <a:t>SetName</a:t>
            </a:r>
            <a:r>
              <a:rPr lang="en-US" sz="2800" dirty="0"/>
              <a:t> was called (line 18 in </a:t>
            </a:r>
            <a:r>
              <a:rPr lang="en-US" sz="2800" dirty="0">
                <a:latin typeface="Consolas" panose="020B0609020204030204" pitchFamily="49" charset="0"/>
              </a:rPr>
              <a:t>Main</a:t>
            </a:r>
            <a:r>
              <a:rPr lang="en-US" sz="2800" dirty="0"/>
              <a:t>), then execution continues at line 21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4.2.4 </a:t>
            </a:r>
            <a:r>
              <a:rPr lang="en-US" dirty="0"/>
              <a:t>Calling Class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’s </a:t>
            </a:r>
            <a:r>
              <a:rPr lang="en-US" dirty="0" err="1">
                <a:latin typeface="Consolas" panose="020B0609020204030204" pitchFamily="49" charset="0"/>
              </a:rPr>
              <a:t>SetName</a:t>
            </a:r>
            <a:r>
              <a:rPr lang="en-US" dirty="0"/>
              <a:t> Method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079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The fact that in  we could create and manipulate an </a:t>
            </a:r>
            <a:r>
              <a:rPr lang="en-US" sz="3600" b="1" dirty="0">
                <a:latin typeface="Consolas" panose="020B0609020204030204" pitchFamily="49" charset="0"/>
              </a:rPr>
              <a:t>Account</a:t>
            </a:r>
            <a:r>
              <a:rPr lang="en-US" sz="3600" dirty="0"/>
              <a:t> object </a:t>
            </a:r>
            <a:r>
              <a:rPr lang="en-US" sz="3600" i="1" dirty="0">
                <a:solidFill>
                  <a:schemeClr val="accent6">
                    <a:lumMod val="50000"/>
                  </a:schemeClr>
                </a:solidFill>
              </a:rPr>
              <a:t>without knowing its implementation details</a:t>
            </a:r>
            <a:r>
              <a:rPr lang="en-US" sz="3600" dirty="0"/>
              <a:t> is called </a:t>
            </a:r>
            <a:r>
              <a:rPr lang="en-US" sz="3600" b="1" dirty="0"/>
              <a:t>abstraction</a:t>
            </a:r>
            <a:r>
              <a:rPr lang="en-US" sz="3600" dirty="0"/>
              <a:t>. </a:t>
            </a:r>
            <a:endParaRPr lang="en-US" sz="3600" dirty="0" smtClean="0"/>
          </a:p>
          <a:p>
            <a:pPr lvl="1"/>
            <a:r>
              <a:rPr lang="en-US" sz="3200" dirty="0" smtClean="0"/>
              <a:t>This </a:t>
            </a:r>
            <a:r>
              <a:rPr lang="en-US" sz="3200" dirty="0"/>
              <a:t>is one of the most powerful </a:t>
            </a:r>
            <a:r>
              <a:rPr lang="en-US" sz="3200" dirty="0" smtClean="0"/>
              <a:t>software-engineering </a:t>
            </a:r>
            <a:r>
              <a:rPr lang="en-US" sz="3200" dirty="0"/>
              <a:t>benefits of object-oriented programming. </a:t>
            </a:r>
            <a:endParaRPr lang="en-US" sz="3200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4.3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 Class with an Instance Variable and </a:t>
            </a:r>
            <a:r>
              <a:rPr lang="en-US" i="1" dirty="0"/>
              <a:t>Set</a:t>
            </a:r>
            <a:r>
              <a:rPr lang="en-US" dirty="0"/>
              <a:t> and </a:t>
            </a:r>
            <a:r>
              <a:rPr lang="en-US" i="1" dirty="0"/>
              <a:t>Get</a:t>
            </a:r>
            <a:r>
              <a:rPr lang="en-US" dirty="0"/>
              <a:t> Methods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352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Class </a:t>
            </a:r>
            <a:r>
              <a:rPr lang="en-US" sz="3200" dirty="0">
                <a:latin typeface="Consolas" panose="020B0609020204030204" pitchFamily="49" charset="0"/>
              </a:rPr>
              <a:t>Account</a:t>
            </a:r>
            <a:r>
              <a:rPr lang="en-US" sz="3200" dirty="0"/>
              <a:t> </a:t>
            </a:r>
            <a:r>
              <a:rPr lang="en-US" sz="3200" dirty="0" smtClean="0"/>
              <a:t>(Fig. 4.2) </a:t>
            </a:r>
            <a:r>
              <a:rPr lang="en-US" sz="3200" dirty="0"/>
              <a:t>contains a </a:t>
            </a:r>
            <a:r>
              <a:rPr lang="en-US" sz="3200" dirty="0">
                <a:latin typeface="Consolas" panose="020B0609020204030204" pitchFamily="49" charset="0"/>
              </a:rPr>
              <a:t>name</a:t>
            </a:r>
            <a:r>
              <a:rPr lang="en-US" sz="3200" dirty="0"/>
              <a:t> </a:t>
            </a:r>
            <a:r>
              <a:rPr lang="en-US" sz="3200" i="1" dirty="0"/>
              <a:t>instance variable</a:t>
            </a:r>
            <a:r>
              <a:rPr lang="en-US" sz="3200" dirty="0"/>
              <a:t> (line 7) that stores the account holder’s </a:t>
            </a:r>
            <a:r>
              <a:rPr lang="en-US" sz="3200" dirty="0" smtClean="0"/>
              <a:t>name</a:t>
            </a:r>
          </a:p>
          <a:p>
            <a:pPr lvl="1"/>
            <a:r>
              <a:rPr lang="en-US" sz="2800" dirty="0" smtClean="0"/>
              <a:t>each </a:t>
            </a:r>
            <a:r>
              <a:rPr lang="en-US" sz="2800" dirty="0">
                <a:latin typeface="Consolas" panose="020B0609020204030204" pitchFamily="49" charset="0"/>
              </a:rPr>
              <a:t>Account</a:t>
            </a:r>
            <a:r>
              <a:rPr lang="en-US" sz="2800" dirty="0"/>
              <a:t> object has its own copy of the </a:t>
            </a:r>
            <a:r>
              <a:rPr lang="en-US" sz="2800" dirty="0">
                <a:latin typeface="Consolas" panose="020B0609020204030204" pitchFamily="49" charset="0"/>
              </a:rPr>
              <a:t>name</a:t>
            </a:r>
            <a:r>
              <a:rPr lang="en-US" sz="2800" dirty="0"/>
              <a:t> </a:t>
            </a:r>
            <a:r>
              <a:rPr lang="en-US" sz="2800" i="1" dirty="0"/>
              <a:t>instance variable</a:t>
            </a:r>
            <a:r>
              <a:rPr lang="en-US" sz="2800" dirty="0"/>
              <a:t>. </a:t>
            </a:r>
            <a:endParaRPr lang="en-US" sz="2800" dirty="0" smtClean="0"/>
          </a:p>
          <a:p>
            <a:r>
              <a:rPr lang="en-US" sz="3200" dirty="0" smtClean="0"/>
              <a:t>Class </a:t>
            </a:r>
            <a:r>
              <a:rPr lang="en-US" sz="3200" dirty="0"/>
              <a:t>Account also contains method </a:t>
            </a:r>
            <a:r>
              <a:rPr lang="en-US" sz="3200" dirty="0" err="1">
                <a:latin typeface="Consolas" panose="020B0609020204030204" pitchFamily="49" charset="0"/>
              </a:rPr>
              <a:t>SetName</a:t>
            </a:r>
            <a:r>
              <a:rPr lang="en-US" sz="3200" dirty="0"/>
              <a:t> that a program can call to store a name in an </a:t>
            </a:r>
            <a:r>
              <a:rPr lang="en-US" sz="3200" dirty="0">
                <a:latin typeface="Consolas" panose="020B0609020204030204" pitchFamily="49" charset="0"/>
              </a:rPr>
              <a:t>Account</a:t>
            </a:r>
            <a:r>
              <a:rPr lang="en-US" sz="3200" dirty="0"/>
              <a:t> object, and method </a:t>
            </a:r>
            <a:r>
              <a:rPr lang="en-US" sz="3200" dirty="0" err="1">
                <a:latin typeface="Consolas" panose="020B0609020204030204" pitchFamily="49" charset="0"/>
              </a:rPr>
              <a:t>GetName</a:t>
            </a:r>
            <a:r>
              <a:rPr lang="en-US" sz="3200" dirty="0"/>
              <a:t> that a program can call to obtain the name from an </a:t>
            </a:r>
            <a:r>
              <a:rPr lang="en-US" sz="3200" dirty="0">
                <a:latin typeface="Consolas" panose="020B0609020204030204" pitchFamily="49" charset="0"/>
              </a:rPr>
              <a:t>Account</a:t>
            </a:r>
            <a:r>
              <a:rPr lang="en-US" sz="3200" dirty="0"/>
              <a:t> object.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4.3.1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 Class Declaration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45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1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38" y="-8389"/>
            <a:ext cx="104489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586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481138"/>
            <a:ext cx="10972800" cy="5154554"/>
          </a:xfrm>
        </p:spPr>
        <p:txBody>
          <a:bodyPr/>
          <a:lstStyle/>
          <a:p>
            <a:r>
              <a:rPr lang="en-US" sz="2800" dirty="0" smtClean="0"/>
              <a:t>Every </a:t>
            </a:r>
            <a:r>
              <a:rPr lang="en-US" sz="2800" dirty="0"/>
              <a:t>class declaration contains the keyword </a:t>
            </a:r>
            <a:r>
              <a:rPr lang="en-US" sz="2800" dirty="0">
                <a:latin typeface="Consolas" panose="020B0609020204030204" pitchFamily="49" charset="0"/>
              </a:rPr>
              <a:t>class</a:t>
            </a:r>
            <a:r>
              <a:rPr lang="en-US" sz="2800" dirty="0"/>
              <a:t> followed immediately by the class’s </a:t>
            </a:r>
            <a:r>
              <a:rPr lang="en-US" sz="2800" dirty="0" smtClean="0"/>
              <a:t>name. </a:t>
            </a:r>
          </a:p>
          <a:p>
            <a:r>
              <a:rPr lang="en-US" sz="2800" dirty="0" smtClean="0"/>
              <a:t>Each </a:t>
            </a:r>
            <a:r>
              <a:rPr lang="en-US" sz="2800" dirty="0"/>
              <a:t>class declaration is typically stored in a file having the same name as the class and ending with the </a:t>
            </a:r>
            <a:r>
              <a:rPr lang="en-US" sz="2800" dirty="0">
                <a:latin typeface="Consolas" panose="020B0609020204030204" pitchFamily="49" charset="0"/>
              </a:rPr>
              <a:t>.</a:t>
            </a:r>
            <a:r>
              <a:rPr lang="en-US" sz="2800" dirty="0" err="1">
                <a:latin typeface="Consolas" panose="020B0609020204030204" pitchFamily="49" charset="0"/>
              </a:rPr>
              <a:t>cs</a:t>
            </a:r>
            <a:r>
              <a:rPr lang="en-US" sz="2800" dirty="0"/>
              <a:t> filename </a:t>
            </a:r>
            <a:r>
              <a:rPr lang="en-US" sz="2800" dirty="0" smtClean="0"/>
              <a:t>extension;</a:t>
            </a:r>
          </a:p>
          <a:p>
            <a:r>
              <a:rPr lang="en-US" sz="2800" dirty="0" smtClean="0"/>
              <a:t>The </a:t>
            </a:r>
            <a:r>
              <a:rPr lang="en-US" sz="2800" dirty="0"/>
              <a:t>class’s body is enclosed in a pair of braces (lines 6 and </a:t>
            </a:r>
            <a:r>
              <a:rPr lang="en-US" sz="2800" dirty="0" smtClean="0"/>
              <a:t>20).</a:t>
            </a:r>
            <a:endParaRPr lang="en-US" sz="2800" dirty="0"/>
          </a:p>
          <a:p>
            <a:r>
              <a:rPr lang="en-US" sz="2800" dirty="0" smtClean="0"/>
              <a:t>Class</a:t>
            </a:r>
            <a:r>
              <a:rPr lang="en-US" sz="2800" dirty="0"/>
              <a:t>, property, method and variable names are all </a:t>
            </a:r>
            <a:r>
              <a:rPr lang="en-US" sz="2800" i="1" dirty="0"/>
              <a:t>identifiers</a:t>
            </a:r>
            <a:r>
              <a:rPr lang="en-US" sz="2800" dirty="0"/>
              <a:t> and by convention all use the naming schemes we discussed in Chapter 3: </a:t>
            </a:r>
          </a:p>
          <a:p>
            <a:pPr lvl="2"/>
            <a:r>
              <a:rPr lang="en-US" sz="2800" dirty="0"/>
              <a:t>class, property and method names begin with an initial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uppercase letter </a:t>
            </a:r>
            <a:r>
              <a:rPr lang="en-US" sz="2800" b="1" dirty="0" smtClean="0">
                <a:solidFill>
                  <a:schemeClr val="accent6">
                    <a:lumMod val="50000"/>
                  </a:schemeClr>
                </a:solidFill>
              </a:rPr>
              <a:t>(Pascal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case)</a:t>
            </a:r>
          </a:p>
          <a:p>
            <a:pPr lvl="2"/>
            <a:r>
              <a:rPr lang="en-US" sz="2800" dirty="0"/>
              <a:t>variable names begin with an initial </a:t>
            </a:r>
            <a:r>
              <a:rPr lang="en-US" sz="2800" b="1" dirty="0"/>
              <a:t>lowercase letter </a:t>
            </a:r>
            <a:r>
              <a:rPr lang="en-US" sz="2800" b="1" dirty="0" smtClean="0"/>
              <a:t>(camel </a:t>
            </a:r>
            <a:r>
              <a:rPr lang="en-US" sz="2800" b="1" dirty="0"/>
              <a:t>case).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4.3.2 </a:t>
            </a:r>
            <a:r>
              <a:rPr lang="en-US" dirty="0"/>
              <a:t>Keyword </a:t>
            </a:r>
            <a:r>
              <a:rPr lang="en-US" dirty="0">
                <a:latin typeface="Consolas" panose="020B0609020204030204" pitchFamily="49" charset="0"/>
              </a:rPr>
              <a:t>class</a:t>
            </a:r>
            <a:r>
              <a:rPr lang="en-US" dirty="0"/>
              <a:t> </a:t>
            </a:r>
            <a:r>
              <a:rPr lang="en-US" dirty="0" smtClean="0"/>
              <a:t>and </a:t>
            </a:r>
            <a:r>
              <a:rPr lang="en-US" dirty="0"/>
              <a:t>the Class Body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64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Objects carry their instance </a:t>
            </a:r>
            <a:r>
              <a:rPr lang="en-US" dirty="0"/>
              <a:t>variables with them throughout their lifetimes. </a:t>
            </a:r>
            <a:endParaRPr lang="en-US" dirty="0" smtClean="0"/>
          </a:p>
          <a:p>
            <a:r>
              <a:rPr lang="en-US" dirty="0" smtClean="0"/>
              <a:t>Each </a:t>
            </a:r>
            <a:r>
              <a:rPr lang="en-US" dirty="0"/>
              <a:t>object has its own copy of the class’s instance variables. </a:t>
            </a:r>
            <a:endParaRPr lang="en-US" dirty="0" smtClean="0"/>
          </a:p>
          <a:p>
            <a:r>
              <a:rPr lang="en-US" dirty="0" smtClean="0"/>
              <a:t>A class’s methods </a:t>
            </a:r>
            <a:r>
              <a:rPr lang="en-US" dirty="0"/>
              <a:t>and </a:t>
            </a:r>
            <a:r>
              <a:rPr lang="en-US" dirty="0" smtClean="0"/>
              <a:t>properties manipulate </a:t>
            </a:r>
            <a:r>
              <a:rPr lang="en-US" dirty="0"/>
              <a:t>the instance variables belonging to particular objects of the class. </a:t>
            </a:r>
          </a:p>
          <a:p>
            <a:r>
              <a:rPr lang="en-US" i="1" dirty="0">
                <a:solidFill>
                  <a:srgbClr val="0000FF"/>
                </a:solidFill>
              </a:rPr>
              <a:t>Instance variables are declared inside a class declaration but outside the bodies of the class’s methods and properties. </a:t>
            </a:r>
            <a:endParaRPr lang="en-US" i="1" dirty="0" smtClean="0">
              <a:solidFill>
                <a:srgbClr val="0000FF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4.3.3 </a:t>
            </a:r>
            <a:r>
              <a:rPr lang="en-US" dirty="0"/>
              <a:t>Instance Variable name of Type </a:t>
            </a:r>
            <a:r>
              <a:rPr lang="en-US" dirty="0">
                <a:latin typeface="Consolas" panose="020B0609020204030204" pitchFamily="49" charset="0"/>
              </a:rPr>
              <a:t>string </a:t>
            </a:r>
            <a:r>
              <a:rPr lang="en-US" dirty="0" smtClean="0">
                <a:latin typeface="Consolas" panose="020B0609020204030204" pitchFamily="49" charset="0"/>
              </a:rPr>
              <a:t> 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535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latin typeface="Consolas" panose="020B0609020204030204" pitchFamily="49" charset="0"/>
              </a:rPr>
              <a:t>private </a:t>
            </a:r>
            <a:r>
              <a:rPr lang="en-US" sz="2800" dirty="0">
                <a:latin typeface="Consolas" panose="020B0609020204030204" pitchFamily="49" charset="0"/>
              </a:rPr>
              <a:t>string name; // instance variable	</a:t>
            </a:r>
          </a:p>
          <a:p>
            <a:pPr lvl="1"/>
            <a:r>
              <a:rPr lang="en-US" sz="2400" dirty="0"/>
              <a:t>declares instance variable </a:t>
            </a:r>
            <a:r>
              <a:rPr lang="en-US" sz="2400" dirty="0">
                <a:latin typeface="Consolas" panose="020B0609020204030204" pitchFamily="49" charset="0"/>
              </a:rPr>
              <a:t>name</a:t>
            </a:r>
            <a:r>
              <a:rPr lang="en-US" sz="2400" dirty="0"/>
              <a:t> of type </a:t>
            </a:r>
            <a:r>
              <a:rPr lang="en-US" sz="2400" dirty="0">
                <a:latin typeface="Consolas" panose="020B0609020204030204" pitchFamily="49" charset="0"/>
              </a:rPr>
              <a:t>string</a:t>
            </a:r>
            <a:r>
              <a:rPr lang="en-US" sz="2400" dirty="0"/>
              <a:t> </a:t>
            </a:r>
            <a:r>
              <a:rPr lang="en-US" sz="2400" i="1" dirty="0"/>
              <a:t>outside</a:t>
            </a:r>
            <a:r>
              <a:rPr lang="en-US" sz="2400" dirty="0"/>
              <a:t> the bodies of methods </a:t>
            </a:r>
            <a:r>
              <a:rPr lang="en-US" sz="2400" dirty="0" err="1">
                <a:latin typeface="Consolas" panose="020B0609020204030204" pitchFamily="49" charset="0"/>
              </a:rPr>
              <a:t>SetName</a:t>
            </a:r>
            <a:r>
              <a:rPr lang="en-US" sz="2400" dirty="0"/>
              <a:t> and </a:t>
            </a:r>
            <a:r>
              <a:rPr lang="en-US" sz="2400" dirty="0" err="1">
                <a:latin typeface="Consolas" panose="020B0609020204030204" pitchFamily="49" charset="0"/>
              </a:rPr>
              <a:t>GetName</a:t>
            </a:r>
            <a:r>
              <a:rPr lang="en-US" sz="2400" dirty="0"/>
              <a:t>. </a:t>
            </a:r>
            <a:endParaRPr lang="en-US" sz="2400" dirty="0" smtClean="0"/>
          </a:p>
          <a:p>
            <a:pPr lvl="1"/>
            <a:r>
              <a:rPr lang="en-US" sz="2400" dirty="0" smtClean="0"/>
              <a:t>If </a:t>
            </a:r>
            <a:r>
              <a:rPr lang="en-US" sz="2400" dirty="0"/>
              <a:t>there are many </a:t>
            </a:r>
            <a:r>
              <a:rPr lang="en-US" sz="2400" dirty="0">
                <a:latin typeface="Consolas" panose="020B0609020204030204" pitchFamily="49" charset="0"/>
              </a:rPr>
              <a:t>Account</a:t>
            </a:r>
            <a:r>
              <a:rPr lang="en-US" sz="2400" dirty="0"/>
              <a:t> objects, each has its own </a:t>
            </a:r>
            <a:r>
              <a:rPr lang="en-US" sz="2400" dirty="0">
                <a:latin typeface="Consolas" panose="020B0609020204030204" pitchFamily="49" charset="0"/>
              </a:rPr>
              <a:t>name</a:t>
            </a:r>
            <a:r>
              <a:rPr lang="en-US" sz="2400" dirty="0"/>
              <a:t>. </a:t>
            </a:r>
            <a:endParaRPr lang="en-US" sz="2400" dirty="0" smtClean="0"/>
          </a:p>
          <a:p>
            <a:pPr lvl="1"/>
            <a:r>
              <a:rPr lang="en-US" sz="2400" dirty="0" smtClean="0"/>
              <a:t>Because </a:t>
            </a:r>
            <a:r>
              <a:rPr lang="en-US" sz="2400" dirty="0">
                <a:latin typeface="Consolas" panose="020B0609020204030204" pitchFamily="49" charset="0"/>
              </a:rPr>
              <a:t>name</a:t>
            </a:r>
            <a:r>
              <a:rPr lang="en-US" sz="2400" dirty="0"/>
              <a:t> is an </a:t>
            </a:r>
            <a:r>
              <a:rPr lang="en-US" sz="2400" b="1" i="1" dirty="0">
                <a:solidFill>
                  <a:srgbClr val="0000FF"/>
                </a:solidFill>
              </a:rPr>
              <a:t>instance variable, it can be manipulated by each of the class’s methods and properties. </a:t>
            </a:r>
            <a:endParaRPr lang="en-US" sz="2400" b="1" i="1" dirty="0" smtClean="0">
              <a:solidFill>
                <a:srgbClr val="0000FF"/>
              </a:solidFill>
            </a:endParaRPr>
          </a:p>
          <a:p>
            <a:pPr lvl="1"/>
            <a:r>
              <a:rPr lang="en-US" sz="2400" b="1" dirty="0" smtClean="0"/>
              <a:t>Clients </a:t>
            </a:r>
            <a:r>
              <a:rPr lang="en-US" sz="2400" dirty="0"/>
              <a:t>of class </a:t>
            </a:r>
            <a:r>
              <a:rPr lang="en-US" sz="2400" dirty="0">
                <a:latin typeface="Consolas" panose="020B0609020204030204" pitchFamily="49" charset="0"/>
              </a:rPr>
              <a:t>Account</a:t>
            </a:r>
            <a:r>
              <a:rPr lang="en-US" sz="2400" dirty="0"/>
              <a:t>—that is, any other code that calls the class’s methods (such as class </a:t>
            </a:r>
            <a:r>
              <a:rPr lang="en-US" sz="2400" dirty="0" err="1">
                <a:latin typeface="Consolas" panose="020B0609020204030204" pitchFamily="49" charset="0"/>
              </a:rPr>
              <a:t>AccountTest</a:t>
            </a:r>
            <a:r>
              <a:rPr lang="en-US" sz="2400" dirty="0" err="1"/>
              <a:t>’s</a:t>
            </a:r>
            <a:r>
              <a:rPr lang="en-US" sz="2400" dirty="0"/>
              <a:t> </a:t>
            </a:r>
            <a:r>
              <a:rPr lang="en-US" sz="2400" dirty="0" smtClean="0">
                <a:latin typeface="Consolas" panose="020B0609020204030204" pitchFamily="49" charset="0"/>
              </a:rPr>
              <a:t>Main</a:t>
            </a:r>
            <a:r>
              <a:rPr lang="en-US" sz="2400" dirty="0" smtClean="0"/>
              <a:t>)—</a:t>
            </a:r>
            <a:r>
              <a:rPr lang="en-US" sz="2400" dirty="0"/>
              <a:t>cannot access the </a:t>
            </a:r>
            <a:r>
              <a:rPr lang="en-US" sz="2400" dirty="0" smtClean="0">
                <a:latin typeface="Consolas" panose="020B0609020204030204" pitchFamily="49" charset="0"/>
              </a:rPr>
              <a:t>name</a:t>
            </a:r>
            <a:r>
              <a:rPr lang="en-US" sz="2400" dirty="0" smtClean="0"/>
              <a:t> instance </a:t>
            </a:r>
            <a:r>
              <a:rPr lang="en-US" sz="2400" dirty="0"/>
              <a:t>variable because it’s declared </a:t>
            </a:r>
            <a:r>
              <a:rPr lang="en-US" sz="2400" b="1" dirty="0">
                <a:solidFill>
                  <a:srgbClr val="663300"/>
                </a:solidFill>
                <a:latin typeface="Consolas" panose="020B0609020204030204" pitchFamily="49" charset="0"/>
              </a:rPr>
              <a:t>private</a:t>
            </a:r>
            <a:r>
              <a:rPr lang="en-US" sz="2400" dirty="0"/>
              <a:t>. </a:t>
            </a:r>
            <a:endParaRPr lang="en-US" sz="2400" dirty="0" smtClean="0"/>
          </a:p>
          <a:p>
            <a:pPr lvl="1"/>
            <a:r>
              <a:rPr lang="en-US" sz="2400" dirty="0" smtClean="0"/>
              <a:t>Clients </a:t>
            </a:r>
            <a:r>
              <a:rPr lang="en-US" sz="2400" i="1" dirty="0"/>
              <a:t>can</a:t>
            </a:r>
            <a:r>
              <a:rPr lang="en-US" sz="2400" dirty="0"/>
              <a:t> access </a:t>
            </a:r>
            <a:r>
              <a:rPr lang="en-US" sz="2400" dirty="0">
                <a:latin typeface="Consolas" panose="020B0609020204030204" pitchFamily="49" charset="0"/>
              </a:rPr>
              <a:t>Account</a:t>
            </a:r>
            <a:r>
              <a:rPr lang="en-US" sz="2400" dirty="0"/>
              <a:t>’s </a:t>
            </a:r>
            <a:r>
              <a:rPr lang="en-US" sz="2400" dirty="0">
                <a:latin typeface="Consolas" panose="020B0609020204030204" pitchFamily="49" charset="0"/>
              </a:rPr>
              <a:t>public</a:t>
            </a:r>
            <a:r>
              <a:rPr lang="en-US" sz="2400" dirty="0"/>
              <a:t> methods </a:t>
            </a:r>
            <a:r>
              <a:rPr lang="en-US" sz="2400" b="1" dirty="0" err="1">
                <a:latin typeface="Consolas" panose="020B0609020204030204" pitchFamily="49" charset="0"/>
              </a:rPr>
              <a:t>SetName</a:t>
            </a:r>
            <a:r>
              <a:rPr lang="en-US" sz="2400" dirty="0"/>
              <a:t> and </a:t>
            </a:r>
            <a:r>
              <a:rPr lang="en-US" sz="2400" b="1" dirty="0" err="1">
                <a:latin typeface="Consolas" panose="020B0609020204030204" pitchFamily="49" charset="0"/>
              </a:rPr>
              <a:t>GetName</a:t>
            </a:r>
            <a:r>
              <a:rPr lang="en-US" sz="2400" dirty="0"/>
              <a:t>. </a:t>
            </a:r>
            <a:endParaRPr lang="en-US" sz="2400" dirty="0" smtClean="0"/>
          </a:p>
          <a:p>
            <a:pPr lvl="2"/>
            <a:r>
              <a:rPr lang="en-US" sz="2400" dirty="0" smtClean="0"/>
              <a:t>These </a:t>
            </a:r>
            <a:r>
              <a:rPr lang="en-US" sz="2400" dirty="0"/>
              <a:t>methods </a:t>
            </a:r>
            <a:r>
              <a:rPr lang="en-US" sz="2400" i="1" dirty="0"/>
              <a:t>can</a:t>
            </a:r>
            <a:r>
              <a:rPr lang="en-US" sz="2400" dirty="0"/>
              <a:t> access </a:t>
            </a:r>
            <a:r>
              <a:rPr lang="en-US" sz="2400" b="1" dirty="0">
                <a:latin typeface="Consolas" panose="020B0609020204030204" pitchFamily="49" charset="0"/>
              </a:rPr>
              <a:t>private</a:t>
            </a:r>
            <a:r>
              <a:rPr lang="en-US" sz="2400" dirty="0"/>
              <a:t> instance variable name.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4.3.3 </a:t>
            </a:r>
            <a:r>
              <a:rPr lang="en-US" dirty="0"/>
              <a:t>Instance Variable name of Type </a:t>
            </a:r>
            <a:r>
              <a:rPr lang="en-US" dirty="0">
                <a:latin typeface="Consolas" panose="020B0609020204030204" pitchFamily="49" charset="0"/>
              </a:rPr>
              <a:t>string </a:t>
            </a:r>
            <a:r>
              <a:rPr lang="en-US" dirty="0" smtClean="0">
                <a:latin typeface="Consolas" panose="020B0609020204030204" pitchFamily="49" charset="0"/>
              </a:rPr>
              <a:t> 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782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1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600"/>
            <a:ext cx="12192000" cy="53832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453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481137"/>
            <a:ext cx="10972800" cy="4927601"/>
          </a:xfrm>
        </p:spPr>
        <p:txBody>
          <a:bodyPr/>
          <a:lstStyle/>
          <a:p>
            <a:pPr marL="109537" indent="0">
              <a:buNone/>
            </a:pPr>
            <a:r>
              <a:rPr lang="en-US" sz="2800" b="1" i="1" dirty="0">
                <a:latin typeface="Consolas" panose="020B0609020204030204" pitchFamily="49" charset="0"/>
              </a:rPr>
              <a:t>null</a:t>
            </a:r>
            <a:r>
              <a:rPr lang="en-US" sz="2800" b="1" i="1" dirty="0"/>
              <a:t>—the Default Initial Value for </a:t>
            </a:r>
            <a:r>
              <a:rPr lang="en-US" sz="2800" b="1" i="1" dirty="0">
                <a:solidFill>
                  <a:srgbClr val="0000FF"/>
                </a:solidFill>
              </a:rPr>
              <a:t>string Variables</a:t>
            </a:r>
          </a:p>
          <a:p>
            <a:r>
              <a:rPr lang="en-US" sz="2800" dirty="0"/>
              <a:t>Every instance variable has a </a:t>
            </a:r>
            <a:r>
              <a:rPr lang="en-US" sz="2800" b="1" dirty="0"/>
              <a:t>default initial value</a:t>
            </a:r>
            <a:r>
              <a:rPr lang="en-US" sz="2800" i="1" dirty="0"/>
              <a:t>—</a:t>
            </a:r>
            <a:r>
              <a:rPr lang="en-US" sz="2800" dirty="0"/>
              <a:t>a value provided by C# if you do not specify the instance variable’s initial value. </a:t>
            </a:r>
            <a:endParaRPr lang="en-US" sz="2800" dirty="0" smtClean="0"/>
          </a:p>
          <a:p>
            <a:r>
              <a:rPr lang="en-US" sz="2800" dirty="0" smtClean="0"/>
              <a:t>Thus</a:t>
            </a:r>
            <a:r>
              <a:rPr lang="en-US" sz="2800" dirty="0"/>
              <a:t>, instance variables are not required to be explicitly initialized before they’re used in a </a:t>
            </a:r>
            <a:r>
              <a:rPr lang="en-US" sz="2800" dirty="0" smtClean="0"/>
              <a:t>program</a:t>
            </a:r>
          </a:p>
          <a:p>
            <a:pPr lvl="1"/>
            <a:r>
              <a:rPr lang="en-US" sz="2400" dirty="0" smtClean="0"/>
              <a:t>unless </a:t>
            </a:r>
            <a:r>
              <a:rPr lang="en-US" sz="2400" dirty="0"/>
              <a:t>they must be initialized to values </a:t>
            </a:r>
            <a:r>
              <a:rPr lang="en-US" sz="2400" i="1" dirty="0"/>
              <a:t>other</a:t>
            </a:r>
            <a:r>
              <a:rPr lang="en-US" sz="2400" dirty="0"/>
              <a:t> than their default values. </a:t>
            </a:r>
            <a:endParaRPr lang="en-US" sz="2400" dirty="0" smtClean="0"/>
          </a:p>
          <a:p>
            <a:r>
              <a:rPr lang="en-US" sz="2800" b="1" i="1" dirty="0" smtClean="0">
                <a:solidFill>
                  <a:srgbClr val="0000FF"/>
                </a:solidFill>
              </a:rPr>
              <a:t>The </a:t>
            </a:r>
            <a:r>
              <a:rPr lang="en-US" sz="2800" b="1" i="1" dirty="0">
                <a:solidFill>
                  <a:srgbClr val="0000FF"/>
                </a:solidFill>
              </a:rPr>
              <a:t>default value for an instance variable of type </a:t>
            </a:r>
            <a:r>
              <a:rPr lang="en-US" sz="2800" b="1" i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800" b="1" i="1" dirty="0">
                <a:solidFill>
                  <a:srgbClr val="0000FF"/>
                </a:solidFill>
              </a:rPr>
              <a:t> </a:t>
            </a:r>
            <a:r>
              <a:rPr lang="en-US" sz="2800" b="1" i="1" dirty="0" smtClean="0">
                <a:solidFill>
                  <a:srgbClr val="0000FF"/>
                </a:solidFill>
              </a:rPr>
              <a:t>is </a:t>
            </a:r>
            <a:r>
              <a:rPr lang="en-US" sz="2800" b="1" i="1" dirty="0" smtClean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800" b="1" i="1" dirty="0" smtClean="0">
                <a:solidFill>
                  <a:srgbClr val="0000FF"/>
                </a:solidFill>
              </a:rPr>
              <a:t>.</a:t>
            </a:r>
          </a:p>
          <a:p>
            <a:r>
              <a:rPr lang="en-US" sz="2800" dirty="0" smtClean="0"/>
              <a:t>When </a:t>
            </a:r>
            <a:r>
              <a:rPr lang="en-US" sz="2800" dirty="0"/>
              <a:t>you use </a:t>
            </a:r>
            <a:r>
              <a:rPr lang="en-US" sz="2800" dirty="0" err="1">
                <a:latin typeface="Consolas" panose="020B0609020204030204" pitchFamily="49" charset="0"/>
              </a:rPr>
              <a:t>Console.Write</a:t>
            </a:r>
            <a:r>
              <a:rPr lang="en-US" sz="2800" dirty="0"/>
              <a:t> or </a:t>
            </a:r>
            <a:r>
              <a:rPr lang="en-US" sz="2800" dirty="0" err="1">
                <a:latin typeface="Consolas" panose="020B0609020204030204" pitchFamily="49" charset="0"/>
              </a:rPr>
              <a:t>Console.WriteLine</a:t>
            </a:r>
            <a:r>
              <a:rPr lang="en-US" sz="2800" dirty="0"/>
              <a:t> to display a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/>
              <a:t>variable that contains the value </a:t>
            </a:r>
            <a:r>
              <a:rPr lang="en-US" sz="2800" b="1" dirty="0">
                <a:latin typeface="Consolas" panose="020B0609020204030204" pitchFamily="49" charset="0"/>
              </a:rPr>
              <a:t>null</a:t>
            </a:r>
            <a:r>
              <a:rPr lang="en-US" sz="2800" dirty="0"/>
              <a:t>, no text is </a:t>
            </a:r>
            <a:r>
              <a:rPr lang="en-US" sz="2800" dirty="0" smtClean="0"/>
              <a:t>displayed. </a:t>
            </a:r>
            <a:endParaRPr lang="en-US" sz="2800" dirty="0"/>
          </a:p>
          <a:p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4.3.3 </a:t>
            </a:r>
            <a:r>
              <a:rPr lang="en-US" dirty="0"/>
              <a:t>Instance Variable name of Type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smtClean="0">
                <a:latin typeface="Consolas" panose="020B0609020204030204" pitchFamily="49" charset="0"/>
              </a:rPr>
              <a:t> 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2602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The first line of each method declaration (line 10) is the </a:t>
            </a:r>
            <a:r>
              <a:rPr lang="en-US" sz="3200" b="1" i="1" dirty="0"/>
              <a:t>method header. </a:t>
            </a:r>
            <a:endParaRPr lang="en-US" sz="3200" b="1" i="1" dirty="0" smtClean="0"/>
          </a:p>
          <a:p>
            <a:r>
              <a:rPr lang="en-US" sz="3200" dirty="0" smtClean="0"/>
              <a:t>The </a:t>
            </a:r>
            <a:r>
              <a:rPr lang="en-US" sz="3200" dirty="0"/>
              <a:t>method’s </a:t>
            </a:r>
            <a:r>
              <a:rPr lang="en-US" sz="3200" b="1" dirty="0"/>
              <a:t>return type</a:t>
            </a:r>
            <a:r>
              <a:rPr lang="en-US" sz="3200" dirty="0"/>
              <a:t> (which appears to the left of the method’s name) specifies the type of data the method returns to its </a:t>
            </a:r>
            <a:r>
              <a:rPr lang="en-US" sz="3200" b="1" i="1" dirty="0"/>
              <a:t>caller</a:t>
            </a:r>
            <a:r>
              <a:rPr lang="en-US" sz="3200" dirty="0"/>
              <a:t> after performing its task. </a:t>
            </a:r>
            <a:endParaRPr lang="en-US" sz="3200" dirty="0" smtClean="0"/>
          </a:p>
          <a:p>
            <a:r>
              <a:rPr lang="en-US" sz="3200" dirty="0" smtClean="0"/>
              <a:t>The </a:t>
            </a:r>
            <a:r>
              <a:rPr lang="en-US" sz="3200" dirty="0"/>
              <a:t>return type </a:t>
            </a:r>
            <a:r>
              <a:rPr lang="en-US" sz="3200" b="1" dirty="0">
                <a:latin typeface="Consolas" panose="020B0609020204030204" pitchFamily="49" charset="0"/>
              </a:rPr>
              <a:t>void</a:t>
            </a:r>
            <a:r>
              <a:rPr lang="en-US" sz="3200" dirty="0"/>
              <a:t> (line 10) indicates that when </a:t>
            </a:r>
            <a:r>
              <a:rPr lang="en-US" sz="3200" b="1" i="1" dirty="0" err="1">
                <a:solidFill>
                  <a:srgbClr val="0000FF"/>
                </a:solidFill>
                <a:latin typeface="Consolas" panose="020B0609020204030204" pitchFamily="49" charset="0"/>
              </a:rPr>
              <a:t>SetName</a:t>
            </a:r>
            <a:r>
              <a:rPr lang="en-US" sz="3200" dirty="0"/>
              <a:t> completes its task, it does not return (i.e., give back) any information to its </a:t>
            </a:r>
            <a:r>
              <a:rPr lang="en-US" sz="3200" b="1" dirty="0">
                <a:solidFill>
                  <a:srgbClr val="0000FF"/>
                </a:solidFill>
              </a:rPr>
              <a:t>calling method</a:t>
            </a:r>
            <a:r>
              <a:rPr lang="en-US" sz="3200" dirty="0">
                <a:solidFill>
                  <a:srgbClr val="0000FF"/>
                </a:solidFill>
              </a:rPr>
              <a:t>—</a:t>
            </a:r>
            <a:r>
              <a:rPr lang="en-US" sz="3200" dirty="0"/>
              <a:t>in</a:t>
            </a:r>
            <a:r>
              <a:rPr lang="en-US" sz="3200" dirty="0">
                <a:solidFill>
                  <a:srgbClr val="0000FF"/>
                </a:solidFill>
              </a:rPr>
              <a:t> </a:t>
            </a:r>
            <a:r>
              <a:rPr lang="en-US" sz="3200" dirty="0"/>
              <a:t>this example, line 18 of the </a:t>
            </a:r>
            <a:r>
              <a:rPr lang="en-US" sz="3200" dirty="0">
                <a:latin typeface="Consolas" panose="020B0609020204030204" pitchFamily="49" charset="0"/>
              </a:rPr>
              <a:t>Main</a:t>
            </a:r>
            <a:r>
              <a:rPr lang="en-US" sz="3200" dirty="0"/>
              <a:t> </a:t>
            </a:r>
            <a:r>
              <a:rPr lang="en-US" sz="3200" dirty="0" smtClean="0"/>
              <a:t>method.</a:t>
            </a:r>
            <a:r>
              <a:rPr lang="en-US" sz="3200" b="1" dirty="0" smtClean="0"/>
              <a:t> </a:t>
            </a:r>
            <a:endParaRPr 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4.3.4 </a:t>
            </a:r>
            <a:r>
              <a:rPr lang="en-US" dirty="0" err="1">
                <a:latin typeface="Consolas" panose="020B0609020204030204" pitchFamily="49" charset="0"/>
              </a:rPr>
              <a:t>SetName</a:t>
            </a:r>
            <a:r>
              <a:rPr lang="en-US" dirty="0"/>
              <a:t> </a:t>
            </a:r>
            <a:r>
              <a:rPr lang="en-US" dirty="0" smtClean="0"/>
              <a:t>Method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052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 smtClean="0"/>
              <a:t>Parameters</a:t>
            </a:r>
            <a:r>
              <a:rPr lang="en-US" sz="3200" dirty="0" smtClean="0"/>
              <a:t> represent </a:t>
            </a:r>
            <a:r>
              <a:rPr lang="en-US" sz="3200" dirty="0"/>
              <a:t>the data it needs to perform its task. </a:t>
            </a:r>
          </a:p>
          <a:p>
            <a:r>
              <a:rPr lang="en-US" sz="3200" dirty="0"/>
              <a:t>Method </a:t>
            </a:r>
            <a:r>
              <a:rPr lang="en-US" sz="3200" b="1" i="1" dirty="0" err="1">
                <a:latin typeface="Consolas" panose="020B0609020204030204" pitchFamily="49" charset="0"/>
              </a:rPr>
              <a:t>SetName</a:t>
            </a:r>
            <a:r>
              <a:rPr lang="en-US" sz="3200" dirty="0"/>
              <a:t> declares the </a:t>
            </a:r>
            <a:r>
              <a:rPr lang="en-US" sz="3200" dirty="0">
                <a:latin typeface="Consolas" panose="020B0609020204030204" pitchFamily="49" charset="0"/>
              </a:rPr>
              <a:t>string</a:t>
            </a:r>
            <a:r>
              <a:rPr lang="en-US" sz="3200" dirty="0"/>
              <a:t> parameter </a:t>
            </a:r>
            <a:r>
              <a:rPr lang="en-US" sz="3200" dirty="0" err="1" smtClean="0">
                <a:latin typeface="Consolas" panose="020B0609020204030204" pitchFamily="49" charset="0"/>
              </a:rPr>
              <a:t>accountName</a:t>
            </a:r>
            <a:r>
              <a:rPr lang="en-US" sz="3200" dirty="0" smtClean="0"/>
              <a:t> which receives </a:t>
            </a:r>
            <a:r>
              <a:rPr lang="en-US" sz="3200" dirty="0"/>
              <a:t>the name that’s passed to </a:t>
            </a:r>
            <a:r>
              <a:rPr lang="en-US" sz="3200" dirty="0" err="1">
                <a:latin typeface="Consolas" panose="020B0609020204030204" pitchFamily="49" charset="0"/>
              </a:rPr>
              <a:t>SetName</a:t>
            </a:r>
            <a:r>
              <a:rPr lang="en-US" sz="3200" dirty="0"/>
              <a:t> as an argument. </a:t>
            </a:r>
            <a:endParaRPr lang="en-US" sz="3200" dirty="0" smtClean="0"/>
          </a:p>
          <a:p>
            <a:r>
              <a:rPr lang="en-US" sz="3200" dirty="0" smtClean="0"/>
              <a:t>When </a:t>
            </a:r>
            <a:r>
              <a:rPr lang="en-US" sz="3200" dirty="0" err="1" smtClean="0">
                <a:latin typeface="Consolas" panose="020B0609020204030204" pitchFamily="49" charset="0"/>
              </a:rPr>
              <a:t>SetName</a:t>
            </a:r>
            <a:r>
              <a:rPr lang="en-US" sz="3200" dirty="0" smtClean="0"/>
              <a:t> is called the </a:t>
            </a:r>
            <a:r>
              <a:rPr lang="en-US" sz="3200" i="1" dirty="0"/>
              <a:t>argument</a:t>
            </a:r>
            <a:r>
              <a:rPr lang="en-US" sz="3200" dirty="0"/>
              <a:t> </a:t>
            </a:r>
            <a:r>
              <a:rPr lang="en-US" sz="3200" i="1" dirty="0"/>
              <a:t>value</a:t>
            </a:r>
            <a:r>
              <a:rPr lang="en-US" sz="3200" dirty="0"/>
              <a:t> in the call’s parentheses </a:t>
            </a:r>
            <a:r>
              <a:rPr lang="en-US" sz="3200" dirty="0" smtClean="0"/>
              <a:t>is </a:t>
            </a:r>
            <a:r>
              <a:rPr lang="en-US" sz="3200" dirty="0"/>
              <a:t>copied into the corresponding </a:t>
            </a:r>
            <a:r>
              <a:rPr lang="en-US" sz="3200" i="1" dirty="0"/>
              <a:t>parameter</a:t>
            </a:r>
            <a:r>
              <a:rPr lang="en-US" sz="3200" dirty="0"/>
              <a:t> (</a:t>
            </a:r>
            <a:r>
              <a:rPr lang="en-US" sz="3200" dirty="0" err="1">
                <a:latin typeface="Consolas" panose="020B0609020204030204" pitchFamily="49" charset="0"/>
              </a:rPr>
              <a:t>accountName</a:t>
            </a:r>
            <a:r>
              <a:rPr lang="en-US" sz="3200" dirty="0"/>
              <a:t>) in the method’s </a:t>
            </a:r>
            <a:r>
              <a:rPr lang="en-US" sz="3200" dirty="0" smtClean="0"/>
              <a:t>header.</a:t>
            </a:r>
            <a:endParaRPr 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4.3.4 </a:t>
            </a:r>
            <a:r>
              <a:rPr lang="en-US" dirty="0" err="1">
                <a:latin typeface="Consolas" panose="020B0609020204030204" pitchFamily="49" charset="0"/>
              </a:rPr>
              <a:t>SetName</a:t>
            </a:r>
            <a:r>
              <a:rPr lang="en-US" dirty="0"/>
              <a:t> </a:t>
            </a:r>
            <a:r>
              <a:rPr lang="en-US" dirty="0" smtClean="0"/>
              <a:t>Method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636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Parameters like </a:t>
            </a:r>
            <a:r>
              <a:rPr lang="en-US" sz="2800" dirty="0" err="1">
                <a:latin typeface="Consolas" panose="020B0609020204030204" pitchFamily="49" charset="0"/>
              </a:rPr>
              <a:t>accountName</a:t>
            </a:r>
            <a:r>
              <a:rPr lang="en-US" sz="2800" dirty="0"/>
              <a:t> are declared in a </a:t>
            </a:r>
            <a:r>
              <a:rPr lang="en-US" sz="2800" b="1" dirty="0"/>
              <a:t>parameter list</a:t>
            </a:r>
            <a:r>
              <a:rPr lang="en-US" sz="2800" dirty="0"/>
              <a:t> located in the </a:t>
            </a:r>
            <a:r>
              <a:rPr lang="en-US" sz="2800" i="1" dirty="0"/>
              <a:t>required</a:t>
            </a:r>
            <a:r>
              <a:rPr lang="en-US" sz="2800" dirty="0"/>
              <a:t> parentheses following the method’s name. </a:t>
            </a:r>
            <a:endParaRPr lang="en-US" sz="2800" dirty="0" smtClean="0"/>
          </a:p>
          <a:p>
            <a:r>
              <a:rPr lang="en-US" sz="2800" dirty="0" smtClean="0"/>
              <a:t>Each </a:t>
            </a:r>
            <a:r>
              <a:rPr lang="en-US" sz="2800" dirty="0"/>
              <a:t>parameter </a:t>
            </a:r>
            <a:r>
              <a:rPr lang="en-US" sz="2800" i="1" dirty="0"/>
              <a:t>must</a:t>
            </a:r>
            <a:r>
              <a:rPr lang="en-US" sz="2800" dirty="0"/>
              <a:t> specify a type </a:t>
            </a:r>
            <a:r>
              <a:rPr lang="en-US" sz="2800" dirty="0" smtClean="0"/>
              <a:t>followed </a:t>
            </a:r>
            <a:r>
              <a:rPr lang="en-US" sz="2800" dirty="0"/>
              <a:t>by a parameter </a:t>
            </a:r>
            <a:r>
              <a:rPr lang="en-US" sz="2800" dirty="0" smtClean="0"/>
              <a:t>name. </a:t>
            </a:r>
          </a:p>
          <a:p>
            <a:r>
              <a:rPr lang="en-US" sz="2800" dirty="0" smtClean="0"/>
              <a:t>When </a:t>
            </a:r>
            <a:r>
              <a:rPr lang="en-US" sz="2800" dirty="0"/>
              <a:t>there are multiple parameters, they are placed in a </a:t>
            </a:r>
            <a:r>
              <a:rPr lang="en-US" sz="2800" b="1" dirty="0"/>
              <a:t>comma-separated </a:t>
            </a:r>
            <a:r>
              <a:rPr lang="en-US" sz="2800" b="1" dirty="0" smtClean="0"/>
              <a:t>list</a:t>
            </a:r>
            <a:r>
              <a:rPr lang="en-US" sz="2800" dirty="0"/>
              <a:t>.	</a:t>
            </a:r>
          </a:p>
          <a:p>
            <a:r>
              <a:rPr lang="en-US" sz="2800" dirty="0"/>
              <a:t>The number and order of </a:t>
            </a:r>
            <a:r>
              <a:rPr lang="en-US" sz="2800" i="1" dirty="0"/>
              <a:t>arguments</a:t>
            </a:r>
            <a:r>
              <a:rPr lang="en-US" sz="2800" dirty="0"/>
              <a:t> in a method call </a:t>
            </a:r>
            <a:r>
              <a:rPr lang="en-US" sz="2800" i="1" dirty="0"/>
              <a:t>must match</a:t>
            </a:r>
            <a:r>
              <a:rPr lang="en-US" sz="2800" dirty="0"/>
              <a:t> the number and order of </a:t>
            </a:r>
            <a:r>
              <a:rPr lang="en-US" sz="2800" i="1" dirty="0"/>
              <a:t>parameters</a:t>
            </a:r>
            <a:r>
              <a:rPr lang="en-US" sz="2800" dirty="0"/>
              <a:t> in the method declaration’s parameter list.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4.3.4 </a:t>
            </a:r>
            <a:r>
              <a:rPr lang="en-US" dirty="0" err="1">
                <a:latin typeface="Consolas" panose="020B0609020204030204" pitchFamily="49" charset="0"/>
              </a:rPr>
              <a:t>SetName</a:t>
            </a:r>
            <a:r>
              <a:rPr lang="en-US" dirty="0"/>
              <a:t> </a:t>
            </a:r>
            <a:r>
              <a:rPr lang="en-US" dirty="0" smtClean="0"/>
              <a:t>Method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6305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Every method body is delimited by an opening left brace and a closing right brace. </a:t>
            </a:r>
          </a:p>
          <a:p>
            <a:r>
              <a:rPr lang="en-US" sz="3200" dirty="0"/>
              <a:t>Within the braces are one or more statements that perform the method’s task(s). </a:t>
            </a:r>
          </a:p>
          <a:p>
            <a:r>
              <a:rPr lang="en-US" sz="3200" dirty="0"/>
              <a:t>When program execution reaches the method’s closing brace, the method returns to its </a:t>
            </a:r>
            <a:r>
              <a:rPr lang="en-US" sz="3200" i="1" dirty="0"/>
              <a:t>caller</a:t>
            </a:r>
            <a:r>
              <a:rPr lang="en-US" sz="3200" dirty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4.3.4 </a:t>
            </a:r>
            <a:r>
              <a:rPr lang="en-US" dirty="0" err="1">
                <a:latin typeface="Consolas" panose="020B0609020204030204" pitchFamily="49" charset="0"/>
              </a:rPr>
              <a:t>SetName</a:t>
            </a:r>
            <a:r>
              <a:rPr lang="en-US" dirty="0"/>
              <a:t> </a:t>
            </a:r>
            <a:r>
              <a:rPr lang="en-US" dirty="0" smtClean="0"/>
              <a:t>Method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9452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Variables </a:t>
            </a:r>
            <a:r>
              <a:rPr lang="en-US" sz="3200" dirty="0"/>
              <a:t>declared in a particular method’s body (such as </a:t>
            </a:r>
            <a:r>
              <a:rPr lang="en-US" sz="3200" dirty="0">
                <a:latin typeface="Consolas" panose="020B0609020204030204" pitchFamily="49" charset="0"/>
              </a:rPr>
              <a:t>Main</a:t>
            </a:r>
            <a:r>
              <a:rPr lang="en-US" sz="3200" dirty="0"/>
              <a:t>) are </a:t>
            </a:r>
            <a:r>
              <a:rPr lang="en-US" sz="3200" b="1" dirty="0"/>
              <a:t>local variables</a:t>
            </a:r>
            <a:r>
              <a:rPr lang="en-US" sz="3200" dirty="0"/>
              <a:t> which can be used </a:t>
            </a:r>
            <a:r>
              <a:rPr lang="en-US" sz="3200" i="1" dirty="0"/>
              <a:t>only</a:t>
            </a:r>
            <a:r>
              <a:rPr lang="en-US" sz="3200" dirty="0"/>
              <a:t> in that method. </a:t>
            </a:r>
            <a:endParaRPr lang="en-US" sz="3200" dirty="0" smtClean="0"/>
          </a:p>
          <a:p>
            <a:r>
              <a:rPr lang="en-US" sz="3200" dirty="0" smtClean="0"/>
              <a:t>Each </a:t>
            </a:r>
            <a:r>
              <a:rPr lang="en-US" sz="3200" dirty="0"/>
              <a:t>method can access only its own local variables, not those of other methods. </a:t>
            </a:r>
            <a:endParaRPr lang="en-US" sz="3200" dirty="0" smtClean="0"/>
          </a:p>
          <a:p>
            <a:r>
              <a:rPr lang="en-US" sz="3200" dirty="0" smtClean="0"/>
              <a:t>When </a:t>
            </a:r>
            <a:r>
              <a:rPr lang="en-US" sz="3200" dirty="0"/>
              <a:t>a method terminates, the values of its local variables are lost. A method’s parameters also are local variables of the method.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4.3.4 </a:t>
            </a:r>
            <a:r>
              <a:rPr lang="en-US" dirty="0" err="1">
                <a:latin typeface="Consolas" panose="020B0609020204030204" pitchFamily="49" charset="0"/>
              </a:rPr>
              <a:t>SetName</a:t>
            </a:r>
            <a:r>
              <a:rPr lang="en-US" dirty="0"/>
              <a:t> </a:t>
            </a:r>
            <a:r>
              <a:rPr lang="en-US" dirty="0" smtClean="0"/>
              <a:t>Method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2376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A method that has </a:t>
            </a:r>
            <a:r>
              <a:rPr lang="en-US" sz="3200" dirty="0"/>
              <a:t>an empty parameter </a:t>
            </a:r>
            <a:r>
              <a:rPr lang="en-US" sz="3200" dirty="0" smtClean="0"/>
              <a:t>list does </a:t>
            </a:r>
            <a:r>
              <a:rPr lang="en-US" sz="3200" dirty="0"/>
              <a:t>not require additional information to perform its task. </a:t>
            </a:r>
            <a:endParaRPr lang="en-US" sz="3200" dirty="0" smtClean="0"/>
          </a:p>
          <a:p>
            <a:r>
              <a:rPr lang="en-US" sz="3200" dirty="0" smtClean="0"/>
              <a:t>When </a:t>
            </a:r>
            <a:r>
              <a:rPr lang="en-US" sz="3200" dirty="0"/>
              <a:t>a method with a return type other than </a:t>
            </a:r>
            <a:r>
              <a:rPr lang="en-US" sz="3200" dirty="0">
                <a:latin typeface="Consolas" panose="020B0609020204030204" pitchFamily="49" charset="0"/>
              </a:rPr>
              <a:t>void</a:t>
            </a:r>
            <a:r>
              <a:rPr lang="en-US" sz="3200" dirty="0"/>
              <a:t> is called and completes its task, it </a:t>
            </a:r>
            <a:r>
              <a:rPr lang="en-US" sz="3200" i="1" dirty="0"/>
              <a:t>must</a:t>
            </a:r>
            <a:r>
              <a:rPr lang="en-US" sz="3200" dirty="0"/>
              <a:t> return a result to its caller. </a:t>
            </a:r>
            <a:endParaRPr lang="en-US" sz="3200" dirty="0" smtClean="0"/>
          </a:p>
          <a:p>
            <a:r>
              <a:rPr lang="en-US" sz="3200" dirty="0" smtClean="0"/>
              <a:t>The </a:t>
            </a:r>
            <a:r>
              <a:rPr lang="en-US" sz="3200" b="1" dirty="0"/>
              <a:t>return</a:t>
            </a:r>
            <a:r>
              <a:rPr lang="en-US" sz="3200" dirty="0"/>
              <a:t> </a:t>
            </a:r>
            <a:r>
              <a:rPr lang="en-US" sz="3200" dirty="0" smtClean="0"/>
              <a:t>statement</a:t>
            </a:r>
            <a:r>
              <a:rPr lang="en-US" sz="3200" dirty="0"/>
              <a:t> </a:t>
            </a:r>
            <a:r>
              <a:rPr lang="en-US" sz="3200" dirty="0" smtClean="0"/>
              <a:t>passes the value of its expression back </a:t>
            </a:r>
            <a:r>
              <a:rPr lang="en-US" sz="3200" dirty="0"/>
              <a:t>to the caller, which can then use the returned value.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4.3.5 </a:t>
            </a:r>
            <a:r>
              <a:rPr lang="en-US" dirty="0" err="1">
                <a:latin typeface="Consolas" panose="020B0609020204030204" pitchFamily="49" charset="0"/>
              </a:rPr>
              <a:t>G</a:t>
            </a:r>
            <a:r>
              <a:rPr lang="en-US" dirty="0" err="1" smtClean="0">
                <a:latin typeface="Consolas" panose="020B0609020204030204" pitchFamily="49" charset="0"/>
              </a:rPr>
              <a:t>etName</a:t>
            </a:r>
            <a:r>
              <a:rPr lang="en-US" dirty="0" smtClean="0"/>
              <a:t> Method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631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The keyword </a:t>
            </a:r>
            <a:r>
              <a:rPr lang="en-US" sz="3200" dirty="0" smtClean="0">
                <a:latin typeface="Consolas" panose="020B0609020204030204" pitchFamily="49" charset="0"/>
              </a:rPr>
              <a:t>private</a:t>
            </a:r>
            <a:r>
              <a:rPr lang="en-US" sz="3200" dirty="0" smtClean="0"/>
              <a:t> is </a:t>
            </a:r>
            <a:r>
              <a:rPr lang="en-US" sz="3200" dirty="0"/>
              <a:t>an access modifier. </a:t>
            </a:r>
            <a:endParaRPr lang="en-US" sz="3200" dirty="0" smtClean="0"/>
          </a:p>
          <a:p>
            <a:r>
              <a:rPr lang="en-US" sz="3200" dirty="0" smtClean="0"/>
              <a:t>Instance </a:t>
            </a:r>
            <a:r>
              <a:rPr lang="en-US" sz="3200" dirty="0"/>
              <a:t>variable </a:t>
            </a:r>
            <a:r>
              <a:rPr lang="en-US" sz="3200" dirty="0">
                <a:latin typeface="Consolas" panose="020B0609020204030204" pitchFamily="49" charset="0"/>
              </a:rPr>
              <a:t>name</a:t>
            </a:r>
            <a:r>
              <a:rPr lang="en-US" sz="3200" dirty="0"/>
              <a:t> is </a:t>
            </a:r>
            <a:r>
              <a:rPr lang="en-US" sz="3200" dirty="0">
                <a:latin typeface="Consolas" panose="020B0609020204030204" pitchFamily="49" charset="0"/>
              </a:rPr>
              <a:t>private</a:t>
            </a:r>
            <a:r>
              <a:rPr lang="en-US" sz="3200" dirty="0"/>
              <a:t> to indicate that </a:t>
            </a:r>
            <a:r>
              <a:rPr lang="en-US" sz="3200" dirty="0">
                <a:latin typeface="Consolas" panose="020B0609020204030204" pitchFamily="49" charset="0"/>
              </a:rPr>
              <a:t>name</a:t>
            </a:r>
            <a:r>
              <a:rPr lang="en-US" sz="3200" dirty="0"/>
              <a:t> is accessible only to class </a:t>
            </a:r>
            <a:r>
              <a:rPr lang="en-US" sz="3200" dirty="0">
                <a:latin typeface="Consolas" panose="020B0609020204030204" pitchFamily="49" charset="0"/>
              </a:rPr>
              <a:t>Account</a:t>
            </a:r>
            <a:r>
              <a:rPr lang="en-US" sz="3200" dirty="0"/>
              <a:t>’s methods </a:t>
            </a:r>
            <a:endParaRPr lang="en-US" sz="3200" dirty="0" smtClean="0"/>
          </a:p>
          <a:p>
            <a:pPr lvl="1"/>
            <a:r>
              <a:rPr lang="en-US" sz="2800" dirty="0" smtClean="0"/>
              <a:t>and </a:t>
            </a:r>
            <a:r>
              <a:rPr lang="en-US" sz="2800" dirty="0"/>
              <a:t>other members, like properties, as you’ll see in subsequent </a:t>
            </a:r>
            <a:r>
              <a:rPr lang="en-US" sz="2800" dirty="0" smtClean="0"/>
              <a:t>examples </a:t>
            </a:r>
          </a:p>
          <a:p>
            <a:r>
              <a:rPr lang="en-US" sz="3200" dirty="0" smtClean="0"/>
              <a:t>This </a:t>
            </a:r>
            <a:r>
              <a:rPr lang="en-US" sz="3200" dirty="0"/>
              <a:t>is known as </a:t>
            </a:r>
            <a:r>
              <a:rPr lang="en-US" sz="3200" b="1" dirty="0"/>
              <a:t>information </a:t>
            </a:r>
            <a:r>
              <a:rPr lang="en-US" sz="3200" b="1" dirty="0" smtClean="0"/>
              <a:t>hiding</a:t>
            </a:r>
            <a:r>
              <a:rPr lang="en-US" sz="3200" dirty="0" smtClean="0"/>
              <a:t>. </a:t>
            </a:r>
          </a:p>
          <a:p>
            <a:r>
              <a:rPr lang="en-US" sz="3200" dirty="0" smtClean="0"/>
              <a:t>Most </a:t>
            </a:r>
            <a:r>
              <a:rPr lang="en-US" sz="3200" dirty="0"/>
              <a:t>instance variables are declared </a:t>
            </a:r>
            <a:r>
              <a:rPr lang="en-US" sz="3200" b="1" i="1" dirty="0" smtClean="0">
                <a:solidFill>
                  <a:srgbClr val="663300"/>
                </a:solidFill>
                <a:latin typeface="Consolas" panose="020B0609020204030204" pitchFamily="49" charset="0"/>
              </a:rPr>
              <a:t>private</a:t>
            </a:r>
            <a:r>
              <a:rPr lang="en-US" sz="3200" dirty="0" smtClean="0"/>
              <a:t>. </a:t>
            </a:r>
            <a:endParaRPr 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4.3.6 </a:t>
            </a:r>
            <a:r>
              <a:rPr lang="en-US" dirty="0"/>
              <a:t>Access Modifiers </a:t>
            </a:r>
            <a:r>
              <a:rPr lang="en-US" dirty="0">
                <a:latin typeface="Consolas" panose="020B0609020204030204" pitchFamily="49" charset="0"/>
              </a:rPr>
              <a:t>private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public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151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Methods </a:t>
            </a:r>
            <a:r>
              <a:rPr lang="en-US" sz="2800" dirty="0"/>
              <a:t>(and other class members) that are declared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/>
              <a:t>are “available to the public.” </a:t>
            </a:r>
            <a:endParaRPr lang="en-US" sz="2800" dirty="0" smtClean="0"/>
          </a:p>
          <a:p>
            <a:r>
              <a:rPr lang="en-US" sz="2800" dirty="0" smtClean="0"/>
              <a:t>They </a:t>
            </a:r>
            <a:r>
              <a:rPr lang="en-US" sz="2800" dirty="0"/>
              <a:t>can be used </a:t>
            </a:r>
            <a:endParaRPr lang="en-US" sz="2800" dirty="0" smtClean="0"/>
          </a:p>
          <a:p>
            <a:pPr lvl="1"/>
            <a:r>
              <a:rPr lang="en-US" sz="2400" dirty="0" smtClean="0"/>
              <a:t>by </a:t>
            </a:r>
            <a:r>
              <a:rPr lang="en-US" sz="2400" dirty="0"/>
              <a:t>methods (and other members) of the class in which they’re declared, </a:t>
            </a:r>
            <a:r>
              <a:rPr lang="en-US" sz="2400" dirty="0" smtClean="0"/>
              <a:t>and</a:t>
            </a:r>
          </a:p>
          <a:p>
            <a:pPr lvl="1"/>
            <a:r>
              <a:rPr lang="en-US" sz="2400" dirty="0" smtClean="0"/>
              <a:t>by </a:t>
            </a:r>
            <a:r>
              <a:rPr lang="en-US" sz="2400" dirty="0"/>
              <a:t>the class’s </a:t>
            </a:r>
            <a:r>
              <a:rPr lang="en-US" sz="2400" dirty="0" smtClean="0"/>
              <a:t>clients. </a:t>
            </a:r>
            <a:endParaRPr lang="en-US" sz="2400" dirty="0"/>
          </a:p>
          <a:p>
            <a:r>
              <a:rPr lang="en-US" sz="2800" dirty="0"/>
              <a:t>In Chapter 11, we’ll introduce the </a:t>
            </a:r>
            <a:r>
              <a:rPr lang="en-US" sz="2800" b="1" dirty="0">
                <a:latin typeface="Consolas" panose="020B0609020204030204" pitchFamily="49" charset="0"/>
              </a:rPr>
              <a:t>protected</a:t>
            </a:r>
            <a:r>
              <a:rPr lang="en-US" sz="2800" dirty="0"/>
              <a:t> access modifier.</a:t>
            </a:r>
          </a:p>
          <a:p>
            <a:r>
              <a:rPr lang="en-US" sz="2800" dirty="0" smtClean="0"/>
              <a:t>By </a:t>
            </a:r>
            <a:r>
              <a:rPr lang="en-US" sz="2800" dirty="0"/>
              <a:t>default, everything in a class is </a:t>
            </a:r>
            <a:r>
              <a:rPr lang="en-US" sz="2800" b="1" dirty="0">
                <a:latin typeface="Consolas" panose="020B0609020204030204" pitchFamily="49" charset="0"/>
              </a:rPr>
              <a:t>private</a:t>
            </a:r>
            <a:r>
              <a:rPr lang="en-US" sz="2800" dirty="0"/>
              <a:t>, unless you specify otherwise by providing access modifiers.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4.3.6 </a:t>
            </a:r>
            <a:r>
              <a:rPr lang="en-US" dirty="0"/>
              <a:t>Access Modifiers </a:t>
            </a:r>
            <a:r>
              <a:rPr lang="en-US" dirty="0">
                <a:solidFill>
                  <a:srgbClr val="663300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663300"/>
                </a:solidFill>
              </a:rPr>
              <a:t> </a:t>
            </a:r>
            <a:r>
              <a:rPr lang="en-US" dirty="0"/>
              <a:t>and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4723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1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9638"/>
            <a:ext cx="12192000" cy="50371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7974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1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938"/>
            <a:ext cx="12192000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2321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UML </a:t>
            </a:r>
            <a:r>
              <a:rPr lang="en-US" dirty="0"/>
              <a:t>diagrams help systems designers specify systems in a concise, graphical, programming-language-independent manner, before programmers implement the systems in specific programming languages. 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4.3.7 </a:t>
            </a:r>
            <a:r>
              <a:rPr lang="en-US" dirty="0" smtClean="0">
                <a:latin typeface="Consolas" panose="020B0609020204030204" pitchFamily="49" charset="0"/>
              </a:rPr>
              <a:t>Account</a:t>
            </a:r>
            <a:r>
              <a:rPr lang="en-US" dirty="0" smtClean="0"/>
              <a:t> UML </a:t>
            </a:r>
            <a:r>
              <a:rPr lang="en-US" dirty="0"/>
              <a:t>Class Diagram 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4242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the UML, each class is modeled in a </a:t>
            </a:r>
            <a:r>
              <a:rPr lang="en-US" b="1" dirty="0" smtClean="0"/>
              <a:t>class diagram </a:t>
            </a:r>
            <a:r>
              <a:rPr lang="en-US" dirty="0" smtClean="0"/>
              <a:t>as a rectangle with three compartments. </a:t>
            </a:r>
          </a:p>
          <a:p>
            <a:r>
              <a:rPr lang="en-US" dirty="0" smtClean="0"/>
              <a:t>The top compartment contains the </a:t>
            </a:r>
            <a:r>
              <a:rPr lang="en-US" i="1" u="sng" dirty="0" smtClean="0"/>
              <a:t>class name</a:t>
            </a:r>
            <a:r>
              <a:rPr lang="en-US" u="sng" dirty="0" smtClean="0"/>
              <a:t> </a:t>
            </a:r>
            <a:r>
              <a:rPr lang="en-US" b="1" i="1" dirty="0" smtClean="0"/>
              <a:t>centered horizontally in boldface type.</a:t>
            </a:r>
          </a:p>
          <a:p>
            <a:r>
              <a:rPr lang="en-US" dirty="0" smtClean="0"/>
              <a:t>The middle compartment contains the class’s attribute names, which correspond to the instance variables of the same names in C#. </a:t>
            </a:r>
          </a:p>
          <a:p>
            <a:r>
              <a:rPr lang="en-US" dirty="0" smtClean="0">
                <a:latin typeface="Consolas" panose="020B0609020204030204" pitchFamily="49" charset="0"/>
              </a:rPr>
              <a:t>private</a:t>
            </a:r>
            <a:r>
              <a:rPr lang="en-US" dirty="0" smtClean="0"/>
              <a:t> in C# is represented in the UML as a </a:t>
            </a:r>
            <a:r>
              <a:rPr lang="en-US" i="1" dirty="0" smtClean="0"/>
              <a:t>minus sign (–) UML access modifier</a:t>
            </a:r>
            <a:r>
              <a:rPr lang="en-US" dirty="0" smtClean="0"/>
              <a:t>. </a:t>
            </a:r>
          </a:p>
          <a:p>
            <a:r>
              <a:rPr lang="en-US" dirty="0" smtClean="0"/>
              <a:t>Following an attribute’s name are a </a:t>
            </a:r>
            <a:r>
              <a:rPr lang="en-US" b="1" i="1" dirty="0" smtClean="0"/>
              <a:t>colon</a:t>
            </a:r>
            <a:r>
              <a:rPr lang="en-US" dirty="0" smtClean="0"/>
              <a:t> and the </a:t>
            </a:r>
            <a:r>
              <a:rPr lang="en-US" b="1" i="1" dirty="0" smtClean="0"/>
              <a:t>attribute type</a:t>
            </a:r>
            <a:r>
              <a:rPr lang="en-US" b="1" dirty="0" smtClean="0"/>
              <a:t>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4.3.7 </a:t>
            </a:r>
            <a:r>
              <a:rPr lang="en-US" dirty="0" smtClean="0">
                <a:latin typeface="Consolas" panose="020B0609020204030204" pitchFamily="49" charset="0"/>
              </a:rPr>
              <a:t>Account</a:t>
            </a:r>
            <a:r>
              <a:rPr lang="en-US" dirty="0" smtClean="0"/>
              <a:t> UML </a:t>
            </a:r>
            <a:r>
              <a:rPr lang="en-US" dirty="0"/>
              <a:t>Class Diagram 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6254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bottom compartment contains the class’s </a:t>
            </a:r>
            <a:r>
              <a:rPr lang="en-US" b="1" dirty="0" smtClean="0"/>
              <a:t>operations</a:t>
            </a:r>
            <a:r>
              <a:rPr lang="en-US" dirty="0" smtClean="0"/>
              <a:t>, </a:t>
            </a:r>
            <a:r>
              <a:rPr lang="en-US" dirty="0"/>
              <a:t>which correspond to the methods of the same names in C#.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b="1" dirty="0"/>
              <a:t>UML models operations </a:t>
            </a:r>
            <a:r>
              <a:rPr lang="en-US" dirty="0"/>
              <a:t>by listing the </a:t>
            </a:r>
            <a:r>
              <a:rPr lang="en-US" b="1" dirty="0"/>
              <a:t>operation name preceded </a:t>
            </a:r>
            <a:r>
              <a:rPr lang="en-US" dirty="0"/>
              <a:t>by a </a:t>
            </a:r>
            <a:r>
              <a:rPr lang="en-US" b="1" dirty="0"/>
              <a:t>UML access modifier</a:t>
            </a:r>
            <a:r>
              <a:rPr lang="en-US" dirty="0"/>
              <a:t>, for example, + </a:t>
            </a:r>
            <a:r>
              <a:rPr lang="en-US" dirty="0" err="1"/>
              <a:t>SetName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plus sign (+) indicates that </a:t>
            </a:r>
            <a:r>
              <a:rPr lang="en-US" dirty="0" err="1"/>
              <a:t>SetName</a:t>
            </a:r>
            <a:r>
              <a:rPr lang="en-US" dirty="0"/>
              <a:t> is a </a:t>
            </a:r>
            <a:r>
              <a:rPr lang="en-US" dirty="0">
                <a:latin typeface="Consolas" panose="020B0609020204030204" pitchFamily="49" charset="0"/>
              </a:rPr>
              <a:t>public</a:t>
            </a:r>
            <a:r>
              <a:rPr lang="en-US" dirty="0"/>
              <a:t> operation in the UML (because it’s a </a:t>
            </a:r>
            <a:r>
              <a:rPr lang="en-US" dirty="0">
                <a:latin typeface="Consolas" panose="020B0609020204030204" pitchFamily="49" charset="0"/>
              </a:rPr>
              <a:t>public</a:t>
            </a:r>
            <a:r>
              <a:rPr lang="en-US" dirty="0"/>
              <a:t> method in C#).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4.3.7 </a:t>
            </a:r>
            <a:r>
              <a:rPr lang="en-US" dirty="0" smtClean="0">
                <a:latin typeface="Consolas" panose="020B0609020204030204" pitchFamily="49" charset="0"/>
              </a:rPr>
              <a:t>Account</a:t>
            </a:r>
            <a:r>
              <a:rPr lang="en-US" dirty="0" smtClean="0"/>
              <a:t> UML </a:t>
            </a:r>
            <a:r>
              <a:rPr lang="en-US" dirty="0"/>
              <a:t>Class Diagram 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642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UML indicates an operation’s return type by placing a colon and the return type </a:t>
            </a:r>
            <a:r>
              <a:rPr lang="en-US" i="1" dirty="0"/>
              <a:t>after</a:t>
            </a:r>
            <a:r>
              <a:rPr lang="en-US" dirty="0"/>
              <a:t> the parentheses following the operation name. </a:t>
            </a:r>
            <a:endParaRPr lang="en-US" dirty="0" smtClean="0"/>
          </a:p>
          <a:p>
            <a:r>
              <a:rPr lang="en-US" dirty="0" smtClean="0"/>
              <a:t>Method </a:t>
            </a:r>
            <a:r>
              <a:rPr lang="en-US" dirty="0" err="1"/>
              <a:t>SetName</a:t>
            </a:r>
            <a:r>
              <a:rPr lang="en-US" dirty="0"/>
              <a:t> does not return a value (because it returns void in C#), so the UML class diagram does not specify a return type after the parentheses of this operation.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UML has its own data types similar to those of C#—for simplicity, we use the C# types.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4.3.7 </a:t>
            </a:r>
            <a:r>
              <a:rPr lang="en-US" dirty="0" smtClean="0">
                <a:latin typeface="Consolas" panose="020B0609020204030204" pitchFamily="49" charset="0"/>
              </a:rPr>
              <a:t>Account</a:t>
            </a:r>
            <a:r>
              <a:rPr lang="en-US" dirty="0" smtClean="0"/>
              <a:t> UML </a:t>
            </a:r>
            <a:r>
              <a:rPr lang="en-US" dirty="0"/>
              <a:t>Class Diagram 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1246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UML models a parameter by listing the parameter name, followed by a colon and the parameter type in the </a:t>
            </a:r>
            <a:r>
              <a:rPr lang="en-US" dirty="0" smtClean="0"/>
              <a:t>parentheses </a:t>
            </a:r>
            <a:r>
              <a:rPr lang="en-US" dirty="0"/>
              <a:t>after the operation name.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4.3.7 </a:t>
            </a:r>
            <a:r>
              <a:rPr lang="en-US" dirty="0" smtClean="0">
                <a:latin typeface="Consolas" panose="020B0609020204030204" pitchFamily="49" charset="0"/>
              </a:rPr>
              <a:t>Account</a:t>
            </a:r>
            <a:r>
              <a:rPr lang="en-US" dirty="0" smtClean="0"/>
              <a:t> UML </a:t>
            </a:r>
            <a:r>
              <a:rPr lang="en-US" dirty="0"/>
              <a:t>Class Diagram 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6736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1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7138"/>
            <a:ext cx="12192000" cy="44037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1983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must </a:t>
            </a:r>
            <a:r>
              <a:rPr lang="en-US" b="1" i="1" dirty="0">
                <a:solidFill>
                  <a:srgbClr val="0000FF"/>
                </a:solidFill>
              </a:rPr>
              <a:t>compile</a:t>
            </a:r>
            <a:r>
              <a:rPr lang="en-US" dirty="0"/>
              <a:t> the classes in </a:t>
            </a:r>
            <a:r>
              <a:rPr lang="en-US" dirty="0" err="1" smtClean="0"/>
              <a:t>Figw</a:t>
            </a:r>
            <a:r>
              <a:rPr lang="en-US" dirty="0" smtClean="0"/>
              <a:t>. 4.1 and 4.2 before </a:t>
            </a:r>
            <a:r>
              <a:rPr lang="en-US" dirty="0"/>
              <a:t>you can </a:t>
            </a:r>
            <a:r>
              <a:rPr lang="en-US" i="1" dirty="0"/>
              <a:t>execute</a:t>
            </a:r>
            <a:r>
              <a:rPr lang="en-US" dirty="0"/>
              <a:t> the app</a:t>
            </a:r>
            <a:r>
              <a:rPr lang="en-US" dirty="0" smtClean="0"/>
              <a:t>.</a:t>
            </a:r>
          </a:p>
          <a:p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IDE automatically recognizes as the app’s entry point the class that contains </a:t>
            </a:r>
            <a:r>
              <a:rPr lang="en-US" b="1" dirty="0">
                <a:latin typeface="Consolas" panose="020B0609020204030204" pitchFamily="49" charset="0"/>
              </a:rPr>
              <a:t>Main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you select </a:t>
            </a:r>
            <a:r>
              <a:rPr lang="en-US" b="1" dirty="0"/>
              <a:t>Build &gt; Build Solution </a:t>
            </a:r>
            <a:r>
              <a:rPr lang="en-US" dirty="0"/>
              <a:t>in Visual Studio, the IDE compiles all the files in the project to create the executable app.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both classes compile correctly—that is, no compilation errors are displayed—you can then run the app by typing </a:t>
            </a:r>
            <a:r>
              <a:rPr lang="en-US" i="1" dirty="0"/>
              <a:t>Ctrl</a:t>
            </a:r>
            <a:r>
              <a:rPr lang="en-US" dirty="0"/>
              <a:t> + </a:t>
            </a:r>
            <a:r>
              <a:rPr lang="en-US" i="1" dirty="0" smtClean="0"/>
              <a:t>F5</a:t>
            </a:r>
            <a:r>
              <a:rPr lang="en-US" dirty="0" smtClean="0"/>
              <a:t>.</a:t>
            </a:r>
          </a:p>
          <a:p>
            <a:r>
              <a:rPr lang="en-US" dirty="0" smtClean="0"/>
              <a:t>If </a:t>
            </a:r>
            <a:r>
              <a:rPr lang="en-US" dirty="0"/>
              <a:t>you do not build the app before running it, typing </a:t>
            </a:r>
            <a:r>
              <a:rPr lang="en-US" i="1" dirty="0"/>
              <a:t>Ctrl</a:t>
            </a:r>
            <a:r>
              <a:rPr lang="en-US" dirty="0"/>
              <a:t> + </a:t>
            </a:r>
            <a:r>
              <a:rPr lang="en-US" i="1" dirty="0"/>
              <a:t>F5</a:t>
            </a:r>
            <a:r>
              <a:rPr lang="en-US" dirty="0"/>
              <a:t> will build the app first and run the app only if there are no compilation errors. 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4.4 </a:t>
            </a:r>
            <a:r>
              <a:rPr lang="en-US" dirty="0"/>
              <a:t>Creating, Compiling and Running a Visual C# Project with Two </a:t>
            </a:r>
            <a:r>
              <a:rPr lang="en-US" dirty="0" smtClean="0"/>
              <a:t>Classes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067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1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4500"/>
            <a:ext cx="12192000" cy="34274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2945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Set</a:t>
            </a:r>
            <a:r>
              <a:rPr lang="en-US" dirty="0"/>
              <a:t> and </a:t>
            </a:r>
            <a:r>
              <a:rPr lang="en-US" b="1" i="1" dirty="0"/>
              <a:t>Get</a:t>
            </a:r>
            <a:r>
              <a:rPr lang="en-US" dirty="0"/>
              <a:t> methods can </a:t>
            </a:r>
            <a:r>
              <a:rPr lang="en-US" i="1" dirty="0"/>
              <a:t>validate</a:t>
            </a:r>
            <a:r>
              <a:rPr lang="en-US" dirty="0"/>
              <a:t> attempts to modify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data and control how that data is presented to the caller, respectively. 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are compelling software engineering benefits.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an instance variable were </a:t>
            </a:r>
            <a:r>
              <a:rPr lang="en-US" b="1" dirty="0">
                <a:latin typeface="Consolas" panose="020B0609020204030204" pitchFamily="49" charset="0"/>
              </a:rPr>
              <a:t>public</a:t>
            </a:r>
            <a:r>
              <a:rPr lang="en-US" dirty="0"/>
              <a:t>, any client</a:t>
            </a:r>
            <a:r>
              <a:rPr lang="en-US" b="1" dirty="0"/>
              <a:t> </a:t>
            </a:r>
            <a:r>
              <a:rPr lang="en-US" dirty="0"/>
              <a:t>of the class could see the data and modify it, including setting it to an </a:t>
            </a:r>
            <a:r>
              <a:rPr lang="en-US" b="1" i="1" dirty="0">
                <a:solidFill>
                  <a:srgbClr val="C00000"/>
                </a:solidFill>
              </a:rPr>
              <a:t>invalid</a:t>
            </a:r>
            <a:r>
              <a:rPr lang="en-US" b="1" dirty="0">
                <a:solidFill>
                  <a:srgbClr val="C00000"/>
                </a:solidFill>
              </a:rPr>
              <a:t> value. </a:t>
            </a:r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Also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public</a:t>
            </a:r>
            <a:r>
              <a:rPr lang="en-US" dirty="0"/>
              <a:t> data allows client-code programmers to write code that depends on the class’s data format.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the class’s owner changes that format, any client code dependent on it would “break” and would need to be adjusted to the new format, making it subject to break again.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4.5</a:t>
            </a:r>
            <a:r>
              <a:rPr lang="en-US" dirty="0"/>
              <a:t> Software Engineering with </a:t>
            </a:r>
            <a:r>
              <a:rPr lang="en-US" i="1" dirty="0"/>
              <a:t>Set</a:t>
            </a:r>
            <a:r>
              <a:rPr lang="en-US" dirty="0"/>
              <a:t> and </a:t>
            </a:r>
            <a:r>
              <a:rPr lang="en-US" i="1" dirty="0"/>
              <a:t>Get</a:t>
            </a:r>
            <a:r>
              <a:rPr lang="en-US" dirty="0"/>
              <a:t> Methods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7055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C00000"/>
                </a:solidFill>
              </a:rPr>
              <a:t>Set</a:t>
            </a:r>
            <a:r>
              <a:rPr lang="en-US" i="1" dirty="0"/>
              <a:t> </a:t>
            </a:r>
            <a:r>
              <a:rPr lang="en-US" dirty="0"/>
              <a:t>methods can be programmed to </a:t>
            </a:r>
            <a:r>
              <a:rPr lang="en-US" b="1" i="1" dirty="0"/>
              <a:t>validate</a:t>
            </a:r>
            <a:r>
              <a:rPr lang="en-US" dirty="0"/>
              <a:t> their arguments and reject any attempts to </a:t>
            </a:r>
            <a:r>
              <a:rPr lang="en-US" i="1" dirty="0"/>
              <a:t>Set</a:t>
            </a:r>
            <a:r>
              <a:rPr lang="en-US" dirty="0"/>
              <a:t> the data to bad </a:t>
            </a:r>
            <a:r>
              <a:rPr lang="en-US" dirty="0" smtClean="0"/>
              <a:t>values.</a:t>
            </a:r>
          </a:p>
          <a:p>
            <a:r>
              <a:rPr lang="en-US" dirty="0"/>
              <a:t>A </a:t>
            </a:r>
            <a:r>
              <a:rPr lang="en-US" i="1" dirty="0"/>
              <a:t>Get</a:t>
            </a:r>
            <a:r>
              <a:rPr lang="en-US" dirty="0"/>
              <a:t> method </a:t>
            </a:r>
            <a:r>
              <a:rPr lang="en-US" b="1" i="1" dirty="0">
                <a:solidFill>
                  <a:schemeClr val="accent4"/>
                </a:solidFill>
              </a:rPr>
              <a:t>can present the data in a different form</a:t>
            </a:r>
            <a:r>
              <a:rPr lang="en-US" dirty="0"/>
              <a:t>, while the actual data representation remains hidden from the user. </a:t>
            </a:r>
            <a:endParaRPr lang="en-US" dirty="0" smtClean="0"/>
          </a:p>
          <a:p>
            <a:pPr lvl="1"/>
            <a:r>
              <a:rPr lang="en-US" dirty="0" smtClean="0"/>
              <a:t>For </a:t>
            </a:r>
            <a:r>
              <a:rPr lang="en-US" dirty="0"/>
              <a:t>example, a </a:t>
            </a:r>
            <a:r>
              <a:rPr lang="en-US" dirty="0">
                <a:latin typeface="Consolas" panose="020B0609020204030204" pitchFamily="49" charset="0"/>
              </a:rPr>
              <a:t>Grade</a:t>
            </a:r>
            <a:r>
              <a:rPr lang="en-US" dirty="0"/>
              <a:t> class might store a grade instance variable as an </a:t>
            </a:r>
            <a:r>
              <a:rPr lang="en-US" b="1" dirty="0" err="1">
                <a:latin typeface="Consolas" panose="020B0609020204030204" pitchFamily="49" charset="0"/>
              </a:rPr>
              <a:t>int</a:t>
            </a:r>
            <a:r>
              <a:rPr lang="en-US" dirty="0"/>
              <a:t> between 0 and 100, but a </a:t>
            </a:r>
            <a:r>
              <a:rPr lang="en-US" b="1" dirty="0" err="1">
                <a:latin typeface="Consolas" panose="020B0609020204030204" pitchFamily="49" charset="0"/>
              </a:rPr>
              <a:t>GetGrade</a:t>
            </a:r>
            <a:r>
              <a:rPr lang="en-US" dirty="0"/>
              <a:t> method might return a letter grade as a string, such as "A" for grades between 90 and 100, "B" for grades between 80 and 89, </a:t>
            </a:r>
            <a:r>
              <a:rPr lang="en-US" dirty="0" smtClean="0"/>
              <a:t>…</a:t>
            </a:r>
          </a:p>
          <a:p>
            <a:r>
              <a:rPr lang="en-US" dirty="0" smtClean="0"/>
              <a:t>Tightly </a:t>
            </a:r>
            <a:r>
              <a:rPr lang="en-US" dirty="0"/>
              <a:t>controlling the </a:t>
            </a:r>
            <a:r>
              <a:rPr lang="en-US" b="1" i="1" dirty="0"/>
              <a:t>access</a:t>
            </a:r>
            <a:r>
              <a:rPr lang="en-US" dirty="0"/>
              <a:t> to and </a:t>
            </a:r>
            <a:r>
              <a:rPr lang="en-US" b="1" i="1" dirty="0"/>
              <a:t>presentation</a:t>
            </a:r>
            <a:r>
              <a:rPr lang="en-US" dirty="0"/>
              <a:t> of </a:t>
            </a:r>
            <a:r>
              <a:rPr lang="en-US" b="1" dirty="0">
                <a:latin typeface="Consolas" panose="020B0609020204030204" pitchFamily="49" charset="0"/>
              </a:rPr>
              <a:t>private</a:t>
            </a:r>
            <a:r>
              <a:rPr lang="en-US" dirty="0"/>
              <a:t> data can greatly reduce errors, while increasing the robustness, security and usability of your programs.   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4.5</a:t>
            </a:r>
            <a:r>
              <a:rPr lang="en-US" dirty="0"/>
              <a:t> Software Engineering with </a:t>
            </a:r>
            <a:r>
              <a:rPr lang="en-US" i="1" dirty="0"/>
              <a:t>Set</a:t>
            </a:r>
            <a:r>
              <a:rPr lang="en-US" dirty="0"/>
              <a:t> and </a:t>
            </a:r>
            <a:r>
              <a:rPr lang="en-US" i="1" dirty="0"/>
              <a:t>Get</a:t>
            </a:r>
            <a:r>
              <a:rPr lang="en-US" dirty="0"/>
              <a:t> Methods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09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/>
              <a:t>Generally</a:t>
            </a:r>
            <a:r>
              <a:rPr lang="en-US" i="1" dirty="0"/>
              <a:t>, instance variables should be </a:t>
            </a:r>
            <a:r>
              <a:rPr lang="en-US" b="1" i="1" dirty="0">
                <a:latin typeface="Consolas" panose="020B0609020204030204" pitchFamily="49" charset="0"/>
              </a:rPr>
              <a:t>private</a:t>
            </a:r>
            <a:r>
              <a:rPr lang="en-US" i="1" dirty="0"/>
              <a:t> and methods </a:t>
            </a:r>
            <a:r>
              <a:rPr lang="en-US" b="1" i="1" dirty="0">
                <a:latin typeface="Consolas" panose="020B0609020204030204" pitchFamily="49" charset="0"/>
              </a:rPr>
              <a:t>public</a:t>
            </a:r>
            <a:r>
              <a:rPr lang="en-US" i="1" dirty="0"/>
              <a:t>. 	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4.5</a:t>
            </a:r>
            <a:r>
              <a:rPr lang="en-US" dirty="0"/>
              <a:t> Software Engineering with </a:t>
            </a:r>
            <a:r>
              <a:rPr lang="en-US" i="1" dirty="0"/>
              <a:t>Set</a:t>
            </a:r>
            <a:r>
              <a:rPr lang="en-US" dirty="0"/>
              <a:t> and </a:t>
            </a:r>
            <a:r>
              <a:rPr lang="en-US" i="1" dirty="0"/>
              <a:t>Get</a:t>
            </a:r>
            <a:r>
              <a:rPr lang="en-US" dirty="0"/>
              <a:t> Methods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1960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1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49463"/>
            <a:ext cx="12192000" cy="275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7718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1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9050"/>
            <a:ext cx="12192000" cy="42783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7211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1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8949"/>
            <a:ext cx="12192000" cy="62817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870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481137"/>
            <a:ext cx="10972800" cy="4860939"/>
          </a:xfrm>
        </p:spPr>
        <p:txBody>
          <a:bodyPr/>
          <a:lstStyle/>
          <a:p>
            <a:r>
              <a:rPr lang="en-US" sz="3200" dirty="0"/>
              <a:t>Our first </a:t>
            </a:r>
            <a:r>
              <a:rPr lang="en-US" sz="3200" dirty="0">
                <a:latin typeface="Consolas" panose="020B0609020204030204" pitchFamily="49" charset="0"/>
              </a:rPr>
              <a:t>Account</a:t>
            </a:r>
            <a:r>
              <a:rPr lang="en-US" sz="3200" dirty="0"/>
              <a:t> class contained a </a:t>
            </a:r>
            <a:r>
              <a:rPr lang="en-US" sz="3200" b="1" i="1" dirty="0">
                <a:latin typeface="Consolas" panose="020B0609020204030204" pitchFamily="49" charset="0"/>
              </a:rPr>
              <a:t>private</a:t>
            </a:r>
            <a:r>
              <a:rPr lang="en-US" sz="3200" b="1" i="1" dirty="0"/>
              <a:t> instance variable name</a:t>
            </a:r>
            <a:r>
              <a:rPr lang="en-US" sz="3200" dirty="0"/>
              <a:t> and </a:t>
            </a:r>
            <a:r>
              <a:rPr lang="en-US" sz="3200" b="1" i="1" dirty="0"/>
              <a:t>public methods </a:t>
            </a:r>
            <a:r>
              <a:rPr lang="en-US" sz="3200" b="1" i="1" dirty="0" err="1">
                <a:latin typeface="Consolas" panose="020B0609020204030204" pitchFamily="49" charset="0"/>
              </a:rPr>
              <a:t>SetName</a:t>
            </a:r>
            <a:r>
              <a:rPr lang="en-US" sz="3200" b="1" i="1" dirty="0"/>
              <a:t> and </a:t>
            </a:r>
            <a:r>
              <a:rPr lang="en-US" sz="3200" b="1" i="1" dirty="0" err="1">
                <a:latin typeface="Consolas" panose="020B0609020204030204" pitchFamily="49" charset="0"/>
              </a:rPr>
              <a:t>GetName</a:t>
            </a:r>
            <a:r>
              <a:rPr lang="en-US" sz="3200" b="1" i="1" dirty="0"/>
              <a:t> </a:t>
            </a:r>
            <a:r>
              <a:rPr lang="en-US" sz="3200" dirty="0"/>
              <a:t>that enabled a client to assign to and retrieve from an </a:t>
            </a:r>
            <a:r>
              <a:rPr lang="en-US" sz="3200" dirty="0" smtClean="0">
                <a:latin typeface="Consolas" panose="020B0609020204030204" pitchFamily="49" charset="0"/>
              </a:rPr>
              <a:t>Account</a:t>
            </a:r>
            <a:r>
              <a:rPr lang="en-US" sz="3200" dirty="0" smtClean="0"/>
              <a:t>’s </a:t>
            </a:r>
            <a:r>
              <a:rPr lang="en-US" sz="3200" dirty="0">
                <a:latin typeface="Consolas" panose="020B0609020204030204" pitchFamily="49" charset="0"/>
              </a:rPr>
              <a:t>name</a:t>
            </a:r>
            <a:r>
              <a:rPr lang="en-US" sz="3200" dirty="0"/>
              <a:t>, respectively. </a:t>
            </a:r>
            <a:endParaRPr lang="en-US" sz="3200" dirty="0" smtClean="0"/>
          </a:p>
          <a:p>
            <a:r>
              <a:rPr lang="en-US" sz="3200" dirty="0" smtClean="0"/>
              <a:t>C</a:t>
            </a:r>
            <a:r>
              <a:rPr lang="en-US" sz="3200" dirty="0"/>
              <a:t># provides a more elegant solution—called </a:t>
            </a:r>
            <a:r>
              <a:rPr lang="en-US" sz="3200" b="1" dirty="0"/>
              <a:t>properties</a:t>
            </a:r>
            <a:r>
              <a:rPr lang="en-US" sz="3200" dirty="0"/>
              <a:t>—to accomplish the same tasks. </a:t>
            </a:r>
            <a:endParaRPr lang="en-US" sz="3200" dirty="0" smtClean="0"/>
          </a:p>
          <a:p>
            <a:pPr lvl="1"/>
            <a:r>
              <a:rPr lang="en-US" sz="2800" dirty="0" smtClean="0"/>
              <a:t>A </a:t>
            </a:r>
            <a:r>
              <a:rPr lang="en-US" sz="2800" dirty="0"/>
              <a:t>property encapsulates a </a:t>
            </a:r>
            <a:r>
              <a:rPr lang="en-US" sz="2800" b="1" i="1" dirty="0">
                <a:latin typeface="Consolas" panose="020B0609020204030204" pitchFamily="49" charset="0"/>
              </a:rPr>
              <a:t>set</a:t>
            </a:r>
            <a:r>
              <a:rPr lang="en-US" sz="2800" b="1" i="1" dirty="0"/>
              <a:t> accessor </a:t>
            </a:r>
            <a:r>
              <a:rPr lang="en-US" sz="2800" b="1" i="1" dirty="0">
                <a:solidFill>
                  <a:srgbClr val="00B050"/>
                </a:solidFill>
              </a:rPr>
              <a:t>for storing a value into a variable </a:t>
            </a:r>
            <a:r>
              <a:rPr lang="en-US" sz="2800" dirty="0"/>
              <a:t>and a </a:t>
            </a:r>
            <a:r>
              <a:rPr lang="en-US" sz="2800" b="1" i="1" dirty="0">
                <a:latin typeface="Consolas" panose="020B0609020204030204" pitchFamily="49" charset="0"/>
              </a:rPr>
              <a:t>get</a:t>
            </a:r>
            <a:r>
              <a:rPr lang="en-US" sz="2800" b="1" i="1" dirty="0"/>
              <a:t> accessor</a:t>
            </a:r>
            <a:r>
              <a:rPr lang="en-US" sz="2800" b="1" i="1" dirty="0">
                <a:solidFill>
                  <a:schemeClr val="accent2">
                    <a:lumMod val="50000"/>
                  </a:schemeClr>
                </a:solidFill>
              </a:rPr>
              <a:t> for getting the value of a variable. </a:t>
            </a:r>
            <a:endParaRPr lang="en-US" sz="2800" b="1" i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marL="109537" indent="0">
              <a:buNone/>
            </a:pPr>
            <a:r>
              <a:rPr lang="en-US" sz="3200" b="1" dirty="0" smtClean="0"/>
              <a:t>Property </a:t>
            </a:r>
            <a:r>
              <a:rPr lang="en-US" sz="3200" b="1" dirty="0" smtClean="0"/>
              <a:t>        Set</a:t>
            </a:r>
            <a:r>
              <a:rPr lang="en-US" sz="3200" dirty="0" smtClean="0"/>
              <a:t> </a:t>
            </a:r>
            <a:r>
              <a:rPr lang="en-US" sz="3200" b="1" i="1" dirty="0" err="1"/>
              <a:t>accessor</a:t>
            </a:r>
            <a:r>
              <a:rPr lang="en-US" sz="3200" b="1" i="1" dirty="0"/>
              <a:t> </a:t>
            </a:r>
            <a:r>
              <a:rPr lang="en-US" sz="3200" dirty="0" smtClean="0">
                <a:sym typeface="Wingdings" panose="05000000000000000000" pitchFamily="2" charset="2"/>
              </a:rPr>
              <a:t> </a:t>
            </a:r>
            <a:r>
              <a:rPr lang="en-US" sz="3200" b="1" i="1" dirty="0" smtClean="0">
                <a:sym typeface="Wingdings" panose="05000000000000000000" pitchFamily="2" charset="2"/>
              </a:rPr>
              <a:t>Storing values into a variable</a:t>
            </a:r>
            <a:r>
              <a:rPr lang="en-US" sz="3200" b="1" i="1" dirty="0" smtClean="0">
                <a:latin typeface="Consolas" panose="020B0609020204030204" pitchFamily="49" charset="0"/>
              </a:rPr>
              <a:t>                			get</a:t>
            </a:r>
            <a:r>
              <a:rPr lang="en-US" sz="3200" b="1" i="1" dirty="0" smtClean="0"/>
              <a:t> </a:t>
            </a:r>
            <a:r>
              <a:rPr lang="en-US" sz="3200" b="1" i="1" dirty="0" err="1" smtClean="0"/>
              <a:t>accessor</a:t>
            </a:r>
            <a:r>
              <a:rPr lang="en-US" sz="3200" b="1" i="1" dirty="0" smtClean="0"/>
              <a:t> </a:t>
            </a:r>
            <a:r>
              <a:rPr lang="en-US" sz="3200" b="1" i="1" dirty="0" smtClean="0">
                <a:sym typeface="Wingdings" panose="05000000000000000000" pitchFamily="2" charset="2"/>
              </a:rPr>
              <a:t>  </a:t>
            </a:r>
            <a:r>
              <a:rPr lang="en-US" sz="2800" b="1" i="1" dirty="0" smtClean="0">
                <a:solidFill>
                  <a:schemeClr val="accent2">
                    <a:lumMod val="50000"/>
                  </a:schemeClr>
                </a:solidFill>
              </a:rPr>
              <a:t>getting </a:t>
            </a:r>
            <a:r>
              <a:rPr lang="en-US" sz="2800" b="1" i="1" dirty="0">
                <a:solidFill>
                  <a:schemeClr val="accent2">
                    <a:lumMod val="50000"/>
                  </a:schemeClr>
                </a:solidFill>
              </a:rPr>
              <a:t>the value of a variable. </a:t>
            </a:r>
          </a:p>
          <a:p>
            <a:endParaRPr 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4.6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 Class with a Property Rather Than </a:t>
            </a:r>
            <a:r>
              <a:rPr lang="en-US" i="1" dirty="0"/>
              <a:t>Set</a:t>
            </a:r>
            <a:r>
              <a:rPr lang="en-US" dirty="0"/>
              <a:t> and </a:t>
            </a:r>
            <a:r>
              <a:rPr lang="en-US" i="1" dirty="0"/>
              <a:t>Get</a:t>
            </a:r>
            <a:r>
              <a:rPr lang="en-US" dirty="0"/>
              <a:t> Methods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5" name="Left Brace 4"/>
          <p:cNvSpPr/>
          <p:nvPr/>
        </p:nvSpPr>
        <p:spPr>
          <a:xfrm>
            <a:off x="2483142" y="5645792"/>
            <a:ext cx="746620" cy="61239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760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Fig. 4.5 </a:t>
            </a:r>
            <a:r>
              <a:rPr lang="en-US" dirty="0"/>
              <a:t>shows the updated </a:t>
            </a:r>
            <a:r>
              <a:rPr lang="en-US" dirty="0" err="1">
                <a:latin typeface="Consolas" panose="020B0609020204030204" pitchFamily="49" charset="0"/>
              </a:rPr>
              <a:t>AccountTest</a:t>
            </a:r>
            <a:r>
              <a:rPr lang="en-US" dirty="0"/>
              <a:t> class that uses class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’s </a:t>
            </a:r>
            <a:r>
              <a:rPr lang="en-US" dirty="0">
                <a:latin typeface="Consolas" panose="020B0609020204030204" pitchFamily="49" charset="0"/>
              </a:rPr>
              <a:t>Name</a:t>
            </a:r>
            <a:r>
              <a:rPr lang="en-US" dirty="0"/>
              <a:t> property (declared in </a:t>
            </a:r>
            <a:r>
              <a:rPr lang="en-US" dirty="0" smtClean="0"/>
              <a:t>Fig. 4.6) </a:t>
            </a:r>
            <a:r>
              <a:rPr lang="en-US" dirty="0"/>
              <a:t>to get and set an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’s </a:t>
            </a:r>
            <a:r>
              <a:rPr lang="en-US" dirty="0">
                <a:latin typeface="Consolas" panose="020B0609020204030204" pitchFamily="49" charset="0"/>
              </a:rPr>
              <a:t>name</a:t>
            </a:r>
            <a:r>
              <a:rPr lang="en-US" dirty="0"/>
              <a:t> instance variable.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4.6.1 </a:t>
            </a:r>
            <a:r>
              <a:rPr lang="en-US" dirty="0"/>
              <a:t>Class </a:t>
            </a:r>
            <a:r>
              <a:rPr lang="en-US" dirty="0" err="1">
                <a:latin typeface="Consolas" panose="020B0609020204030204" pitchFamily="49" charset="0"/>
              </a:rPr>
              <a:t>AccountTest</a:t>
            </a:r>
            <a:r>
              <a:rPr lang="en-US" dirty="0"/>
              <a:t> Using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’s </a:t>
            </a:r>
            <a:r>
              <a:rPr lang="en-US" dirty="0">
                <a:latin typeface="Consolas" panose="020B0609020204030204" pitchFamily="49" charset="0"/>
              </a:rPr>
              <a:t>Name</a:t>
            </a:r>
            <a:r>
              <a:rPr lang="en-US" dirty="0"/>
              <a:t> </a:t>
            </a:r>
            <a:r>
              <a:rPr lang="en-US" dirty="0" smtClean="0"/>
              <a:t>Property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7763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1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325" y="0"/>
            <a:ext cx="9783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1373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2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8025"/>
            <a:ext cx="12192000" cy="29003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8043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The </a:t>
            </a:r>
            <a:r>
              <a:rPr lang="en-US" sz="3200" dirty="0">
                <a:latin typeface="Consolas" panose="020B0609020204030204" pitchFamily="49" charset="0"/>
              </a:rPr>
              <a:t>get</a:t>
            </a:r>
            <a:r>
              <a:rPr lang="en-US" sz="3200" dirty="0"/>
              <a:t> accessor of the </a:t>
            </a:r>
            <a:r>
              <a:rPr lang="en-US" sz="3200" dirty="0">
                <a:latin typeface="Consolas" panose="020B0609020204030204" pitchFamily="49" charset="0"/>
              </a:rPr>
              <a:t>Account</a:t>
            </a:r>
            <a:r>
              <a:rPr lang="en-US" sz="3200" dirty="0"/>
              <a:t> class’s </a:t>
            </a:r>
            <a:r>
              <a:rPr lang="en-US" sz="3200" dirty="0">
                <a:latin typeface="Consolas" panose="020B0609020204030204" pitchFamily="49" charset="0"/>
              </a:rPr>
              <a:t>Name</a:t>
            </a:r>
            <a:r>
              <a:rPr lang="en-US" sz="3200" dirty="0"/>
              <a:t> property </a:t>
            </a:r>
            <a:r>
              <a:rPr lang="en-US" sz="3200" i="1" dirty="0"/>
              <a:t>gets</a:t>
            </a:r>
            <a:r>
              <a:rPr lang="en-US" sz="3200" dirty="0"/>
              <a:t> the account name stored in a particular </a:t>
            </a:r>
            <a:r>
              <a:rPr lang="en-US" sz="3200" dirty="0">
                <a:latin typeface="Consolas" panose="020B0609020204030204" pitchFamily="49" charset="0"/>
              </a:rPr>
              <a:t>Account</a:t>
            </a:r>
            <a:r>
              <a:rPr lang="en-US" sz="3200" dirty="0"/>
              <a:t> object. </a:t>
            </a:r>
            <a:endParaRPr lang="en-US" sz="3200" dirty="0" smtClean="0"/>
          </a:p>
          <a:p>
            <a:r>
              <a:rPr lang="en-US" sz="3200" dirty="0" err="1" smtClean="0"/>
              <a:t>myAccount.Name</a:t>
            </a:r>
            <a:endParaRPr lang="en-US" sz="3200" dirty="0" smtClean="0"/>
          </a:p>
          <a:p>
            <a:pPr lvl="1"/>
            <a:r>
              <a:rPr lang="en-US" sz="2800" dirty="0" smtClean="0"/>
              <a:t>To </a:t>
            </a:r>
            <a:r>
              <a:rPr lang="en-US" sz="2800" dirty="0"/>
              <a:t>access a property, you specify the object’s name (</a:t>
            </a:r>
            <a:r>
              <a:rPr lang="en-US" sz="2800" dirty="0" err="1">
                <a:latin typeface="Consolas" panose="020B0609020204030204" pitchFamily="49" charset="0"/>
              </a:rPr>
              <a:t>myAccount</a:t>
            </a:r>
            <a:r>
              <a:rPr lang="en-US" sz="2800" dirty="0"/>
              <a:t>), followed by the member-access operator (</a:t>
            </a:r>
            <a:r>
              <a:rPr lang="en-US" sz="2800" dirty="0">
                <a:latin typeface="Consolas" panose="020B0609020204030204" pitchFamily="49" charset="0"/>
              </a:rPr>
              <a:t>.</a:t>
            </a:r>
            <a:r>
              <a:rPr lang="en-US" sz="2800" dirty="0"/>
              <a:t>) and the property’s name (</a:t>
            </a:r>
            <a:r>
              <a:rPr lang="en-US" sz="2800" dirty="0">
                <a:latin typeface="Consolas" panose="020B0609020204030204" pitchFamily="49" charset="0"/>
              </a:rPr>
              <a:t>Name</a:t>
            </a:r>
            <a:r>
              <a:rPr lang="en-US" sz="2800" dirty="0"/>
              <a:t>). </a:t>
            </a:r>
            <a:endParaRPr lang="en-US" sz="2800" dirty="0" smtClean="0"/>
          </a:p>
          <a:p>
            <a:pPr lvl="1"/>
            <a:r>
              <a:rPr lang="en-US" sz="2800" dirty="0" smtClean="0"/>
              <a:t>When </a:t>
            </a:r>
            <a:r>
              <a:rPr lang="en-US" sz="2800" dirty="0"/>
              <a:t>used to get the account’s name, this notation </a:t>
            </a:r>
            <a:r>
              <a:rPr lang="en-US" sz="2800" i="1" dirty="0"/>
              <a:t>implicitly</a:t>
            </a:r>
            <a:r>
              <a:rPr lang="en-US" sz="2800" dirty="0"/>
              <a:t> executes the property’s </a:t>
            </a:r>
            <a:r>
              <a:rPr lang="en-US" sz="2800" dirty="0">
                <a:latin typeface="Consolas" panose="020B0609020204030204" pitchFamily="49" charset="0"/>
              </a:rPr>
              <a:t>get</a:t>
            </a:r>
            <a:r>
              <a:rPr lang="en-US" sz="2800" dirty="0"/>
              <a:t> accessor, which returns the account’s name. </a:t>
            </a:r>
          </a:p>
          <a:p>
            <a:endParaRPr 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4.6.1 </a:t>
            </a:r>
            <a:r>
              <a:rPr lang="en-US" dirty="0"/>
              <a:t>Class </a:t>
            </a:r>
            <a:r>
              <a:rPr lang="en-US" dirty="0" err="1">
                <a:latin typeface="Consolas" panose="020B0609020204030204" pitchFamily="49" charset="0"/>
              </a:rPr>
              <a:t>AccountTest</a:t>
            </a:r>
            <a:r>
              <a:rPr lang="en-US" dirty="0"/>
              <a:t> Using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’s </a:t>
            </a:r>
            <a:r>
              <a:rPr lang="en-US" dirty="0">
                <a:latin typeface="Consolas" panose="020B0609020204030204" pitchFamily="49" charset="0"/>
              </a:rPr>
              <a:t>Name</a:t>
            </a:r>
            <a:r>
              <a:rPr lang="en-US" dirty="0"/>
              <a:t> </a:t>
            </a:r>
            <a:r>
              <a:rPr lang="en-US" dirty="0" smtClean="0"/>
              <a:t>Property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425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When </a:t>
            </a:r>
            <a:r>
              <a:rPr lang="en-US" sz="3200" dirty="0">
                <a:latin typeface="Consolas" panose="020B0609020204030204" pitchFamily="49" charset="0"/>
              </a:rPr>
              <a:t>Main</a:t>
            </a:r>
            <a:r>
              <a:rPr lang="en-US" sz="3200" dirty="0"/>
              <a:t> accesses the </a:t>
            </a:r>
            <a:r>
              <a:rPr lang="en-US" sz="3200" dirty="0">
                <a:latin typeface="Consolas" panose="020B0609020204030204" pitchFamily="49" charset="0"/>
              </a:rPr>
              <a:t>Name</a:t>
            </a:r>
            <a:r>
              <a:rPr lang="en-US" sz="3200" dirty="0"/>
              <a:t> property in line </a:t>
            </a:r>
            <a:r>
              <a:rPr lang="en-US" sz="3200" dirty="0" smtClean="0"/>
              <a:t>13</a:t>
            </a:r>
            <a:endParaRPr lang="en-US" sz="3200" dirty="0"/>
          </a:p>
          <a:p>
            <a:pPr lvl="1"/>
            <a:r>
              <a:rPr lang="en-US" sz="2800" dirty="0"/>
              <a:t>The app transfers </a:t>
            </a:r>
            <a:r>
              <a:rPr lang="en-US" sz="2800" dirty="0" smtClean="0"/>
              <a:t>execution </a:t>
            </a:r>
            <a:r>
              <a:rPr lang="en-US" sz="2800" dirty="0"/>
              <a:t>from the expression </a:t>
            </a:r>
            <a:r>
              <a:rPr lang="en-US" sz="2800" dirty="0" err="1">
                <a:latin typeface="Consolas" panose="020B0609020204030204" pitchFamily="49" charset="0"/>
              </a:rPr>
              <a:t>myAccount.Name</a:t>
            </a:r>
            <a:r>
              <a:rPr lang="en-US" sz="2800" dirty="0"/>
              <a:t> (line 13 in </a:t>
            </a:r>
            <a:r>
              <a:rPr lang="en-US" sz="2800" dirty="0">
                <a:latin typeface="Consolas" panose="020B0609020204030204" pitchFamily="49" charset="0"/>
              </a:rPr>
              <a:t>Main</a:t>
            </a:r>
            <a:r>
              <a:rPr lang="en-US" sz="2800" dirty="0"/>
              <a:t>) to the property </a:t>
            </a:r>
            <a:r>
              <a:rPr lang="en-US" sz="2800" dirty="0">
                <a:latin typeface="Consolas" panose="020B0609020204030204" pitchFamily="49" charset="0"/>
              </a:rPr>
              <a:t>Name</a:t>
            </a:r>
            <a:r>
              <a:rPr lang="en-US" sz="2800" dirty="0"/>
              <a:t>’s </a:t>
            </a:r>
            <a:r>
              <a:rPr lang="en-US" sz="2800" dirty="0">
                <a:latin typeface="Consolas" panose="020B0609020204030204" pitchFamily="49" charset="0"/>
              </a:rPr>
              <a:t>get</a:t>
            </a:r>
            <a:r>
              <a:rPr lang="en-US" sz="2800" dirty="0"/>
              <a:t> </a:t>
            </a:r>
            <a:r>
              <a:rPr lang="en-US" sz="2800" dirty="0" smtClean="0"/>
              <a:t>accessor. </a:t>
            </a:r>
            <a:endParaRPr lang="en-US" sz="2800" dirty="0"/>
          </a:p>
          <a:p>
            <a:pPr lvl="1"/>
            <a:r>
              <a:rPr lang="en-US" sz="2800" dirty="0"/>
              <a:t>Next, the </a:t>
            </a:r>
            <a:r>
              <a:rPr lang="en-US" sz="2800" dirty="0">
                <a:latin typeface="Consolas" panose="020B0609020204030204" pitchFamily="49" charset="0"/>
              </a:rPr>
              <a:t>Name</a:t>
            </a:r>
            <a:r>
              <a:rPr lang="en-US" sz="2800" dirty="0"/>
              <a:t> property’s </a:t>
            </a:r>
            <a:r>
              <a:rPr lang="en-US" sz="2800" dirty="0">
                <a:latin typeface="Consolas" panose="020B0609020204030204" pitchFamily="49" charset="0"/>
              </a:rPr>
              <a:t>get</a:t>
            </a:r>
            <a:r>
              <a:rPr lang="en-US" sz="2800" dirty="0"/>
              <a:t> accessor performs its task—that is, it returns (i.e., gives back) the value of </a:t>
            </a:r>
            <a:r>
              <a:rPr lang="en-US" sz="2800" dirty="0" err="1">
                <a:latin typeface="Consolas" panose="020B0609020204030204" pitchFamily="49" charset="0"/>
              </a:rPr>
              <a:t>myAccount</a:t>
            </a:r>
            <a:r>
              <a:rPr lang="en-US" sz="2800" dirty="0" err="1"/>
              <a:t>’s</a:t>
            </a:r>
            <a:r>
              <a:rPr lang="en-US" sz="2800" dirty="0"/>
              <a:t> </a:t>
            </a:r>
            <a:r>
              <a:rPr lang="en-US" sz="2800" dirty="0">
                <a:latin typeface="Consolas" panose="020B0609020204030204" pitchFamily="49" charset="0"/>
              </a:rPr>
              <a:t>name</a:t>
            </a:r>
            <a:r>
              <a:rPr lang="en-US" sz="2800" dirty="0"/>
              <a:t> instance variable to line 13 where the property was accessed. </a:t>
            </a:r>
          </a:p>
          <a:p>
            <a:pPr lvl="1"/>
            <a:r>
              <a:rPr lang="en-US" sz="2800" dirty="0" err="1">
                <a:latin typeface="Consolas" panose="020B0609020204030204" pitchFamily="49" charset="0"/>
              </a:rPr>
              <a:t>Console.WriteLine</a:t>
            </a:r>
            <a:r>
              <a:rPr lang="en-US" sz="2800" dirty="0"/>
              <a:t> displays the </a:t>
            </a:r>
            <a:r>
              <a:rPr lang="en-US" sz="2800" dirty="0">
                <a:latin typeface="Consolas" panose="020B0609020204030204" pitchFamily="49" charset="0"/>
              </a:rPr>
              <a:t>string</a:t>
            </a:r>
            <a:r>
              <a:rPr lang="en-US" sz="2800" dirty="0"/>
              <a:t> returned by the </a:t>
            </a:r>
            <a:r>
              <a:rPr lang="en-US" sz="2800" dirty="0">
                <a:latin typeface="Consolas" panose="020B0609020204030204" pitchFamily="49" charset="0"/>
              </a:rPr>
              <a:t>Name</a:t>
            </a:r>
            <a:r>
              <a:rPr lang="en-US" sz="2800" dirty="0"/>
              <a:t> property’s </a:t>
            </a:r>
            <a:r>
              <a:rPr lang="en-US" sz="2800" dirty="0">
                <a:latin typeface="Consolas" panose="020B0609020204030204" pitchFamily="49" charset="0"/>
              </a:rPr>
              <a:t>get</a:t>
            </a:r>
            <a:r>
              <a:rPr lang="en-US" sz="2800" dirty="0"/>
              <a:t> </a:t>
            </a:r>
            <a:r>
              <a:rPr lang="en-US" sz="2800" dirty="0" smtClean="0"/>
              <a:t>accessor.</a:t>
            </a:r>
            <a:endParaRPr 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4.6.1 </a:t>
            </a:r>
            <a:r>
              <a:rPr lang="en-US" dirty="0"/>
              <a:t>Class </a:t>
            </a:r>
            <a:r>
              <a:rPr lang="en-US" dirty="0" err="1">
                <a:latin typeface="Consolas" panose="020B0609020204030204" pitchFamily="49" charset="0"/>
              </a:rPr>
              <a:t>AccountTest</a:t>
            </a:r>
            <a:r>
              <a:rPr lang="en-US" dirty="0"/>
              <a:t> Using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’s </a:t>
            </a:r>
            <a:r>
              <a:rPr lang="en-US" dirty="0">
                <a:latin typeface="Consolas" panose="020B0609020204030204" pitchFamily="49" charset="0"/>
              </a:rPr>
              <a:t>Name</a:t>
            </a:r>
            <a:r>
              <a:rPr lang="en-US" dirty="0"/>
              <a:t> </a:t>
            </a:r>
            <a:r>
              <a:rPr lang="en-US" dirty="0" smtClean="0"/>
              <a:t>Property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393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When </a:t>
            </a:r>
            <a:r>
              <a:rPr lang="en-US" sz="3200" dirty="0"/>
              <a:t>property </a:t>
            </a:r>
            <a:r>
              <a:rPr lang="en-US" sz="3200" dirty="0">
                <a:latin typeface="Consolas" panose="020B0609020204030204" pitchFamily="49" charset="0"/>
              </a:rPr>
              <a:t>Name</a:t>
            </a:r>
            <a:r>
              <a:rPr lang="en-US" sz="3200" dirty="0"/>
              <a:t> is invoked by the expression </a:t>
            </a:r>
            <a:r>
              <a:rPr lang="en-US" sz="3200" dirty="0" err="1">
                <a:latin typeface="Consolas" panose="020B0609020204030204" pitchFamily="49" charset="0"/>
              </a:rPr>
              <a:t>myAccount.Name</a:t>
            </a:r>
            <a:r>
              <a:rPr lang="en-US" sz="3200" dirty="0"/>
              <a:t> on the left of an </a:t>
            </a:r>
            <a:r>
              <a:rPr lang="en-US" sz="3200" dirty="0" smtClean="0"/>
              <a:t>assignment</a:t>
            </a:r>
            <a:endParaRPr lang="en-US" sz="3200" dirty="0"/>
          </a:p>
          <a:p>
            <a:pPr lvl="1"/>
            <a:r>
              <a:rPr lang="en-US" sz="2800" dirty="0"/>
              <a:t>The app transfers program execution from line 18 in </a:t>
            </a:r>
            <a:r>
              <a:rPr lang="en-US" sz="2800" dirty="0">
                <a:latin typeface="Consolas" panose="020B0609020204030204" pitchFamily="49" charset="0"/>
              </a:rPr>
              <a:t>Main</a:t>
            </a:r>
            <a:r>
              <a:rPr lang="en-US" sz="2800" dirty="0"/>
              <a:t> to </a:t>
            </a:r>
            <a:r>
              <a:rPr lang="en-US" sz="2800" dirty="0">
                <a:latin typeface="Consolas" panose="020B0609020204030204" pitchFamily="49" charset="0"/>
              </a:rPr>
              <a:t>Name</a:t>
            </a:r>
            <a:r>
              <a:rPr lang="en-US" sz="2800" dirty="0"/>
              <a:t>’s </a:t>
            </a:r>
            <a:r>
              <a:rPr lang="en-US" sz="2800" dirty="0">
                <a:latin typeface="Consolas" panose="020B0609020204030204" pitchFamily="49" charset="0"/>
              </a:rPr>
              <a:t>set</a:t>
            </a:r>
            <a:r>
              <a:rPr lang="en-US" sz="2800" dirty="0"/>
              <a:t> accessor. </a:t>
            </a:r>
          </a:p>
          <a:p>
            <a:pPr lvl="1"/>
            <a:r>
              <a:rPr lang="en-US" sz="2800" dirty="0"/>
              <a:t>Property </a:t>
            </a:r>
            <a:r>
              <a:rPr lang="en-US" sz="2800" b="1" i="1" dirty="0">
                <a:latin typeface="Consolas" panose="020B0609020204030204" pitchFamily="49" charset="0"/>
              </a:rPr>
              <a:t>Name</a:t>
            </a:r>
            <a:r>
              <a:rPr lang="en-US" sz="2800" b="1" i="1" dirty="0"/>
              <a:t>’s </a:t>
            </a:r>
            <a:r>
              <a:rPr lang="en-US" sz="2800" b="1" i="1" dirty="0">
                <a:latin typeface="Consolas" panose="020B0609020204030204" pitchFamily="49" charset="0"/>
              </a:rPr>
              <a:t>set</a:t>
            </a:r>
            <a:r>
              <a:rPr lang="en-US" sz="2800" b="1" i="1" dirty="0"/>
              <a:t> accessor </a:t>
            </a:r>
            <a:r>
              <a:rPr lang="en-US" sz="2800" dirty="0"/>
              <a:t>performs its task—that is, it stores in the </a:t>
            </a:r>
            <a:r>
              <a:rPr lang="en-US" sz="2800" dirty="0" err="1">
                <a:latin typeface="Consolas" panose="020B0609020204030204" pitchFamily="49" charset="0"/>
              </a:rPr>
              <a:t>myAccount</a:t>
            </a:r>
            <a:r>
              <a:rPr lang="en-US" sz="2800" dirty="0"/>
              <a:t> object’s name instance variable the </a:t>
            </a:r>
            <a:r>
              <a:rPr lang="en-US" sz="2800" dirty="0">
                <a:latin typeface="Consolas" panose="020B0609020204030204" pitchFamily="49" charset="0"/>
              </a:rPr>
              <a:t>string</a:t>
            </a:r>
            <a:r>
              <a:rPr lang="en-US" sz="2800" dirty="0"/>
              <a:t> value that was assigned to property </a:t>
            </a:r>
            <a:r>
              <a:rPr lang="en-US" sz="2800" dirty="0">
                <a:latin typeface="Consolas" panose="020B0609020204030204" pitchFamily="49" charset="0"/>
              </a:rPr>
              <a:t>Name</a:t>
            </a:r>
            <a:r>
              <a:rPr lang="en-US" sz="2800" dirty="0"/>
              <a:t> in </a:t>
            </a:r>
            <a:r>
              <a:rPr lang="en-US" sz="2800" dirty="0">
                <a:latin typeface="Consolas" panose="020B0609020204030204" pitchFamily="49" charset="0"/>
              </a:rPr>
              <a:t>Main</a:t>
            </a:r>
            <a:r>
              <a:rPr lang="en-US" sz="2800" dirty="0"/>
              <a:t> (line 18). </a:t>
            </a:r>
          </a:p>
          <a:p>
            <a:pPr lvl="1"/>
            <a:r>
              <a:rPr lang="en-US" sz="2800" dirty="0" smtClean="0"/>
              <a:t>When </a:t>
            </a:r>
            <a:r>
              <a:rPr lang="en-US" sz="2800" b="1" dirty="0" smtClean="0">
                <a:latin typeface="Consolas" panose="020B0609020204030204" pitchFamily="49" charset="0"/>
              </a:rPr>
              <a:t>Name</a:t>
            </a:r>
            <a:r>
              <a:rPr lang="en-US" sz="2800" b="1" dirty="0" smtClean="0"/>
              <a:t>’s </a:t>
            </a:r>
            <a:r>
              <a:rPr lang="en-US" sz="2800" b="1" dirty="0" smtClean="0">
                <a:latin typeface="Consolas" panose="020B0609020204030204" pitchFamily="49" charset="0"/>
              </a:rPr>
              <a:t>set</a:t>
            </a:r>
            <a:r>
              <a:rPr lang="en-US" sz="2800" b="1" dirty="0" smtClean="0"/>
              <a:t> accessor </a:t>
            </a:r>
            <a:r>
              <a:rPr lang="en-US" sz="2800" dirty="0" smtClean="0"/>
              <a:t>completes execution, program execution returns to where the </a:t>
            </a:r>
            <a:r>
              <a:rPr lang="en-US" sz="2800" dirty="0" smtClean="0">
                <a:latin typeface="Consolas" panose="020B0609020204030204" pitchFamily="49" charset="0"/>
              </a:rPr>
              <a:t>Name</a:t>
            </a:r>
            <a:r>
              <a:rPr lang="en-US" sz="2800" dirty="0" smtClean="0"/>
              <a:t> property was accessed (line 18 in </a:t>
            </a:r>
            <a:r>
              <a:rPr lang="en-US" sz="2800" dirty="0" smtClean="0">
                <a:latin typeface="Consolas" panose="020B0609020204030204" pitchFamily="49" charset="0"/>
              </a:rPr>
              <a:t>Main</a:t>
            </a:r>
            <a:r>
              <a:rPr lang="en-US" sz="2800" dirty="0" smtClean="0"/>
              <a:t>), then execution continues at line 21.</a:t>
            </a:r>
          </a:p>
          <a:p>
            <a:endParaRPr 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4.6.1 </a:t>
            </a:r>
            <a:r>
              <a:rPr lang="en-US" dirty="0"/>
              <a:t>Class </a:t>
            </a:r>
            <a:r>
              <a:rPr lang="en-US" dirty="0" err="1">
                <a:latin typeface="Consolas" panose="020B0609020204030204" pitchFamily="49" charset="0"/>
              </a:rPr>
              <a:t>AccountTest</a:t>
            </a:r>
            <a:r>
              <a:rPr lang="en-US" dirty="0"/>
              <a:t> Using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’s </a:t>
            </a:r>
            <a:r>
              <a:rPr lang="en-US" dirty="0">
                <a:latin typeface="Consolas" panose="020B0609020204030204" pitchFamily="49" charset="0"/>
              </a:rPr>
              <a:t>Name</a:t>
            </a:r>
            <a:r>
              <a:rPr lang="en-US" dirty="0"/>
              <a:t> </a:t>
            </a:r>
            <a:r>
              <a:rPr lang="en-US" dirty="0" smtClean="0"/>
              <a:t>Property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2217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updated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 class replaces the </a:t>
            </a:r>
            <a:r>
              <a:rPr lang="en-US" b="1" dirty="0" err="1">
                <a:latin typeface="Consolas" panose="020B0609020204030204" pitchFamily="49" charset="0"/>
              </a:rPr>
              <a:t>GetName</a:t>
            </a:r>
            <a:r>
              <a:rPr lang="en-US" dirty="0"/>
              <a:t> and </a:t>
            </a:r>
            <a:r>
              <a:rPr lang="en-US" b="1" dirty="0" err="1">
                <a:latin typeface="Consolas" panose="020B0609020204030204" pitchFamily="49" charset="0"/>
              </a:rPr>
              <a:t>SetName</a:t>
            </a:r>
            <a:r>
              <a:rPr lang="en-US" dirty="0"/>
              <a:t> methods from </a:t>
            </a:r>
            <a:r>
              <a:rPr lang="en-US" dirty="0" smtClean="0"/>
              <a:t>Fig. 4.2 </a:t>
            </a:r>
            <a:r>
              <a:rPr lang="en-US" dirty="0"/>
              <a:t>with the property </a:t>
            </a:r>
            <a:r>
              <a:rPr lang="en-US" dirty="0">
                <a:latin typeface="Consolas" panose="020B0609020204030204" pitchFamily="49" charset="0"/>
              </a:rPr>
              <a:t>Name</a:t>
            </a:r>
            <a:r>
              <a:rPr lang="en-US" dirty="0"/>
              <a:t> (lines 10–20 of </a:t>
            </a:r>
            <a:r>
              <a:rPr lang="en-US" dirty="0" smtClean="0"/>
              <a:t>Fig. 4.6). </a:t>
            </a:r>
          </a:p>
          <a:p>
            <a:r>
              <a:rPr lang="en-US" b="1" i="1" dirty="0" smtClean="0">
                <a:solidFill>
                  <a:srgbClr val="663300"/>
                </a:solidFill>
              </a:rPr>
              <a:t>The </a:t>
            </a:r>
            <a:r>
              <a:rPr lang="en-US" b="1" i="1" dirty="0">
                <a:solidFill>
                  <a:srgbClr val="663300"/>
                </a:solidFill>
              </a:rPr>
              <a:t>property’s </a:t>
            </a:r>
            <a:r>
              <a:rPr lang="en-US" b="1" i="1" dirty="0">
                <a:solidFill>
                  <a:srgbClr val="663300"/>
                </a:solidFill>
                <a:latin typeface="Consolas" panose="020B0609020204030204" pitchFamily="49" charset="0"/>
              </a:rPr>
              <a:t>get</a:t>
            </a:r>
            <a:r>
              <a:rPr lang="en-US" b="1" i="1" dirty="0">
                <a:solidFill>
                  <a:srgbClr val="663300"/>
                </a:solidFill>
              </a:rPr>
              <a:t> and </a:t>
            </a:r>
            <a:r>
              <a:rPr lang="en-US" b="1" i="1" dirty="0">
                <a:solidFill>
                  <a:srgbClr val="663300"/>
                </a:solidFill>
                <a:latin typeface="Consolas" panose="020B0609020204030204" pitchFamily="49" charset="0"/>
              </a:rPr>
              <a:t>set</a:t>
            </a:r>
            <a:r>
              <a:rPr lang="en-US" b="1" i="1" dirty="0">
                <a:solidFill>
                  <a:srgbClr val="663300"/>
                </a:solidFill>
              </a:rPr>
              <a:t> accessors handle the details of getting and setting data, respectively</a:t>
            </a:r>
            <a:r>
              <a:rPr lang="en-US" b="1" i="1" dirty="0" smtClean="0">
                <a:solidFill>
                  <a:srgbClr val="663300"/>
                </a:solidFill>
              </a:rPr>
              <a:t>.</a:t>
            </a:r>
          </a:p>
          <a:p>
            <a:r>
              <a:rPr lang="en-US" dirty="0" smtClean="0"/>
              <a:t>Unlike </a:t>
            </a:r>
            <a:r>
              <a:rPr lang="en-US" dirty="0"/>
              <a:t>method names, the accessor names </a:t>
            </a:r>
            <a:r>
              <a:rPr lang="en-US" b="1" i="1" dirty="0">
                <a:solidFill>
                  <a:srgbClr val="663300"/>
                </a:solidFill>
                <a:latin typeface="Consolas" panose="020B0609020204030204" pitchFamily="49" charset="0"/>
              </a:rPr>
              <a:t>get</a:t>
            </a:r>
            <a:r>
              <a:rPr lang="en-US" b="1" i="1" dirty="0">
                <a:solidFill>
                  <a:srgbClr val="663300"/>
                </a:solidFill>
              </a:rPr>
              <a:t> and </a:t>
            </a:r>
            <a:r>
              <a:rPr lang="en-US" b="1" i="1" dirty="0">
                <a:solidFill>
                  <a:srgbClr val="663300"/>
                </a:solidFill>
                <a:latin typeface="Consolas" panose="020B0609020204030204" pitchFamily="49" charset="0"/>
              </a:rPr>
              <a:t>set</a:t>
            </a:r>
            <a:r>
              <a:rPr lang="en-US" b="1" i="1" dirty="0">
                <a:solidFill>
                  <a:srgbClr val="663300"/>
                </a:solidFill>
              </a:rPr>
              <a:t> each begin with a lowercase letter.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4.6.2 </a:t>
            </a:r>
            <a:r>
              <a:rPr lang="en-US" dirty="0" smtClean="0">
                <a:latin typeface="Consolas" panose="020B0609020204030204" pitchFamily="49" charset="0"/>
              </a:rPr>
              <a:t>Account</a:t>
            </a:r>
            <a:r>
              <a:rPr lang="en-US" dirty="0" smtClean="0"/>
              <a:t> </a:t>
            </a:r>
            <a:r>
              <a:rPr lang="en-US" dirty="0"/>
              <a:t>Class with an Instance Variable and a Property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6683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2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688" y="0"/>
            <a:ext cx="100790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2835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latin typeface="Consolas" panose="020B0609020204030204" pitchFamily="49" charset="0"/>
              </a:rPr>
              <a:t>public </a:t>
            </a:r>
            <a:r>
              <a:rPr lang="en-US" sz="2800" dirty="0">
                <a:latin typeface="Consolas" panose="020B0609020204030204" pitchFamily="49" charset="0"/>
              </a:rPr>
              <a:t>string </a:t>
            </a:r>
            <a:r>
              <a:rPr lang="en-US" sz="2800" dirty="0" smtClean="0">
                <a:latin typeface="Consolas" panose="020B0609020204030204" pitchFamily="49" charset="0"/>
              </a:rPr>
              <a:t>Name</a:t>
            </a:r>
            <a:endParaRPr lang="en-US" sz="2800" dirty="0">
              <a:latin typeface="Consolas" panose="020B0609020204030204" pitchFamily="49" charset="0"/>
            </a:endParaRPr>
          </a:p>
          <a:p>
            <a:pPr lvl="1"/>
            <a:r>
              <a:rPr lang="en-US" sz="2400" dirty="0"/>
              <a:t>begins the </a:t>
            </a:r>
            <a:r>
              <a:rPr lang="en-US" sz="2400" dirty="0">
                <a:latin typeface="Consolas" panose="020B0609020204030204" pitchFamily="49" charset="0"/>
              </a:rPr>
              <a:t>Name</a:t>
            </a:r>
            <a:r>
              <a:rPr lang="en-US" sz="2400" dirty="0"/>
              <a:t> </a:t>
            </a:r>
            <a:r>
              <a:rPr lang="en-US" sz="2400" b="1" dirty="0"/>
              <a:t>property declaration</a:t>
            </a:r>
            <a:r>
              <a:rPr lang="en-US" sz="2400" dirty="0"/>
              <a:t>, which specifies that </a:t>
            </a:r>
          </a:p>
          <a:p>
            <a:pPr lvl="1"/>
            <a:r>
              <a:rPr lang="en-US" sz="2400" dirty="0"/>
              <a:t>the property is </a:t>
            </a:r>
            <a:r>
              <a:rPr lang="en-US" sz="2400" b="1" dirty="0">
                <a:latin typeface="Consolas" panose="020B0609020204030204" pitchFamily="49" charset="0"/>
              </a:rPr>
              <a:t>public</a:t>
            </a:r>
            <a:r>
              <a:rPr lang="en-US" sz="2400" dirty="0"/>
              <a:t> so it can be used by the class’s clients, </a:t>
            </a:r>
          </a:p>
          <a:p>
            <a:pPr lvl="1"/>
            <a:r>
              <a:rPr lang="en-US" sz="2400" dirty="0"/>
              <a:t>the property’s type is </a:t>
            </a:r>
            <a:r>
              <a:rPr lang="en-US" sz="2400" b="1" dirty="0">
                <a:latin typeface="Consolas" panose="020B0609020204030204" pitchFamily="49" charset="0"/>
              </a:rPr>
              <a:t>string</a:t>
            </a:r>
            <a:r>
              <a:rPr lang="en-US" sz="2400" dirty="0"/>
              <a:t> and</a:t>
            </a:r>
          </a:p>
          <a:p>
            <a:pPr lvl="1"/>
            <a:r>
              <a:rPr lang="en-US" sz="2400" dirty="0"/>
              <a:t>the property’s name is </a:t>
            </a:r>
            <a:r>
              <a:rPr lang="en-US" sz="2400" b="1" dirty="0">
                <a:solidFill>
                  <a:srgbClr val="663300"/>
                </a:solidFill>
                <a:latin typeface="Consolas" panose="020B0609020204030204" pitchFamily="49" charset="0"/>
              </a:rPr>
              <a:t>Name</a:t>
            </a:r>
            <a:r>
              <a:rPr lang="en-US" sz="2400" dirty="0"/>
              <a:t>. </a:t>
            </a:r>
          </a:p>
          <a:p>
            <a:r>
              <a:rPr lang="en-US" sz="2800" b="1" i="1" dirty="0">
                <a:solidFill>
                  <a:srgbClr val="00B0F0"/>
                </a:solidFill>
              </a:rPr>
              <a:t>By convention, a property’s identifier is the capitalized identifier of the instance variable that it </a:t>
            </a:r>
            <a:r>
              <a:rPr lang="en-US" sz="2800" b="1" i="1" dirty="0" smtClean="0">
                <a:solidFill>
                  <a:srgbClr val="00B0F0"/>
                </a:solidFill>
              </a:rPr>
              <a:t>manipulates</a:t>
            </a:r>
          </a:p>
          <a:p>
            <a:r>
              <a:rPr lang="en-US" sz="2800" dirty="0" smtClean="0"/>
              <a:t>C</a:t>
            </a:r>
            <a:r>
              <a:rPr lang="en-US" sz="2800" dirty="0"/>
              <a:t># is case sensitive, so </a:t>
            </a:r>
            <a:r>
              <a:rPr lang="en-US" sz="2800" dirty="0">
                <a:latin typeface="Consolas" panose="020B0609020204030204" pitchFamily="49" charset="0"/>
              </a:rPr>
              <a:t>Name</a:t>
            </a:r>
            <a:r>
              <a:rPr lang="en-US" sz="2800" dirty="0"/>
              <a:t> and </a:t>
            </a:r>
            <a:r>
              <a:rPr lang="en-US" sz="2800" dirty="0">
                <a:latin typeface="Consolas" panose="020B0609020204030204" pitchFamily="49" charset="0"/>
              </a:rPr>
              <a:t>name</a:t>
            </a:r>
            <a:r>
              <a:rPr lang="en-US" sz="2800" dirty="0"/>
              <a:t> are distinct identifiers. </a:t>
            </a:r>
            <a:endParaRPr lang="en-US" sz="2800" dirty="0" smtClean="0"/>
          </a:p>
          <a:p>
            <a:r>
              <a:rPr lang="en-US" sz="2800" dirty="0" smtClean="0"/>
              <a:t>The </a:t>
            </a:r>
            <a:r>
              <a:rPr lang="en-US" sz="2800" dirty="0"/>
              <a:t>property’s body is enclosed in </a:t>
            </a:r>
            <a:r>
              <a:rPr lang="en-US" sz="2800" dirty="0" smtClean="0"/>
              <a:t>braces.</a:t>
            </a: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4.6.2 </a:t>
            </a:r>
            <a:r>
              <a:rPr lang="en-US" dirty="0" smtClean="0">
                <a:latin typeface="Consolas" panose="020B0609020204030204" pitchFamily="49" charset="0"/>
              </a:rPr>
              <a:t>Account</a:t>
            </a:r>
            <a:r>
              <a:rPr lang="en-US" dirty="0" smtClean="0"/>
              <a:t> </a:t>
            </a:r>
            <a:r>
              <a:rPr lang="en-US" dirty="0"/>
              <a:t>Class with an Instance Variable and a Property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1789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A </a:t>
            </a:r>
            <a:r>
              <a:rPr lang="en-US" sz="2800" dirty="0">
                <a:latin typeface="Consolas" panose="020B0609020204030204" pitchFamily="49" charset="0"/>
              </a:rPr>
              <a:t>get</a:t>
            </a:r>
            <a:r>
              <a:rPr lang="en-US" sz="2800" dirty="0"/>
              <a:t> </a:t>
            </a:r>
            <a:r>
              <a:rPr lang="en-US" sz="2800" dirty="0" smtClean="0"/>
              <a:t>accessor </a:t>
            </a:r>
            <a:r>
              <a:rPr lang="en-US" sz="2800" dirty="0"/>
              <a:t>begins with the keyword </a:t>
            </a:r>
            <a:r>
              <a:rPr lang="en-US" sz="2800" b="1" dirty="0">
                <a:solidFill>
                  <a:srgbClr val="663300"/>
                </a:solidFill>
                <a:latin typeface="Consolas" panose="020B0609020204030204" pitchFamily="49" charset="0"/>
              </a:rPr>
              <a:t>get</a:t>
            </a:r>
            <a:r>
              <a:rPr lang="en-US" sz="2800" dirty="0"/>
              <a:t>, and its body is delimited by </a:t>
            </a:r>
            <a:r>
              <a:rPr lang="en-US" sz="2800" dirty="0" smtClean="0"/>
              <a:t>braces</a:t>
            </a:r>
          </a:p>
          <a:p>
            <a:r>
              <a:rPr lang="en-US" sz="2800" b="1" i="1" dirty="0" smtClean="0"/>
              <a:t>A </a:t>
            </a:r>
            <a:r>
              <a:rPr lang="en-US" sz="2800" b="1" i="1" dirty="0" smtClean="0">
                <a:latin typeface="Consolas" panose="020B0609020204030204" pitchFamily="49" charset="0"/>
              </a:rPr>
              <a:t>get</a:t>
            </a:r>
            <a:r>
              <a:rPr lang="en-US" sz="2800" b="1" i="1" dirty="0" smtClean="0"/>
              <a:t> </a:t>
            </a:r>
            <a:r>
              <a:rPr lang="en-US" sz="2800" b="1" i="1" dirty="0"/>
              <a:t>accessor’s </a:t>
            </a:r>
            <a:r>
              <a:rPr lang="en-US" sz="2800" dirty="0"/>
              <a:t>body contains a </a:t>
            </a:r>
            <a:r>
              <a:rPr lang="en-US" sz="2800" b="1" dirty="0">
                <a:solidFill>
                  <a:srgbClr val="663300"/>
                </a:solidFill>
                <a:latin typeface="Consolas" panose="020B0609020204030204" pitchFamily="49" charset="0"/>
              </a:rPr>
              <a:t>return</a:t>
            </a:r>
            <a:r>
              <a:rPr lang="en-US" sz="2800" dirty="0"/>
              <a:t> statement </a:t>
            </a:r>
            <a:r>
              <a:rPr lang="en-US" sz="2800" dirty="0" smtClean="0"/>
              <a:t>that typically returns </a:t>
            </a:r>
            <a:r>
              <a:rPr lang="en-US" sz="2800" dirty="0"/>
              <a:t>the value of an </a:t>
            </a:r>
            <a:r>
              <a:rPr lang="en-US" sz="2800" dirty="0" smtClean="0"/>
              <a:t>instance </a:t>
            </a:r>
            <a:r>
              <a:rPr lang="en-US" sz="2800" dirty="0"/>
              <a:t>variable. </a:t>
            </a:r>
            <a:endParaRPr lang="en-US" sz="2800" dirty="0" smtClean="0"/>
          </a:p>
          <a:p>
            <a:r>
              <a:rPr lang="en-US" sz="2800" dirty="0" smtClean="0"/>
              <a:t>The </a:t>
            </a:r>
            <a:r>
              <a:rPr lang="en-US" sz="2800" dirty="0"/>
              <a:t>property </a:t>
            </a:r>
            <a:r>
              <a:rPr lang="en-US" sz="2800" dirty="0" smtClean="0"/>
              <a:t>notation </a:t>
            </a:r>
            <a:r>
              <a:rPr lang="en-US" sz="2800" b="1" dirty="0" err="1" smtClean="0">
                <a:latin typeface="Consolas" panose="020B0609020204030204" pitchFamily="49" charset="0"/>
              </a:rPr>
              <a:t>myAccount.Name</a:t>
            </a:r>
            <a:r>
              <a:rPr lang="en-US" sz="2800" dirty="0" smtClean="0"/>
              <a:t> </a:t>
            </a:r>
            <a:r>
              <a:rPr lang="en-US" sz="2800" dirty="0"/>
              <a:t>allows the client to </a:t>
            </a:r>
            <a:r>
              <a:rPr lang="en-US" sz="2800" i="1" dirty="0"/>
              <a:t>think of the property as the </a:t>
            </a:r>
            <a:r>
              <a:rPr lang="en-US" sz="2800" b="1" i="1" dirty="0"/>
              <a:t>underlying data</a:t>
            </a:r>
            <a:r>
              <a:rPr lang="en-US" sz="2800" dirty="0"/>
              <a:t>, but the client still </a:t>
            </a:r>
            <a:r>
              <a:rPr lang="en-US" sz="2800" i="1" dirty="0"/>
              <a:t>cannot</a:t>
            </a:r>
            <a:r>
              <a:rPr lang="en-US" sz="2800" dirty="0"/>
              <a:t> directly manipulate the </a:t>
            </a:r>
            <a:r>
              <a:rPr lang="en-US" sz="2800" b="1" dirty="0">
                <a:latin typeface="Consolas" panose="020B0609020204030204" pitchFamily="49" charset="0"/>
              </a:rPr>
              <a:t>private</a:t>
            </a:r>
            <a:r>
              <a:rPr lang="en-US" sz="2800" dirty="0"/>
              <a:t> instance variable </a:t>
            </a:r>
            <a:r>
              <a:rPr lang="en-US" sz="2800" dirty="0">
                <a:latin typeface="Consolas" panose="020B0609020204030204" pitchFamily="49" charset="0"/>
              </a:rPr>
              <a:t>name</a:t>
            </a:r>
            <a:r>
              <a:rPr lang="en-US" sz="2800" dirty="0"/>
              <a:t>. </a:t>
            </a:r>
            <a:endParaRPr lang="en-US" sz="2800" dirty="0" smtClean="0"/>
          </a:p>
          <a:p>
            <a:r>
              <a:rPr lang="en-US" sz="2800" dirty="0" smtClean="0"/>
              <a:t>Keyword </a:t>
            </a:r>
            <a:r>
              <a:rPr lang="en-US" sz="2800" dirty="0">
                <a:latin typeface="Consolas" panose="020B0609020204030204" pitchFamily="49" charset="0"/>
              </a:rPr>
              <a:t>get</a:t>
            </a:r>
            <a:r>
              <a:rPr lang="en-US" sz="2800" dirty="0"/>
              <a:t> is a </a:t>
            </a:r>
            <a:r>
              <a:rPr lang="en-US" sz="2800" b="1" i="1" dirty="0"/>
              <a:t>contextual keyword</a:t>
            </a:r>
            <a:r>
              <a:rPr lang="en-US" sz="2800" dirty="0"/>
              <a:t>, because it’s a keyword only in a property’s context (that is, its body)—in other contexts, get can be used as an identifier. </a:t>
            </a:r>
          </a:p>
          <a:p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4.6.2 </a:t>
            </a:r>
            <a:r>
              <a:rPr lang="en-US" dirty="0" smtClean="0">
                <a:latin typeface="Consolas" panose="020B0609020204030204" pitchFamily="49" charset="0"/>
              </a:rPr>
              <a:t>Account</a:t>
            </a:r>
            <a:r>
              <a:rPr lang="en-US" dirty="0" smtClean="0"/>
              <a:t> </a:t>
            </a:r>
            <a:r>
              <a:rPr lang="en-US" dirty="0"/>
              <a:t>Class with an Instance Variable and a Property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267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A </a:t>
            </a:r>
            <a:r>
              <a:rPr lang="en-US" sz="2800" dirty="0" smtClean="0">
                <a:latin typeface="Consolas" panose="020B0609020204030204" pitchFamily="49" charset="0"/>
              </a:rPr>
              <a:t>set</a:t>
            </a:r>
            <a:r>
              <a:rPr lang="en-US" sz="2800" dirty="0" smtClean="0"/>
              <a:t> </a:t>
            </a:r>
            <a:r>
              <a:rPr lang="en-US" sz="2800" dirty="0"/>
              <a:t>accessor </a:t>
            </a:r>
            <a:r>
              <a:rPr lang="en-US" sz="2800" dirty="0" smtClean="0"/>
              <a:t>begins </a:t>
            </a:r>
            <a:r>
              <a:rPr lang="en-US" sz="2800" dirty="0"/>
              <a:t>with the identifier </a:t>
            </a:r>
            <a:r>
              <a:rPr lang="en-US" sz="2800" b="1" dirty="0" smtClean="0">
                <a:latin typeface="Consolas" panose="020B0609020204030204" pitchFamily="49" charset="0"/>
              </a:rPr>
              <a:t>set</a:t>
            </a:r>
            <a:r>
              <a:rPr lang="en-US" sz="2800" dirty="0" smtClean="0"/>
              <a:t> followed </a:t>
            </a:r>
            <a:r>
              <a:rPr lang="en-US" sz="2800" dirty="0"/>
              <a:t>by its body, which is delimited by </a:t>
            </a:r>
            <a:r>
              <a:rPr lang="en-US" sz="2800" dirty="0" smtClean="0"/>
              <a:t>braces.</a:t>
            </a:r>
          </a:p>
          <a:p>
            <a:r>
              <a:rPr lang="en-US" sz="2800" dirty="0"/>
              <a:t>A</a:t>
            </a:r>
            <a:r>
              <a:rPr lang="en-US" sz="2800" dirty="0" smtClean="0"/>
              <a:t> </a:t>
            </a:r>
            <a:r>
              <a:rPr lang="en-US" sz="2800" dirty="0">
                <a:latin typeface="Consolas" panose="020B0609020204030204" pitchFamily="49" charset="0"/>
              </a:rPr>
              <a:t>set</a:t>
            </a:r>
            <a:r>
              <a:rPr lang="en-US" sz="2800" dirty="0"/>
              <a:t> accessor uses the keyword </a:t>
            </a:r>
            <a:r>
              <a:rPr lang="en-US" sz="2800" b="1" dirty="0">
                <a:latin typeface="Consolas" panose="020B0609020204030204" pitchFamily="49" charset="0"/>
              </a:rPr>
              <a:t>value</a:t>
            </a:r>
            <a:r>
              <a:rPr lang="en-US" sz="2800" dirty="0"/>
              <a:t> </a:t>
            </a:r>
            <a:r>
              <a:rPr lang="en-US" sz="2800" dirty="0" smtClean="0"/>
              <a:t>as its parameter. </a:t>
            </a:r>
          </a:p>
          <a:p>
            <a:pPr lvl="1"/>
            <a:r>
              <a:rPr lang="en-US" sz="2400" dirty="0" smtClean="0">
                <a:latin typeface="Consolas" panose="020B0609020204030204" pitchFamily="49" charset="0"/>
              </a:rPr>
              <a:t>value</a:t>
            </a:r>
            <a:r>
              <a:rPr lang="en-US" sz="2400" dirty="0" smtClean="0"/>
              <a:t> </a:t>
            </a:r>
            <a:r>
              <a:rPr lang="en-US" sz="2400" dirty="0"/>
              <a:t>is </a:t>
            </a:r>
            <a:r>
              <a:rPr lang="en-US" sz="2400" i="1" dirty="0"/>
              <a:t>implicitly</a:t>
            </a:r>
            <a:r>
              <a:rPr lang="en-US" sz="2400" dirty="0"/>
              <a:t> declared and initialized for you with the value that the client code </a:t>
            </a:r>
            <a:r>
              <a:rPr lang="en-US" sz="2400" i="1" dirty="0"/>
              <a:t>assigns</a:t>
            </a:r>
            <a:r>
              <a:rPr lang="en-US" sz="2400" dirty="0"/>
              <a:t> to the property. </a:t>
            </a:r>
            <a:endParaRPr lang="en-US" sz="2400" dirty="0" smtClean="0"/>
          </a:p>
          <a:p>
            <a:r>
              <a:rPr lang="en-US" sz="3200" dirty="0" smtClean="0"/>
              <a:t>Like </a:t>
            </a:r>
            <a:r>
              <a:rPr lang="en-US" sz="3200" dirty="0">
                <a:latin typeface="Consolas" panose="020B0609020204030204" pitchFamily="49" charset="0"/>
              </a:rPr>
              <a:t>get</a:t>
            </a:r>
            <a:r>
              <a:rPr lang="en-US" sz="3200" dirty="0"/>
              <a:t>, the keywords </a:t>
            </a:r>
            <a:r>
              <a:rPr lang="en-US" sz="3200" dirty="0">
                <a:latin typeface="Consolas" panose="020B0609020204030204" pitchFamily="49" charset="0"/>
              </a:rPr>
              <a:t>set</a:t>
            </a:r>
            <a:r>
              <a:rPr lang="en-US" sz="3200" dirty="0"/>
              <a:t> and </a:t>
            </a:r>
            <a:r>
              <a:rPr lang="en-US" sz="3200" dirty="0">
                <a:latin typeface="Consolas" panose="020B0609020204030204" pitchFamily="49" charset="0"/>
              </a:rPr>
              <a:t>value</a:t>
            </a:r>
            <a:r>
              <a:rPr lang="en-US" sz="3200" dirty="0"/>
              <a:t> are </a:t>
            </a:r>
            <a:r>
              <a:rPr lang="en-US" sz="3200" i="1" dirty="0"/>
              <a:t>contextual </a:t>
            </a:r>
            <a:r>
              <a:rPr lang="en-US" sz="3200" i="1" dirty="0" smtClean="0"/>
              <a:t>keywords</a:t>
            </a:r>
            <a:endParaRPr lang="en-US" sz="3200" dirty="0" smtClean="0"/>
          </a:p>
          <a:p>
            <a:pPr lvl="1"/>
            <a:r>
              <a:rPr lang="en-US" sz="2800" dirty="0" smtClean="0">
                <a:latin typeface="Consolas" panose="020B0609020204030204" pitchFamily="49" charset="0"/>
              </a:rPr>
              <a:t>set</a:t>
            </a:r>
            <a:r>
              <a:rPr lang="en-US" sz="2800" dirty="0" smtClean="0"/>
              <a:t> is </a:t>
            </a:r>
            <a:r>
              <a:rPr lang="en-US" sz="2800" dirty="0"/>
              <a:t>a keyword only in a property’s context </a:t>
            </a:r>
            <a:endParaRPr lang="en-US" sz="2800" dirty="0" smtClean="0"/>
          </a:p>
          <a:p>
            <a:pPr lvl="1"/>
            <a:r>
              <a:rPr lang="en-US" sz="2800" dirty="0" smtClean="0">
                <a:latin typeface="Consolas" panose="020B0609020204030204" pitchFamily="49" charset="0"/>
              </a:rPr>
              <a:t>value</a:t>
            </a:r>
            <a:r>
              <a:rPr lang="en-US" sz="2800" dirty="0" smtClean="0"/>
              <a:t> </a:t>
            </a:r>
            <a:r>
              <a:rPr lang="en-US" sz="2800" dirty="0"/>
              <a:t>is a </a:t>
            </a:r>
            <a:r>
              <a:rPr lang="en-US" sz="2800" dirty="0" smtClean="0"/>
              <a:t>keyword </a:t>
            </a:r>
            <a:r>
              <a:rPr lang="en-US" sz="2800" dirty="0"/>
              <a:t>only in a </a:t>
            </a:r>
            <a:r>
              <a:rPr lang="en-US" sz="2800" dirty="0">
                <a:latin typeface="Consolas" panose="020B0609020204030204" pitchFamily="49" charset="0"/>
              </a:rPr>
              <a:t>set</a:t>
            </a:r>
            <a:r>
              <a:rPr lang="en-US" sz="2800" dirty="0"/>
              <a:t> </a:t>
            </a:r>
            <a:r>
              <a:rPr lang="en-US" sz="2800" dirty="0" smtClean="0"/>
              <a:t>accessor’s context</a:t>
            </a: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4.6.2 </a:t>
            </a:r>
            <a:r>
              <a:rPr lang="en-US" dirty="0" smtClean="0">
                <a:latin typeface="Consolas" panose="020B0609020204030204" pitchFamily="49" charset="0"/>
              </a:rPr>
              <a:t>Account</a:t>
            </a:r>
            <a:r>
              <a:rPr lang="en-US" dirty="0" smtClean="0"/>
              <a:t> </a:t>
            </a:r>
            <a:r>
              <a:rPr lang="en-US" dirty="0"/>
              <a:t>Class with an Instance Variable and a Property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042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2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8000"/>
            <a:ext cx="12192000" cy="33004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8007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We </a:t>
            </a:r>
            <a:r>
              <a:rPr lang="en-US" sz="3200" dirty="0"/>
              <a:t>model C# properties in the UML as attributes. </a:t>
            </a:r>
            <a:endParaRPr lang="en-US" sz="3200" dirty="0" smtClean="0"/>
          </a:p>
          <a:p>
            <a:r>
              <a:rPr lang="en-US" sz="3200" dirty="0" smtClean="0"/>
              <a:t>A property is followed </a:t>
            </a:r>
            <a:r>
              <a:rPr lang="en-US" sz="3200" dirty="0"/>
              <a:t>by the word “property” in </a:t>
            </a:r>
            <a:r>
              <a:rPr lang="en-US" sz="3200" b="1" dirty="0"/>
              <a:t>guillemets</a:t>
            </a:r>
            <a:r>
              <a:rPr lang="en-US" sz="3200" dirty="0"/>
              <a:t> (« and »). </a:t>
            </a:r>
            <a:endParaRPr lang="en-US" sz="3200" dirty="0" smtClean="0"/>
          </a:p>
          <a:p>
            <a:pPr lvl="1"/>
            <a:r>
              <a:rPr lang="en-US" sz="2800" dirty="0" smtClean="0"/>
              <a:t>Using </a:t>
            </a:r>
            <a:r>
              <a:rPr lang="en-US" sz="2800" dirty="0"/>
              <a:t>descriptive words in guillemets (called </a:t>
            </a:r>
            <a:r>
              <a:rPr lang="en-US" sz="2800" b="1" dirty="0"/>
              <a:t>stereotypes</a:t>
            </a:r>
            <a:r>
              <a:rPr lang="en-US" sz="2800" dirty="0"/>
              <a:t> in the UML) helps distinguish properties from other attributes and operations. </a:t>
            </a:r>
            <a:endParaRPr lang="en-US" sz="2800" dirty="0" smtClean="0"/>
          </a:p>
          <a:p>
            <a:r>
              <a:rPr lang="en-US" sz="3200" dirty="0" smtClean="0"/>
              <a:t>The </a:t>
            </a:r>
            <a:r>
              <a:rPr lang="en-US" sz="3200" dirty="0"/>
              <a:t>UML indicates the type of </a:t>
            </a:r>
            <a:r>
              <a:rPr lang="en-US" sz="3200" dirty="0" smtClean="0"/>
              <a:t>a property </a:t>
            </a:r>
            <a:r>
              <a:rPr lang="en-US" sz="3200" dirty="0"/>
              <a:t>by placing a colon and a type after the property name. </a:t>
            </a:r>
            <a:endParaRPr lang="en-US" sz="3200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4.6.3 </a:t>
            </a:r>
            <a:r>
              <a:rPr lang="en-US" dirty="0"/>
              <a:t>Account UML Class Diagram with a Property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903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A </a:t>
            </a:r>
            <a:r>
              <a:rPr lang="en-US" sz="2800" dirty="0"/>
              <a:t>class diagram helps you </a:t>
            </a:r>
            <a:r>
              <a:rPr lang="en-US" sz="2800" i="1" dirty="0"/>
              <a:t>design</a:t>
            </a:r>
            <a:r>
              <a:rPr lang="en-US" sz="2800" dirty="0"/>
              <a:t> a class, </a:t>
            </a:r>
            <a:r>
              <a:rPr lang="en-US" sz="2800" b="1" i="1" dirty="0">
                <a:solidFill>
                  <a:srgbClr val="00B0F0"/>
                </a:solidFill>
              </a:rPr>
              <a:t>so it’s not required to show every implementation detail. </a:t>
            </a:r>
            <a:endParaRPr lang="en-US" sz="2800" b="1" i="1" dirty="0" smtClean="0">
              <a:solidFill>
                <a:srgbClr val="00B0F0"/>
              </a:solidFill>
            </a:endParaRPr>
          </a:p>
          <a:p>
            <a:r>
              <a:rPr lang="en-US" sz="2800" dirty="0" smtClean="0"/>
              <a:t>Since </a:t>
            </a:r>
            <a:r>
              <a:rPr lang="en-US" sz="2800" dirty="0"/>
              <a:t>an instance variable that’s manipulated by a property is really an implementation detail of that property, our class diagram does </a:t>
            </a:r>
            <a:r>
              <a:rPr lang="en-US" sz="2800" i="1" dirty="0"/>
              <a:t>not</a:t>
            </a:r>
            <a:r>
              <a:rPr lang="en-US" sz="2800" dirty="0"/>
              <a:t> show the </a:t>
            </a:r>
            <a:r>
              <a:rPr lang="en-US" sz="2800" dirty="0" smtClean="0"/>
              <a:t>corresponding instance </a:t>
            </a:r>
            <a:r>
              <a:rPr lang="en-US" sz="2800" dirty="0"/>
              <a:t>variable. </a:t>
            </a:r>
            <a:endParaRPr lang="en-US" sz="2800" dirty="0" smtClean="0"/>
          </a:p>
          <a:p>
            <a:r>
              <a:rPr lang="en-US" sz="2800" dirty="0" smtClean="0"/>
              <a:t>A </a:t>
            </a:r>
            <a:r>
              <a:rPr lang="en-US" sz="2800" dirty="0"/>
              <a:t>programmer implementing the </a:t>
            </a:r>
            <a:r>
              <a:rPr lang="en-US" sz="2800" dirty="0" smtClean="0"/>
              <a:t>class </a:t>
            </a:r>
            <a:r>
              <a:rPr lang="en-US" sz="2800" dirty="0"/>
              <a:t>based on </a:t>
            </a:r>
            <a:r>
              <a:rPr lang="en-US" sz="2800" dirty="0" smtClean="0"/>
              <a:t>a class </a:t>
            </a:r>
            <a:r>
              <a:rPr lang="en-US" sz="2800" dirty="0"/>
              <a:t>diagram would create the instance </a:t>
            </a:r>
            <a:r>
              <a:rPr lang="en-US" sz="2800" dirty="0" smtClean="0"/>
              <a:t>variables </a:t>
            </a:r>
            <a:r>
              <a:rPr lang="en-US" sz="2800" dirty="0"/>
              <a:t>as part of the implementation </a:t>
            </a:r>
            <a:r>
              <a:rPr lang="en-US" sz="2800" dirty="0" smtClean="0"/>
              <a:t>process.</a:t>
            </a:r>
          </a:p>
          <a:p>
            <a:r>
              <a:rPr lang="en-US" sz="2800" dirty="0" smtClean="0"/>
              <a:t>Similarly</a:t>
            </a:r>
            <a:r>
              <a:rPr lang="en-US" sz="2800" dirty="0"/>
              <a:t>, a property’s </a:t>
            </a:r>
            <a:r>
              <a:rPr lang="en-US" sz="2800" dirty="0">
                <a:latin typeface="Consolas" panose="020B0609020204030204" pitchFamily="49" charset="0"/>
              </a:rPr>
              <a:t>get</a:t>
            </a:r>
            <a:r>
              <a:rPr lang="en-US" sz="2800" dirty="0"/>
              <a:t> and </a:t>
            </a:r>
            <a:r>
              <a:rPr lang="en-US" sz="2800" dirty="0">
                <a:latin typeface="Consolas" panose="020B0609020204030204" pitchFamily="49" charset="0"/>
              </a:rPr>
              <a:t>set</a:t>
            </a:r>
            <a:r>
              <a:rPr lang="en-US" sz="2800" dirty="0"/>
              <a:t> accessors are implementation details, so they’re not listed in the UML diagram. </a:t>
            </a:r>
          </a:p>
          <a:p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4.6.3 </a:t>
            </a:r>
            <a:r>
              <a:rPr lang="en-US" dirty="0"/>
              <a:t>Account UML Class Diagram with a Property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140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2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47825"/>
            <a:ext cx="12192000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79135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When a property’s </a:t>
            </a:r>
            <a:r>
              <a:rPr lang="en-US" sz="3200" dirty="0" smtClean="0">
                <a:latin typeface="Consolas" panose="020B0609020204030204" pitchFamily="49" charset="0"/>
              </a:rPr>
              <a:t>get</a:t>
            </a:r>
            <a:r>
              <a:rPr lang="en-US" sz="3200" dirty="0" smtClean="0"/>
              <a:t> </a:t>
            </a:r>
            <a:r>
              <a:rPr lang="en-US" sz="3200" dirty="0"/>
              <a:t>accessor simply returns </a:t>
            </a:r>
            <a:r>
              <a:rPr lang="en-US" sz="3200" dirty="0">
                <a:latin typeface="Consolas" panose="020B0609020204030204" pitchFamily="49" charset="0"/>
              </a:rPr>
              <a:t>private</a:t>
            </a:r>
            <a:r>
              <a:rPr lang="en-US" sz="3200" dirty="0"/>
              <a:t> instance variable </a:t>
            </a:r>
            <a:r>
              <a:rPr lang="en-US" sz="3200" dirty="0" smtClean="0"/>
              <a:t>value </a:t>
            </a:r>
            <a:r>
              <a:rPr lang="en-US" sz="3200" dirty="0"/>
              <a:t>and </a:t>
            </a:r>
            <a:r>
              <a:rPr lang="en-US" sz="3200" dirty="0" smtClean="0"/>
              <a:t>its </a:t>
            </a:r>
            <a:r>
              <a:rPr lang="en-US" sz="3200" dirty="0" smtClean="0">
                <a:latin typeface="Consolas" panose="020B0609020204030204" pitchFamily="49" charset="0"/>
              </a:rPr>
              <a:t>set</a:t>
            </a:r>
            <a:r>
              <a:rPr lang="en-US" sz="3200" dirty="0" smtClean="0"/>
              <a:t> </a:t>
            </a:r>
            <a:r>
              <a:rPr lang="en-US" sz="3200" dirty="0"/>
              <a:t>accessor simply assigns a value to the instance </a:t>
            </a:r>
            <a:r>
              <a:rPr lang="en-US" sz="3200" dirty="0" smtClean="0"/>
              <a:t>variable you can use an </a:t>
            </a:r>
            <a:r>
              <a:rPr lang="en-US" sz="3200" b="1" dirty="0" smtClean="0"/>
              <a:t>auto-implemented property</a:t>
            </a:r>
            <a:r>
              <a:rPr lang="en-US" sz="3200" dirty="0" smtClean="0"/>
              <a:t>. </a:t>
            </a:r>
            <a:endParaRPr lang="en-US" sz="3200" dirty="0"/>
          </a:p>
          <a:p>
            <a:r>
              <a:rPr lang="en-US" sz="3200" dirty="0" smtClean="0"/>
              <a:t>The </a:t>
            </a:r>
            <a:r>
              <a:rPr lang="en-US" sz="3200" dirty="0"/>
              <a:t>C# compiler automatically creates a </a:t>
            </a:r>
            <a:r>
              <a:rPr lang="en-US" sz="3200" i="1" dirty="0"/>
              <a:t>hidden</a:t>
            </a:r>
            <a:r>
              <a:rPr lang="en-US" sz="3200" dirty="0"/>
              <a:t> </a:t>
            </a:r>
            <a:r>
              <a:rPr lang="en-US" sz="3200" dirty="0">
                <a:latin typeface="Consolas" panose="020B0609020204030204" pitchFamily="49" charset="0"/>
              </a:rPr>
              <a:t>private</a:t>
            </a:r>
            <a:r>
              <a:rPr lang="en-US" sz="3200" dirty="0"/>
              <a:t> instance variable, and the </a:t>
            </a:r>
            <a:r>
              <a:rPr lang="en-US" sz="3200" dirty="0">
                <a:latin typeface="Consolas" panose="020B0609020204030204" pitchFamily="49" charset="0"/>
              </a:rPr>
              <a:t>get</a:t>
            </a:r>
            <a:r>
              <a:rPr lang="en-US" sz="3200" dirty="0"/>
              <a:t> and </a:t>
            </a:r>
            <a:r>
              <a:rPr lang="en-US" sz="3200" dirty="0">
                <a:latin typeface="Consolas" panose="020B0609020204030204" pitchFamily="49" charset="0"/>
              </a:rPr>
              <a:t>set</a:t>
            </a:r>
            <a:r>
              <a:rPr lang="en-US" sz="3200" dirty="0"/>
              <a:t> accessors for </a:t>
            </a:r>
            <a:r>
              <a:rPr lang="en-US" sz="3200" i="1" dirty="0"/>
              <a:t>getting</a:t>
            </a:r>
            <a:r>
              <a:rPr lang="en-US" sz="3200" dirty="0"/>
              <a:t> and </a:t>
            </a:r>
            <a:r>
              <a:rPr lang="en-US" sz="3200" i="1" dirty="0"/>
              <a:t>setting</a:t>
            </a:r>
            <a:r>
              <a:rPr lang="en-US" sz="3200" dirty="0"/>
              <a:t> that hidden instance variable. </a:t>
            </a:r>
            <a:endParaRPr lang="en-US" sz="3200" dirty="0" smtClean="0"/>
          </a:p>
          <a:p>
            <a:r>
              <a:rPr lang="en-US" sz="3200" dirty="0" smtClean="0"/>
              <a:t>This </a:t>
            </a:r>
            <a:r>
              <a:rPr lang="en-US" sz="3200" dirty="0"/>
              <a:t>enables you to implement the property trivially, which is handy when you’re first designing a class. 	</a:t>
            </a:r>
          </a:p>
          <a:p>
            <a:endParaRPr 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4.7 </a:t>
            </a:r>
            <a:r>
              <a:rPr lang="en-US" dirty="0"/>
              <a:t>Auto-Implemented </a:t>
            </a:r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95058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To </a:t>
            </a:r>
            <a:r>
              <a:rPr lang="en-US" sz="3200" dirty="0"/>
              <a:t>use an auto-implemented property in the </a:t>
            </a:r>
            <a:r>
              <a:rPr lang="en-US" sz="3200" dirty="0">
                <a:latin typeface="Consolas" panose="020B0609020204030204" pitchFamily="49" charset="0"/>
              </a:rPr>
              <a:t>Account</a:t>
            </a:r>
            <a:r>
              <a:rPr lang="en-US" sz="3200" dirty="0"/>
              <a:t> </a:t>
            </a:r>
            <a:r>
              <a:rPr lang="en-US" sz="3200" dirty="0" smtClean="0"/>
              <a:t>class, </a:t>
            </a:r>
            <a:r>
              <a:rPr lang="en-US" sz="3200" dirty="0"/>
              <a:t>you’d replace the </a:t>
            </a:r>
            <a:r>
              <a:rPr lang="en-US" sz="3200" dirty="0">
                <a:latin typeface="Consolas" panose="020B0609020204030204" pitchFamily="49" charset="0"/>
              </a:rPr>
              <a:t>private</a:t>
            </a:r>
            <a:r>
              <a:rPr lang="en-US" sz="3200" dirty="0"/>
              <a:t> instance </a:t>
            </a:r>
            <a:r>
              <a:rPr lang="en-US" sz="3200" dirty="0" smtClean="0"/>
              <a:t>variable and the separate property with </a:t>
            </a:r>
            <a:r>
              <a:rPr lang="en-US" sz="3200" dirty="0"/>
              <a:t>the following </a:t>
            </a:r>
            <a:r>
              <a:rPr lang="en-US" sz="3200" i="1" dirty="0"/>
              <a:t>single</a:t>
            </a:r>
            <a:r>
              <a:rPr lang="en-US" sz="3200" dirty="0"/>
              <a:t> line of code:</a:t>
            </a:r>
          </a:p>
          <a:p>
            <a:pPr lvl="1"/>
            <a:r>
              <a:rPr lang="en-US" sz="2800" dirty="0">
                <a:latin typeface="Consolas" panose="020B0609020204030204" pitchFamily="49" charset="0"/>
              </a:rPr>
              <a:t>public string Name { get; set; }                    	</a:t>
            </a:r>
          </a:p>
          <a:p>
            <a:endParaRPr 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4.7 </a:t>
            </a:r>
            <a:r>
              <a:rPr lang="en-US" dirty="0"/>
              <a:t>Auto-Implemented </a:t>
            </a:r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9339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2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2888"/>
            <a:ext cx="12192000" cy="38322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9807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Each </a:t>
            </a:r>
            <a:r>
              <a:rPr lang="en-US" sz="3200" dirty="0"/>
              <a:t>class you declare optionally can provide a </a:t>
            </a:r>
            <a:r>
              <a:rPr lang="en-US" sz="3200" i="1" dirty="0"/>
              <a:t>constructor</a:t>
            </a:r>
            <a:r>
              <a:rPr lang="en-US" sz="3200" dirty="0"/>
              <a:t> with parameters that can be used to initialize an object when it’s created. </a:t>
            </a:r>
            <a:endParaRPr lang="en-US" sz="3200" dirty="0" smtClean="0"/>
          </a:p>
          <a:p>
            <a:r>
              <a:rPr lang="en-US" sz="3200" dirty="0" smtClean="0"/>
              <a:t>C</a:t>
            </a:r>
            <a:r>
              <a:rPr lang="en-US" sz="3200" dirty="0"/>
              <a:t># </a:t>
            </a:r>
            <a:r>
              <a:rPr lang="en-US" sz="3200" i="1" dirty="0"/>
              <a:t>requires</a:t>
            </a:r>
            <a:r>
              <a:rPr lang="en-US" sz="3200" dirty="0"/>
              <a:t> a constructor call for </a:t>
            </a:r>
            <a:r>
              <a:rPr lang="en-US" sz="3200" i="1" dirty="0"/>
              <a:t>every</a:t>
            </a:r>
            <a:r>
              <a:rPr lang="en-US" sz="3200" dirty="0"/>
              <a:t> object that’s created, so this is the ideal point to initialize an object’s instance variables. </a:t>
            </a:r>
            <a:endParaRPr lang="en-US" sz="3200" dirty="0" smtClean="0"/>
          </a:p>
          <a:p>
            <a:endParaRPr lang="en-US" sz="3200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4.8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 Class: Initializing Objects with </a:t>
            </a:r>
            <a:r>
              <a:rPr lang="en-US" dirty="0" smtClean="0"/>
              <a:t>Constructors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7147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2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8013"/>
            <a:ext cx="12192000" cy="564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70921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When you declare a class, you can provide your own constructor to specify </a:t>
            </a:r>
            <a:r>
              <a:rPr lang="en-US" sz="2800" i="1" dirty="0"/>
              <a:t>custom initialization</a:t>
            </a:r>
            <a:r>
              <a:rPr lang="en-US" sz="2800" dirty="0"/>
              <a:t> for objects of your class. </a:t>
            </a:r>
            <a:endParaRPr lang="en-US" sz="2800" dirty="0" smtClean="0"/>
          </a:p>
          <a:p>
            <a:r>
              <a:rPr lang="en-US" sz="2800" dirty="0" smtClean="0">
                <a:latin typeface="Consolas" panose="020B0609020204030204" pitchFamily="49" charset="0"/>
              </a:rPr>
              <a:t>Account </a:t>
            </a:r>
            <a:r>
              <a:rPr lang="en-US" sz="2800" dirty="0">
                <a:latin typeface="Consolas" panose="020B0609020204030204" pitchFamily="49" charset="0"/>
              </a:rPr>
              <a:t>account1 = new Account("Jane Green");	</a:t>
            </a:r>
          </a:p>
          <a:p>
            <a:r>
              <a:rPr lang="en-US" sz="2800" dirty="0" smtClean="0"/>
              <a:t>In </a:t>
            </a:r>
            <a:r>
              <a:rPr lang="en-US" sz="2800" dirty="0"/>
              <a:t>this case, the </a:t>
            </a:r>
            <a:r>
              <a:rPr lang="en-US" sz="2800" dirty="0">
                <a:latin typeface="Consolas" panose="020B0609020204030204" pitchFamily="49" charset="0"/>
              </a:rPr>
              <a:t>string</a:t>
            </a:r>
            <a:r>
              <a:rPr lang="en-US" sz="2800" dirty="0"/>
              <a:t> argument </a:t>
            </a:r>
            <a:r>
              <a:rPr lang="en-US" sz="2800" dirty="0">
                <a:latin typeface="Consolas" panose="020B0609020204030204" pitchFamily="49" charset="0"/>
              </a:rPr>
              <a:t>"Jane Green"</a:t>
            </a:r>
            <a:r>
              <a:rPr lang="en-US" sz="2800" dirty="0"/>
              <a:t> is passed to the </a:t>
            </a:r>
            <a:r>
              <a:rPr lang="en-US" sz="2800" dirty="0">
                <a:latin typeface="Consolas" panose="020B0609020204030204" pitchFamily="49" charset="0"/>
              </a:rPr>
              <a:t>Account</a:t>
            </a:r>
            <a:r>
              <a:rPr lang="en-US" sz="2800" dirty="0"/>
              <a:t> object’s constructor and used to initialize the </a:t>
            </a:r>
            <a:r>
              <a:rPr lang="en-US" sz="2800" dirty="0">
                <a:latin typeface="Consolas" panose="020B0609020204030204" pitchFamily="49" charset="0"/>
              </a:rPr>
              <a:t>Account</a:t>
            </a:r>
            <a:r>
              <a:rPr lang="en-US" sz="2800" dirty="0"/>
              <a:t>’s </a:t>
            </a:r>
            <a:r>
              <a:rPr lang="en-US" sz="2800" dirty="0">
                <a:latin typeface="Consolas" panose="020B0609020204030204" pitchFamily="49" charset="0"/>
              </a:rPr>
              <a:t>name</a:t>
            </a:r>
            <a:r>
              <a:rPr lang="en-US" sz="2800" dirty="0"/>
              <a:t>. </a:t>
            </a:r>
            <a:endParaRPr lang="en-US" sz="2800" dirty="0" smtClean="0"/>
          </a:p>
          <a:p>
            <a:r>
              <a:rPr lang="en-US" sz="2800" dirty="0" smtClean="0"/>
              <a:t>A </a:t>
            </a:r>
            <a:r>
              <a:rPr lang="en-US" sz="2800" dirty="0"/>
              <a:t>constructor’s identifier </a:t>
            </a:r>
            <a:r>
              <a:rPr lang="en-US" sz="2800" i="1" dirty="0"/>
              <a:t>must</a:t>
            </a:r>
            <a:r>
              <a:rPr lang="en-US" sz="2800" dirty="0"/>
              <a:t> be the class’s name. </a:t>
            </a:r>
            <a:endParaRPr lang="en-US" sz="2800" dirty="0" smtClean="0"/>
          </a:p>
          <a:p>
            <a:r>
              <a:rPr lang="en-US" sz="2800" dirty="0" smtClean="0"/>
              <a:t>The </a:t>
            </a:r>
            <a:r>
              <a:rPr lang="en-US" sz="2800" dirty="0"/>
              <a:t>preceding statement requires an </a:t>
            </a:r>
            <a:r>
              <a:rPr lang="en-US" sz="2800" dirty="0">
                <a:latin typeface="Consolas" panose="020B0609020204030204" pitchFamily="49" charset="0"/>
              </a:rPr>
              <a:t>Account</a:t>
            </a:r>
            <a:r>
              <a:rPr lang="en-US" sz="2800" dirty="0"/>
              <a:t> constructor that can receive a </a:t>
            </a:r>
            <a:r>
              <a:rPr lang="en-US" sz="2800" dirty="0">
                <a:latin typeface="Consolas" panose="020B0609020204030204" pitchFamily="49" charset="0"/>
              </a:rPr>
              <a:t>string</a:t>
            </a:r>
            <a:r>
              <a:rPr lang="en-US" sz="2800" dirty="0"/>
              <a:t>. 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4.8.1 Declaring </a:t>
            </a:r>
            <a:r>
              <a:rPr lang="en-US" dirty="0"/>
              <a:t>an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 Constructor for Custom Object Initialization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60931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An </a:t>
            </a:r>
            <a:r>
              <a:rPr lang="en-US" sz="2800" dirty="0"/>
              <a:t>important difference between constructors and methods is that </a:t>
            </a:r>
            <a:r>
              <a:rPr lang="en-US" sz="2800" i="1" dirty="0"/>
              <a:t>constructors cannot specify a return type</a:t>
            </a:r>
            <a:r>
              <a:rPr lang="en-US" sz="2800" dirty="0"/>
              <a:t> (not even </a:t>
            </a:r>
            <a:r>
              <a:rPr lang="en-US" sz="2800" dirty="0">
                <a:latin typeface="Consolas" panose="020B0609020204030204" pitchFamily="49" charset="0"/>
              </a:rPr>
              <a:t>void</a:t>
            </a:r>
            <a:r>
              <a:rPr lang="en-US" sz="2800" dirty="0"/>
              <a:t>). </a:t>
            </a:r>
            <a:endParaRPr lang="en-US" sz="2800" dirty="0" smtClean="0"/>
          </a:p>
          <a:p>
            <a:r>
              <a:rPr lang="en-US" sz="2800" dirty="0" smtClean="0"/>
              <a:t>Normally</a:t>
            </a:r>
            <a:r>
              <a:rPr lang="en-US" sz="2800" dirty="0"/>
              <a:t>, constructors are declared </a:t>
            </a:r>
            <a:r>
              <a:rPr lang="en-US" sz="2800" dirty="0">
                <a:latin typeface="Consolas" panose="020B0609020204030204" pitchFamily="49" charset="0"/>
              </a:rPr>
              <a:t>public</a:t>
            </a:r>
            <a:r>
              <a:rPr lang="en-US" sz="2800" dirty="0"/>
              <a:t> so they can be used by the class’s client code to initialize objects of the class. </a:t>
            </a:r>
            <a:endParaRPr lang="en-US" sz="2800" dirty="0" smtClean="0"/>
          </a:p>
          <a:p>
            <a:r>
              <a:rPr lang="en-US" sz="2800" dirty="0"/>
              <a:t>A constructor’s </a:t>
            </a:r>
            <a:r>
              <a:rPr lang="en-US" sz="2800" i="1" dirty="0"/>
              <a:t>body</a:t>
            </a:r>
            <a:r>
              <a:rPr lang="en-US" sz="2800" dirty="0"/>
              <a:t> is delimited by a pair of </a:t>
            </a:r>
            <a:r>
              <a:rPr lang="en-US" sz="2800" dirty="0" smtClean="0"/>
              <a:t>containing </a:t>
            </a:r>
            <a:r>
              <a:rPr lang="en-US" sz="2800" dirty="0"/>
              <a:t>one or more statements that perform the constructor’s task(s</a:t>
            </a:r>
            <a:r>
              <a:rPr lang="en-US" sz="2800" dirty="0" smtClean="0"/>
              <a:t>).</a:t>
            </a:r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4.8.1 Declaring </a:t>
            </a:r>
            <a:r>
              <a:rPr lang="en-US" dirty="0"/>
              <a:t>an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 Constructor for Custom Object Initialization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69432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Keyword </a:t>
            </a:r>
            <a:r>
              <a:rPr lang="en-US" sz="3200" dirty="0">
                <a:latin typeface="Consolas" panose="020B0609020204030204" pitchFamily="49" charset="0"/>
              </a:rPr>
              <a:t>new</a:t>
            </a:r>
            <a:r>
              <a:rPr lang="en-US" sz="3200" b="1" dirty="0"/>
              <a:t> </a:t>
            </a:r>
            <a:r>
              <a:rPr lang="en-US" sz="3200" dirty="0"/>
              <a:t>requests memory from the system to store </a:t>
            </a:r>
            <a:r>
              <a:rPr lang="en-US" sz="3200" dirty="0" smtClean="0"/>
              <a:t>an object</a:t>
            </a:r>
            <a:r>
              <a:rPr lang="en-US" sz="3200" dirty="0"/>
              <a:t>, then implicitly calls the class’s constructor to </a:t>
            </a:r>
            <a:r>
              <a:rPr lang="en-US" sz="3200" i="1" dirty="0"/>
              <a:t>initialize</a:t>
            </a:r>
            <a:r>
              <a:rPr lang="en-US" sz="3200" dirty="0"/>
              <a:t> the object. </a:t>
            </a:r>
            <a:endParaRPr lang="en-US" sz="3200" dirty="0" smtClean="0"/>
          </a:p>
          <a:p>
            <a:r>
              <a:rPr lang="en-US" sz="3200" dirty="0" smtClean="0"/>
              <a:t>The </a:t>
            </a:r>
            <a:r>
              <a:rPr lang="en-US" sz="3200" dirty="0"/>
              <a:t>call is indicated by the parentheses after the class </a:t>
            </a:r>
            <a:r>
              <a:rPr lang="en-US" sz="3200" dirty="0" smtClean="0"/>
              <a:t>name.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4.8.2 </a:t>
            </a:r>
            <a:r>
              <a:rPr lang="en-US" dirty="0"/>
              <a:t>Class </a:t>
            </a:r>
            <a:r>
              <a:rPr lang="en-US" dirty="0" err="1">
                <a:latin typeface="Consolas" panose="020B0609020204030204" pitchFamily="49" charset="0"/>
              </a:rPr>
              <a:t>AccountTest</a:t>
            </a:r>
            <a:r>
              <a:rPr lang="en-US" dirty="0"/>
              <a:t>: Initializing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 Objects When They’re Created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098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2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638" y="0"/>
            <a:ext cx="98631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54027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The </a:t>
            </a:r>
            <a:r>
              <a:rPr lang="en-US" sz="3200" i="1" dirty="0"/>
              <a:t>empty</a:t>
            </a:r>
            <a:r>
              <a:rPr lang="en-US" sz="3200" dirty="0"/>
              <a:t> parentheses in the expression </a:t>
            </a:r>
            <a:r>
              <a:rPr lang="en-US" sz="3200" dirty="0" smtClean="0">
                <a:latin typeface="Consolas" panose="020B0609020204030204" pitchFamily="49" charset="0"/>
              </a:rPr>
              <a:t>new </a:t>
            </a:r>
            <a:r>
              <a:rPr lang="en-US" sz="3200" dirty="0">
                <a:latin typeface="Consolas" panose="020B0609020204030204" pitchFamily="49" charset="0"/>
              </a:rPr>
              <a:t>Account</a:t>
            </a:r>
            <a:r>
              <a:rPr lang="en-US" sz="3200" dirty="0" smtClean="0">
                <a:latin typeface="Consolas" panose="020B0609020204030204" pitchFamily="49" charset="0"/>
              </a:rPr>
              <a:t>()</a:t>
            </a:r>
            <a:r>
              <a:rPr lang="en-US" sz="3200" dirty="0"/>
              <a:t> </a:t>
            </a:r>
            <a:r>
              <a:rPr lang="en-US" sz="3200" dirty="0" smtClean="0"/>
              <a:t>indicate </a:t>
            </a:r>
            <a:r>
              <a:rPr lang="en-US" sz="3200" dirty="0"/>
              <a:t>a call to the class’s </a:t>
            </a:r>
            <a:r>
              <a:rPr lang="en-US" sz="3200" b="1" dirty="0"/>
              <a:t>default </a:t>
            </a:r>
            <a:r>
              <a:rPr lang="en-US" sz="3200" b="1" dirty="0" smtClean="0"/>
              <a:t>constructor</a:t>
            </a:r>
            <a:endParaRPr lang="en-US" sz="3200" dirty="0" smtClean="0"/>
          </a:p>
          <a:p>
            <a:pPr lvl="1"/>
            <a:r>
              <a:rPr lang="en-US" sz="2800" dirty="0" smtClean="0"/>
              <a:t>In </a:t>
            </a:r>
            <a:r>
              <a:rPr lang="en-US" sz="2800" dirty="0"/>
              <a:t>any class that does </a:t>
            </a:r>
            <a:r>
              <a:rPr lang="en-US" sz="2800" i="1" dirty="0"/>
              <a:t>not</a:t>
            </a:r>
            <a:r>
              <a:rPr lang="en-US" sz="2800" dirty="0"/>
              <a:t> explicitly declare a constructor, the compiler provides a public default constructor (which always has no parameters). </a:t>
            </a:r>
            <a:endParaRPr lang="en-US" sz="2800" dirty="0" smtClean="0"/>
          </a:p>
          <a:p>
            <a:r>
              <a:rPr lang="en-US" sz="3200" dirty="0" smtClean="0"/>
              <a:t>When </a:t>
            </a:r>
            <a:r>
              <a:rPr lang="en-US" sz="3200" dirty="0"/>
              <a:t>a class has only the default constructor, the class’s instance variables are initialized to their </a:t>
            </a:r>
            <a:r>
              <a:rPr lang="en-US" sz="3200" i="1" dirty="0"/>
              <a:t>default </a:t>
            </a:r>
            <a:r>
              <a:rPr lang="en-US" sz="3200" i="1" dirty="0" smtClean="0"/>
              <a:t>values</a:t>
            </a:r>
            <a:r>
              <a:rPr lang="en-US" sz="3200" dirty="0" smtClean="0"/>
              <a:t>:</a:t>
            </a:r>
          </a:p>
          <a:p>
            <a:pPr lvl="1"/>
            <a:r>
              <a:rPr lang="en-US" sz="2800" dirty="0" smtClean="0">
                <a:latin typeface="Consolas" panose="020B0609020204030204" pitchFamily="49" charset="0"/>
              </a:rPr>
              <a:t>0</a:t>
            </a:r>
            <a:r>
              <a:rPr lang="en-US" sz="2800" dirty="0" smtClean="0"/>
              <a:t> </a:t>
            </a:r>
            <a:r>
              <a:rPr lang="en-US" sz="2800" dirty="0"/>
              <a:t>for numeric simple types, </a:t>
            </a:r>
          </a:p>
          <a:p>
            <a:pPr lvl="1"/>
            <a:r>
              <a:rPr lang="en-US" sz="2800" dirty="0">
                <a:latin typeface="Consolas" panose="020B0609020204030204" pitchFamily="49" charset="0"/>
              </a:rPr>
              <a:t>false</a:t>
            </a:r>
            <a:r>
              <a:rPr lang="en-US" sz="2800" dirty="0"/>
              <a:t> for simple type </a:t>
            </a:r>
            <a:r>
              <a:rPr lang="en-US" sz="2800" dirty="0">
                <a:latin typeface="Consolas" panose="020B0609020204030204" pitchFamily="49" charset="0"/>
              </a:rPr>
              <a:t>bool</a:t>
            </a:r>
            <a:r>
              <a:rPr lang="en-US" sz="2800" dirty="0"/>
              <a:t> and </a:t>
            </a:r>
          </a:p>
          <a:p>
            <a:pPr lvl="1"/>
            <a:r>
              <a:rPr lang="en-US" sz="2800" dirty="0">
                <a:latin typeface="Consolas" panose="020B0609020204030204" pitchFamily="49" charset="0"/>
              </a:rPr>
              <a:t>null</a:t>
            </a:r>
            <a:r>
              <a:rPr lang="en-US" sz="2800" dirty="0"/>
              <a:t> for all other types.</a:t>
            </a:r>
          </a:p>
          <a:p>
            <a:pPr lvl="1"/>
            <a:endParaRPr lang="en-US" sz="2800" dirty="0"/>
          </a:p>
          <a:p>
            <a:endParaRPr lang="en-US" sz="3200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4.8.2 </a:t>
            </a:r>
            <a:r>
              <a:rPr lang="en-US" dirty="0"/>
              <a:t>Class </a:t>
            </a:r>
            <a:r>
              <a:rPr lang="en-US" dirty="0" err="1">
                <a:latin typeface="Consolas" panose="020B0609020204030204" pitchFamily="49" charset="0"/>
              </a:rPr>
              <a:t>AccountTest</a:t>
            </a:r>
            <a:r>
              <a:rPr lang="en-US" dirty="0"/>
              <a:t>: Initializing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 Objects When They’re Created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90571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If you declare one or more constructors for a class, the compiler will </a:t>
            </a:r>
            <a:r>
              <a:rPr lang="en-US" sz="2800" i="1" dirty="0"/>
              <a:t>not</a:t>
            </a:r>
            <a:r>
              <a:rPr lang="en-US" sz="2800" dirty="0"/>
              <a:t> create a </a:t>
            </a:r>
            <a:r>
              <a:rPr lang="en-US" sz="2800" i="1" dirty="0"/>
              <a:t>default constructor</a:t>
            </a:r>
            <a:r>
              <a:rPr lang="en-US" sz="2800" dirty="0"/>
              <a:t> for that class. </a:t>
            </a:r>
            <a:endParaRPr lang="en-US" sz="2800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4.8.2 </a:t>
            </a:r>
            <a:r>
              <a:rPr lang="en-US" dirty="0"/>
              <a:t>Class </a:t>
            </a:r>
            <a:r>
              <a:rPr lang="en-US" dirty="0" err="1">
                <a:latin typeface="Consolas" panose="020B0609020204030204" pitchFamily="49" charset="0"/>
              </a:rPr>
              <a:t>AccountTest</a:t>
            </a:r>
            <a:r>
              <a:rPr lang="en-US" dirty="0"/>
              <a:t>: Initializing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 Objects When They’re Created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11615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2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7450"/>
            <a:ext cx="12192000" cy="4483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21339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The </a:t>
            </a:r>
            <a:r>
              <a:rPr lang="en-US" sz="3200" dirty="0"/>
              <a:t>UML models constructors as operations in the </a:t>
            </a:r>
            <a:r>
              <a:rPr lang="en-US" sz="3200" i="1" dirty="0"/>
              <a:t>third</a:t>
            </a:r>
            <a:r>
              <a:rPr lang="en-US" sz="3200" dirty="0"/>
              <a:t> compartment of a class diagram. </a:t>
            </a:r>
            <a:endParaRPr lang="en-US" sz="3200" dirty="0" smtClean="0"/>
          </a:p>
          <a:p>
            <a:r>
              <a:rPr lang="en-US" sz="3200" dirty="0" smtClean="0"/>
              <a:t>To </a:t>
            </a:r>
            <a:r>
              <a:rPr lang="en-US" sz="3200" dirty="0"/>
              <a:t>distinguish a </a:t>
            </a:r>
            <a:r>
              <a:rPr lang="en-US" sz="3200" dirty="0" smtClean="0"/>
              <a:t>constructor </a:t>
            </a:r>
            <a:r>
              <a:rPr lang="en-US" sz="3200" dirty="0"/>
              <a:t>from the class’s other operations, the UML requires that the word “constructor” be enclosed in guillemets (« and ») and placed before the constructor’s name. </a:t>
            </a:r>
            <a:endParaRPr lang="en-US" sz="3200" dirty="0" smtClean="0"/>
          </a:p>
          <a:p>
            <a:r>
              <a:rPr lang="en-US" sz="3200" dirty="0" smtClean="0"/>
              <a:t>It’s </a:t>
            </a:r>
            <a:r>
              <a:rPr lang="en-US" sz="3200" dirty="0"/>
              <a:t>customary to list constructors </a:t>
            </a:r>
            <a:r>
              <a:rPr lang="en-US" sz="3200" i="1" dirty="0"/>
              <a:t>before</a:t>
            </a:r>
            <a:r>
              <a:rPr lang="en-US" sz="3200" dirty="0"/>
              <a:t> other operations in the third compartment. </a:t>
            </a:r>
          </a:p>
          <a:p>
            <a:endParaRPr lang="en-US" sz="3200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4.8.2 </a:t>
            </a:r>
            <a:r>
              <a:rPr lang="en-US" dirty="0"/>
              <a:t>Class </a:t>
            </a:r>
            <a:r>
              <a:rPr lang="en-US" dirty="0" err="1">
                <a:latin typeface="Consolas" panose="020B0609020204030204" pitchFamily="49" charset="0"/>
              </a:rPr>
              <a:t>AccountTest</a:t>
            </a:r>
            <a:r>
              <a:rPr lang="en-US" dirty="0"/>
              <a:t>: Initializing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 Objects When They’re Created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75970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2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47825"/>
            <a:ext cx="12192000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24188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Type </a:t>
            </a:r>
            <a:r>
              <a:rPr lang="en-US" sz="3200" b="1" dirty="0" smtClean="0">
                <a:latin typeface="Consolas" panose="020B0609020204030204" pitchFamily="49" charset="0"/>
              </a:rPr>
              <a:t>decimal</a:t>
            </a:r>
            <a:r>
              <a:rPr lang="en-US" sz="3200" dirty="0"/>
              <a:t> </a:t>
            </a:r>
            <a:r>
              <a:rPr lang="en-US" sz="3200" dirty="0" smtClean="0"/>
              <a:t>is </a:t>
            </a:r>
            <a:r>
              <a:rPr lang="en-US" sz="3200" dirty="0"/>
              <a:t>designed to precisely represent numbers with decimal points, especially </a:t>
            </a:r>
            <a:r>
              <a:rPr lang="en-US" sz="3200" i="1" dirty="0"/>
              <a:t>monetary amounts</a:t>
            </a:r>
            <a:r>
              <a:rPr lang="en-US" sz="3200" dirty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4.9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 Class with a </a:t>
            </a:r>
            <a:r>
              <a:rPr lang="en-US" dirty="0">
                <a:latin typeface="Consolas" panose="020B0609020204030204" pitchFamily="49" charset="0"/>
              </a:rPr>
              <a:t>Balance</a:t>
            </a:r>
            <a:r>
              <a:rPr lang="en-US" dirty="0"/>
              <a:t>; Processing Monetary Amounts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37108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A </a:t>
            </a:r>
            <a:r>
              <a:rPr lang="en-US" sz="3200" dirty="0">
                <a:latin typeface="Consolas" panose="020B0609020204030204" pitchFamily="49" charset="0"/>
              </a:rPr>
              <a:t>decimal</a:t>
            </a:r>
            <a:r>
              <a:rPr lang="en-US" sz="3200" dirty="0"/>
              <a:t> instance variable is initialized to zero by default. </a:t>
            </a:r>
          </a:p>
          <a:p>
            <a:r>
              <a:rPr lang="en-US" sz="3200" dirty="0"/>
              <a:t>The </a:t>
            </a:r>
            <a:r>
              <a:rPr lang="en-US" sz="3200" dirty="0">
                <a:latin typeface="Consolas" panose="020B0609020204030204" pitchFamily="49" charset="0"/>
              </a:rPr>
              <a:t>Balance</a:t>
            </a:r>
            <a:r>
              <a:rPr lang="en-US" sz="3200" dirty="0"/>
              <a:t> property’s set accessor performs </a:t>
            </a:r>
            <a:r>
              <a:rPr lang="en-US" sz="3200" b="1" dirty="0"/>
              <a:t>validation</a:t>
            </a:r>
            <a:r>
              <a:rPr lang="en-US" sz="3200" dirty="0"/>
              <a:t> (also known as </a:t>
            </a:r>
            <a:r>
              <a:rPr lang="en-US" sz="3200" b="1" dirty="0"/>
              <a:t>validity checking</a:t>
            </a:r>
            <a:r>
              <a:rPr lang="en-US" sz="3200" dirty="0"/>
              <a:t>). </a:t>
            </a:r>
            <a:endParaRPr lang="en-US" sz="3200" dirty="0" smtClean="0"/>
          </a:p>
          <a:p>
            <a:r>
              <a:rPr lang="en-US" sz="3200" dirty="0" smtClean="0"/>
              <a:t>In </a:t>
            </a:r>
            <a:r>
              <a:rPr lang="en-US" sz="3200" dirty="0" smtClean="0">
                <a:latin typeface="Consolas" panose="020B0609020204030204" pitchFamily="49" charset="0"/>
              </a:rPr>
              <a:t>0.0m</a:t>
            </a:r>
            <a:r>
              <a:rPr lang="en-US" sz="3200" dirty="0" smtClean="0"/>
              <a:t> the </a:t>
            </a:r>
            <a:r>
              <a:rPr lang="en-US" sz="3200" dirty="0"/>
              <a:t>letter </a:t>
            </a:r>
            <a:r>
              <a:rPr lang="en-US" sz="3200" dirty="0">
                <a:latin typeface="Consolas" panose="020B0609020204030204" pitchFamily="49" charset="0"/>
              </a:rPr>
              <a:t>m</a:t>
            </a:r>
            <a:r>
              <a:rPr lang="en-US" sz="3200" dirty="0"/>
              <a:t> (or </a:t>
            </a:r>
            <a:r>
              <a:rPr lang="en-US" sz="3200" dirty="0">
                <a:latin typeface="Consolas" panose="020B0609020204030204" pitchFamily="49" charset="0"/>
              </a:rPr>
              <a:t>M</a:t>
            </a:r>
            <a:r>
              <a:rPr lang="en-US" sz="3200" dirty="0"/>
              <a:t>) indicates that </a:t>
            </a:r>
            <a:r>
              <a:rPr lang="en-US" sz="3200" dirty="0">
                <a:latin typeface="Consolas" panose="020B0609020204030204" pitchFamily="49" charset="0"/>
              </a:rPr>
              <a:t>0.0</a:t>
            </a:r>
            <a:r>
              <a:rPr lang="en-US" sz="3200" dirty="0"/>
              <a:t> is a </a:t>
            </a:r>
            <a:r>
              <a:rPr lang="en-US" sz="3200" b="1" dirty="0">
                <a:latin typeface="Consolas" panose="020B0609020204030204" pitchFamily="49" charset="0"/>
              </a:rPr>
              <a:t>decimal</a:t>
            </a:r>
            <a:r>
              <a:rPr lang="en-US" sz="3200" b="1" dirty="0"/>
              <a:t> literal</a:t>
            </a:r>
            <a:r>
              <a:rPr lang="en-US" sz="3200" dirty="0"/>
              <a:t>. </a:t>
            </a:r>
            <a:endParaRPr lang="en-US" sz="3200" dirty="0" smtClean="0"/>
          </a:p>
          <a:p>
            <a:r>
              <a:rPr lang="en-US" sz="3200" dirty="0" smtClean="0"/>
              <a:t>The </a:t>
            </a:r>
            <a:r>
              <a:rPr lang="en-US" sz="3200" dirty="0">
                <a:latin typeface="Consolas" panose="020B0609020204030204" pitchFamily="49" charset="0"/>
              </a:rPr>
              <a:t>m</a:t>
            </a:r>
            <a:r>
              <a:rPr lang="en-US" sz="3200" dirty="0"/>
              <a:t> is required to indicate a </a:t>
            </a:r>
            <a:r>
              <a:rPr lang="en-US" sz="3200" dirty="0">
                <a:latin typeface="Consolas" panose="020B0609020204030204" pitchFamily="49" charset="0"/>
              </a:rPr>
              <a:t>decimal</a:t>
            </a:r>
            <a:r>
              <a:rPr lang="en-US" sz="3200" dirty="0"/>
              <a:t> literal. </a:t>
            </a:r>
            <a:endParaRPr lang="en-US" sz="3200" dirty="0" smtClean="0"/>
          </a:p>
          <a:p>
            <a:r>
              <a:rPr lang="en-US" sz="3200" dirty="0" smtClean="0"/>
              <a:t>C</a:t>
            </a:r>
            <a:r>
              <a:rPr lang="en-US" sz="3200" dirty="0"/>
              <a:t># treats numeric literals with decimal points as type </a:t>
            </a:r>
            <a:r>
              <a:rPr lang="en-US" sz="3200" dirty="0">
                <a:latin typeface="Consolas" panose="020B0609020204030204" pitchFamily="49" charset="0"/>
              </a:rPr>
              <a:t>double</a:t>
            </a:r>
            <a:r>
              <a:rPr lang="en-US" sz="3200" dirty="0"/>
              <a:t> by default, and </a:t>
            </a:r>
            <a:r>
              <a:rPr lang="en-US" sz="3200" dirty="0">
                <a:latin typeface="Consolas" panose="020B0609020204030204" pitchFamily="49" charset="0"/>
              </a:rPr>
              <a:t>double</a:t>
            </a:r>
            <a:r>
              <a:rPr lang="en-US" sz="3200" dirty="0"/>
              <a:t>s and </a:t>
            </a:r>
            <a:r>
              <a:rPr lang="en-US" sz="3200" dirty="0">
                <a:latin typeface="Consolas" panose="020B0609020204030204" pitchFamily="49" charset="0"/>
              </a:rPr>
              <a:t>decimal</a:t>
            </a:r>
            <a:r>
              <a:rPr lang="en-US" sz="3200" dirty="0"/>
              <a:t>s cannot be intermixed.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4.9.1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 Class with a </a:t>
            </a:r>
            <a:r>
              <a:rPr lang="en-US" dirty="0">
                <a:latin typeface="Consolas" panose="020B0609020204030204" pitchFamily="49" charset="0"/>
              </a:rPr>
              <a:t>decimal</a:t>
            </a:r>
            <a:r>
              <a:rPr lang="en-US" dirty="0"/>
              <a:t> balance Instance Variable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9204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2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813"/>
            <a:ext cx="12192000" cy="65563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63574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3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38" y="0"/>
            <a:ext cx="117173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3917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3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6300"/>
            <a:ext cx="12192000" cy="51038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11161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By default, a property’s </a:t>
            </a:r>
            <a:r>
              <a:rPr lang="en-US" sz="2800" dirty="0">
                <a:latin typeface="Consolas" panose="020B0609020204030204" pitchFamily="49" charset="0"/>
              </a:rPr>
              <a:t>get</a:t>
            </a:r>
            <a:r>
              <a:rPr lang="en-US" sz="2800" dirty="0"/>
              <a:t> and </a:t>
            </a:r>
            <a:r>
              <a:rPr lang="en-US" sz="2800" dirty="0">
                <a:latin typeface="Consolas" panose="020B0609020204030204" pitchFamily="49" charset="0"/>
              </a:rPr>
              <a:t>set</a:t>
            </a:r>
            <a:r>
              <a:rPr lang="en-US" sz="2800" dirty="0"/>
              <a:t> accessors have the </a:t>
            </a:r>
            <a:r>
              <a:rPr lang="en-US" sz="2800" i="1" dirty="0"/>
              <a:t>same</a:t>
            </a:r>
            <a:r>
              <a:rPr lang="en-US" sz="2800" dirty="0"/>
              <a:t> access as the property—e.g</a:t>
            </a:r>
            <a:r>
              <a:rPr lang="en-US" sz="2800" dirty="0" smtClean="0"/>
              <a:t>., a </a:t>
            </a:r>
            <a:r>
              <a:rPr lang="en-US" sz="2800" dirty="0">
                <a:latin typeface="Consolas" panose="020B0609020204030204" pitchFamily="49" charset="0"/>
              </a:rPr>
              <a:t>public</a:t>
            </a:r>
            <a:r>
              <a:rPr lang="en-US" sz="2800" dirty="0"/>
              <a:t> property </a:t>
            </a:r>
            <a:r>
              <a:rPr lang="en-US" sz="2800" dirty="0" smtClean="0"/>
              <a:t>accessors </a:t>
            </a:r>
            <a:r>
              <a:rPr lang="en-US" sz="2800" dirty="0"/>
              <a:t>are </a:t>
            </a:r>
            <a:r>
              <a:rPr lang="en-US" sz="2800" dirty="0">
                <a:latin typeface="Consolas" panose="020B0609020204030204" pitchFamily="49" charset="0"/>
              </a:rPr>
              <a:t>public</a:t>
            </a:r>
            <a:r>
              <a:rPr lang="en-US" sz="2800" dirty="0"/>
              <a:t>. </a:t>
            </a:r>
            <a:endParaRPr lang="en-US" sz="2800" dirty="0" smtClean="0"/>
          </a:p>
          <a:p>
            <a:r>
              <a:rPr lang="en-US" sz="2800" dirty="0" smtClean="0"/>
              <a:t>It’s </a:t>
            </a:r>
            <a:r>
              <a:rPr lang="en-US" sz="2800" dirty="0"/>
              <a:t>possible to declare the </a:t>
            </a:r>
            <a:r>
              <a:rPr lang="en-US" sz="2800" dirty="0">
                <a:latin typeface="Consolas" panose="020B0609020204030204" pitchFamily="49" charset="0"/>
              </a:rPr>
              <a:t>get</a:t>
            </a:r>
            <a:r>
              <a:rPr lang="en-US" sz="2800" dirty="0"/>
              <a:t> and </a:t>
            </a:r>
            <a:r>
              <a:rPr lang="en-US" sz="2800" dirty="0">
                <a:latin typeface="Consolas" panose="020B0609020204030204" pitchFamily="49" charset="0"/>
              </a:rPr>
              <a:t>set</a:t>
            </a:r>
            <a:r>
              <a:rPr lang="en-US" sz="2800" dirty="0"/>
              <a:t> accessors with </a:t>
            </a:r>
            <a:r>
              <a:rPr lang="en-US" sz="2800" i="1" dirty="0"/>
              <a:t>different</a:t>
            </a:r>
            <a:r>
              <a:rPr lang="en-US" sz="2800" dirty="0"/>
              <a:t> access modifiers. </a:t>
            </a:r>
            <a:endParaRPr lang="en-US" sz="2800" dirty="0" smtClean="0"/>
          </a:p>
          <a:p>
            <a:pPr lvl="1"/>
            <a:r>
              <a:rPr lang="en-US" sz="2400" dirty="0" smtClean="0"/>
              <a:t>In </a:t>
            </a:r>
            <a:r>
              <a:rPr lang="en-US" sz="2400" dirty="0"/>
              <a:t>this case, one of the accessors must </a:t>
            </a:r>
            <a:r>
              <a:rPr lang="en-US" sz="2400" i="1" dirty="0"/>
              <a:t>implicitly</a:t>
            </a:r>
            <a:r>
              <a:rPr lang="en-US" sz="2400" dirty="0"/>
              <a:t> have the </a:t>
            </a:r>
            <a:r>
              <a:rPr lang="en-US" sz="2400" i="1" dirty="0"/>
              <a:t>same</a:t>
            </a:r>
            <a:r>
              <a:rPr lang="en-US" sz="2400" dirty="0"/>
              <a:t> access as the property and the other must be </a:t>
            </a:r>
            <a:r>
              <a:rPr lang="en-US" sz="2400" i="1" dirty="0"/>
              <a:t>explicitly declared</a:t>
            </a:r>
            <a:r>
              <a:rPr lang="en-US" sz="2400" dirty="0"/>
              <a:t> with a </a:t>
            </a:r>
            <a:r>
              <a:rPr lang="en-US" sz="2400" i="1" dirty="0"/>
              <a:t>more restrictive</a:t>
            </a:r>
            <a:r>
              <a:rPr lang="en-US" sz="2400" dirty="0"/>
              <a:t> access modifier than the property. </a:t>
            </a:r>
            <a:endParaRPr lang="en-US" sz="2400" dirty="0" smtClean="0"/>
          </a:p>
          <a:p>
            <a:r>
              <a:rPr lang="en-US" sz="2800" dirty="0" smtClean="0"/>
              <a:t>We </a:t>
            </a:r>
            <a:r>
              <a:rPr lang="en-US" sz="2800" dirty="0"/>
              <a:t>declared the </a:t>
            </a:r>
            <a:r>
              <a:rPr lang="en-US" sz="2800" dirty="0">
                <a:latin typeface="Consolas" panose="020B0609020204030204" pitchFamily="49" charset="0"/>
              </a:rPr>
              <a:t>Balance</a:t>
            </a:r>
            <a:r>
              <a:rPr lang="en-US" sz="2800" dirty="0"/>
              <a:t> property’s </a:t>
            </a:r>
            <a:r>
              <a:rPr lang="en-US" sz="2800" dirty="0">
                <a:latin typeface="Consolas" panose="020B0609020204030204" pitchFamily="49" charset="0"/>
              </a:rPr>
              <a:t>set</a:t>
            </a:r>
            <a:r>
              <a:rPr lang="en-US" sz="2800" dirty="0"/>
              <a:t> accessor </a:t>
            </a:r>
            <a:r>
              <a:rPr lang="en-US" sz="2800" dirty="0" smtClean="0">
                <a:latin typeface="Consolas" panose="020B0609020204030204" pitchFamily="49" charset="0"/>
              </a:rPr>
              <a:t>private</a:t>
            </a:r>
            <a:endParaRPr lang="en-US" sz="2800" dirty="0" smtClean="0"/>
          </a:p>
          <a:p>
            <a:pPr lvl="1"/>
            <a:r>
              <a:rPr lang="en-US" sz="2400" dirty="0" smtClean="0"/>
              <a:t>indicates </a:t>
            </a:r>
            <a:r>
              <a:rPr lang="en-US" sz="2400" dirty="0"/>
              <a:t>that it may be used only in class </a:t>
            </a:r>
            <a:r>
              <a:rPr lang="en-US" sz="2400" dirty="0" smtClean="0">
                <a:latin typeface="Consolas" panose="020B0609020204030204" pitchFamily="49" charset="0"/>
              </a:rPr>
              <a:t>Account</a:t>
            </a:r>
            <a:r>
              <a:rPr lang="en-US" sz="2400" dirty="0" smtClean="0"/>
              <a:t>. </a:t>
            </a:r>
          </a:p>
          <a:p>
            <a:pPr lvl="1"/>
            <a:r>
              <a:rPr lang="en-US" sz="2400" dirty="0" smtClean="0"/>
              <a:t>enables </a:t>
            </a:r>
            <a:r>
              <a:rPr lang="en-US" sz="2400" dirty="0"/>
              <a:t>us to ensure that once an </a:t>
            </a:r>
            <a:r>
              <a:rPr lang="en-US" sz="2400" dirty="0">
                <a:latin typeface="Consolas" panose="020B0609020204030204" pitchFamily="49" charset="0"/>
              </a:rPr>
              <a:t>Account</a:t>
            </a:r>
            <a:r>
              <a:rPr lang="en-US" sz="2400" dirty="0"/>
              <a:t> object exists, its </a:t>
            </a:r>
            <a:r>
              <a:rPr lang="en-US" sz="2400" dirty="0">
                <a:latin typeface="Consolas" panose="020B0609020204030204" pitchFamily="49" charset="0"/>
              </a:rPr>
              <a:t>balance</a:t>
            </a:r>
            <a:r>
              <a:rPr lang="en-US" sz="2400" dirty="0"/>
              <a:t> can be modified </a:t>
            </a:r>
            <a:r>
              <a:rPr lang="en-US" sz="2400" i="1" dirty="0"/>
              <a:t>only</a:t>
            </a:r>
            <a:r>
              <a:rPr lang="en-US" sz="2400" dirty="0"/>
              <a:t> by method </a:t>
            </a:r>
            <a:r>
              <a:rPr lang="en-US" sz="2400" dirty="0" smtClean="0">
                <a:latin typeface="Consolas" panose="020B0609020204030204" pitchFamily="49" charset="0"/>
              </a:rPr>
              <a:t>Deposit</a:t>
            </a: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4.9.1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 Class with a </a:t>
            </a:r>
            <a:r>
              <a:rPr lang="en-US" dirty="0">
                <a:latin typeface="Consolas" panose="020B0609020204030204" pitchFamily="49" charset="0"/>
              </a:rPr>
              <a:t>decimal</a:t>
            </a:r>
            <a:r>
              <a:rPr lang="en-US" dirty="0"/>
              <a:t> balance Instance Variable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©1992-2017 by Pearson </a:t>
            </a:r>
            <a:r>
              <a:rPr lang="en-US" dirty="0" smtClean="0">
                <a:latin typeface="Consolas" panose="020B0609020204030204" pitchFamily="49" charset="0"/>
              </a:rPr>
              <a:t>Education</a:t>
            </a:r>
            <a:r>
              <a:rPr lang="en-US" dirty="0" smtClean="0"/>
              <a:t>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72396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3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3525"/>
            <a:ext cx="121920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68446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3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6025"/>
            <a:ext cx="12192000" cy="44259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09751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3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9050"/>
            <a:ext cx="12192000" cy="4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77322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You </a:t>
            </a:r>
            <a:r>
              <a:rPr lang="en-US" sz="3200" dirty="0"/>
              <a:t>can specify formatting in a C# 6 </a:t>
            </a:r>
            <a:r>
              <a:rPr lang="en-US" sz="3200" dirty="0">
                <a:latin typeface="Consolas" panose="020B0609020204030204" pitchFamily="49" charset="0"/>
              </a:rPr>
              <a:t>string</a:t>
            </a:r>
            <a:r>
              <a:rPr lang="en-US" sz="3200" dirty="0"/>
              <a:t> interpolation expression by following the value in the braces with a colon and a </a:t>
            </a:r>
            <a:r>
              <a:rPr lang="en-US" sz="3200" b="1" dirty="0"/>
              <a:t>format specifier</a:t>
            </a:r>
            <a:r>
              <a:rPr lang="en-US" sz="3200" dirty="0"/>
              <a:t>. </a:t>
            </a:r>
          </a:p>
          <a:p>
            <a:r>
              <a:rPr lang="en-US" sz="3200" dirty="0">
                <a:latin typeface="Consolas" panose="020B0609020204030204" pitchFamily="49" charset="0"/>
              </a:rPr>
              <a:t>{account1.Balance:C}	</a:t>
            </a:r>
          </a:p>
          <a:p>
            <a:pPr lvl="1"/>
            <a:r>
              <a:rPr lang="en-US" sz="2800" dirty="0"/>
              <a:t>uses the </a:t>
            </a:r>
            <a:r>
              <a:rPr lang="en-US" sz="2800" b="1" dirty="0"/>
              <a:t>format specifier </a:t>
            </a:r>
            <a:r>
              <a:rPr lang="en-US" sz="2800" b="1" dirty="0">
                <a:latin typeface="Consolas" panose="020B0609020204030204" pitchFamily="49" charset="0"/>
              </a:rPr>
              <a:t>C</a:t>
            </a:r>
            <a:r>
              <a:rPr lang="en-US" sz="2800" dirty="0"/>
              <a:t> to format </a:t>
            </a:r>
            <a:r>
              <a:rPr lang="en-US" sz="2800" dirty="0">
                <a:latin typeface="Consolas" panose="020B0609020204030204" pitchFamily="49" charset="0"/>
              </a:rPr>
              <a:t>account1.Balance</a:t>
            </a:r>
            <a:r>
              <a:rPr lang="en-US" sz="2800" dirty="0"/>
              <a:t> as </a:t>
            </a:r>
            <a:r>
              <a:rPr lang="en-US" sz="2800" i="1" dirty="0"/>
              <a:t>currency</a:t>
            </a:r>
            <a:r>
              <a:rPr lang="en-US" sz="2800" dirty="0"/>
              <a:t>. </a:t>
            </a:r>
            <a:endParaRPr lang="en-US" sz="2800" dirty="0" smtClean="0"/>
          </a:p>
          <a:p>
            <a:r>
              <a:rPr lang="en-US" sz="3200" dirty="0" smtClean="0"/>
              <a:t>The </a:t>
            </a:r>
            <a:r>
              <a:rPr lang="en-US" sz="3200" dirty="0"/>
              <a:t>Windows culture settings on the user’s machine determine the format for displaying currency amounts, such as the commas vs. periods for separating thousands, millions, etc. </a:t>
            </a:r>
            <a:endParaRPr lang="en-US" sz="3200" dirty="0" smtClean="0"/>
          </a:p>
          <a:p>
            <a:pPr lvl="1"/>
            <a:endParaRPr lang="en-US" sz="2800" dirty="0"/>
          </a:p>
          <a:p>
            <a:endParaRPr 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4.9.2 </a:t>
            </a:r>
            <a:r>
              <a:rPr lang="en-US" dirty="0" err="1">
                <a:latin typeface="Consolas" panose="020B0609020204030204" pitchFamily="49" charset="0"/>
              </a:rPr>
              <a:t>AccountTest</a:t>
            </a:r>
            <a:r>
              <a:rPr lang="en-US" dirty="0"/>
              <a:t> Class That Uses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 Objects with </a:t>
            </a:r>
            <a:r>
              <a:rPr lang="en-US" dirty="0" smtClean="0"/>
              <a:t>Balances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60373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3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0597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3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8013"/>
            <a:ext cx="12192000" cy="564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3081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3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1963"/>
            <a:ext cx="12192000" cy="5934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4473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3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1013"/>
            <a:ext cx="12192000" cy="58943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4871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3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" y="0"/>
            <a:ext cx="103251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6934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4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1538"/>
            <a:ext cx="12192000" cy="51133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91793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Unlike </a:t>
            </a:r>
            <a:r>
              <a:rPr lang="en-US" sz="3200" i="1" dirty="0"/>
              <a:t>instance</a:t>
            </a:r>
            <a:r>
              <a:rPr lang="en-US" sz="3200" dirty="0"/>
              <a:t> </a:t>
            </a:r>
            <a:r>
              <a:rPr lang="en-US" sz="3200" dirty="0" smtClean="0"/>
              <a:t>variables, </a:t>
            </a:r>
            <a:r>
              <a:rPr lang="en-US" sz="3200" i="1" dirty="0"/>
              <a:t>local</a:t>
            </a:r>
            <a:r>
              <a:rPr lang="en-US" sz="3200" dirty="0"/>
              <a:t> variables </a:t>
            </a:r>
            <a:r>
              <a:rPr lang="en-US" sz="3200" dirty="0" smtClean="0"/>
              <a:t>are </a:t>
            </a:r>
            <a:r>
              <a:rPr lang="en-US" sz="3200" i="1" dirty="0"/>
              <a:t>not</a:t>
            </a:r>
            <a:r>
              <a:rPr lang="en-US" sz="3200" dirty="0"/>
              <a:t> initialized by default, so they normally must be initialized explicitly</a:t>
            </a:r>
            <a:r>
              <a:rPr lang="en-US" sz="3200" dirty="0" smtClean="0"/>
              <a:t>.</a:t>
            </a:r>
          </a:p>
          <a:p>
            <a:r>
              <a:rPr lang="en-US" sz="3200" dirty="0" smtClean="0">
                <a:latin typeface="Consolas" panose="020B0609020204030204" pitchFamily="49" charset="0"/>
              </a:rPr>
              <a:t>decimal</a:t>
            </a:r>
            <a:r>
              <a:rPr lang="en-US" sz="3200" dirty="0" smtClean="0"/>
              <a:t>’s </a:t>
            </a:r>
            <a:r>
              <a:rPr lang="en-US" sz="3200" b="1" dirty="0">
                <a:latin typeface="Consolas" panose="020B0609020204030204" pitchFamily="49" charset="0"/>
              </a:rPr>
              <a:t>Parse</a:t>
            </a:r>
            <a:r>
              <a:rPr lang="en-US" sz="3200" dirty="0"/>
              <a:t> </a:t>
            </a:r>
            <a:r>
              <a:rPr lang="en-US" sz="3200" dirty="0" smtClean="0"/>
              <a:t>method returns </a:t>
            </a:r>
            <a:r>
              <a:rPr lang="en-US" sz="3200" dirty="0"/>
              <a:t>the </a:t>
            </a:r>
            <a:r>
              <a:rPr lang="en-US" sz="3200" dirty="0">
                <a:latin typeface="Consolas" panose="020B0609020204030204" pitchFamily="49" charset="0"/>
              </a:rPr>
              <a:t>decimal</a:t>
            </a:r>
            <a:r>
              <a:rPr lang="en-US" sz="3200" dirty="0"/>
              <a:t> value in this </a:t>
            </a:r>
            <a:r>
              <a:rPr lang="en-US" sz="3200" dirty="0">
                <a:latin typeface="Consolas" panose="020B0609020204030204" pitchFamily="49" charset="0"/>
              </a:rPr>
              <a:t>string</a:t>
            </a:r>
            <a:r>
              <a:rPr lang="en-US" sz="3200" dirty="0"/>
              <a:t>—each simple type has a </a:t>
            </a:r>
            <a:r>
              <a:rPr lang="en-US" sz="3200" dirty="0">
                <a:latin typeface="Consolas" panose="020B0609020204030204" pitchFamily="49" charset="0"/>
              </a:rPr>
              <a:t>Parse</a:t>
            </a:r>
            <a:r>
              <a:rPr lang="en-US" sz="3200" dirty="0"/>
              <a:t> method. </a:t>
            </a:r>
          </a:p>
          <a:p>
            <a:endParaRPr 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4.9.2 </a:t>
            </a:r>
            <a:r>
              <a:rPr lang="en-US" dirty="0" err="1">
                <a:latin typeface="Consolas" panose="020B0609020204030204" pitchFamily="49" charset="0"/>
              </a:rPr>
              <a:t>AccountTest</a:t>
            </a:r>
            <a:r>
              <a:rPr lang="en-US" dirty="0"/>
              <a:t> Class That Uses </a:t>
            </a:r>
            <a:r>
              <a:rPr lang="en-US" dirty="0">
                <a:latin typeface="Consolas" panose="020B0609020204030204" pitchFamily="49" charset="0"/>
              </a:rPr>
              <a:t>Account</a:t>
            </a:r>
            <a:r>
              <a:rPr lang="en-US" dirty="0"/>
              <a:t> Objects with </a:t>
            </a:r>
            <a:r>
              <a:rPr lang="en-US" dirty="0" smtClean="0"/>
              <a:t>Balances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2198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4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5138"/>
            <a:ext cx="12192000" cy="59261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6544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4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1650"/>
            <a:ext cx="121920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74094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4_Page_4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2075"/>
            <a:ext cx="12192000" cy="41322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871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vcsharphtp6_05</Template>
  <TotalTime>910</TotalTime>
  <Words>5159</Words>
  <Application>Microsoft Office PowerPoint</Application>
  <PresentationFormat>Widescreen</PresentationFormat>
  <Paragraphs>372</Paragraphs>
  <Slides>97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6" baseType="lpstr">
      <vt:lpstr>Calibri</vt:lpstr>
      <vt:lpstr>Cambria</vt:lpstr>
      <vt:lpstr>Consolas</vt:lpstr>
      <vt:lpstr>Lucida Sans Unicode</vt:lpstr>
      <vt:lpstr>Verdana</vt:lpstr>
      <vt:lpstr>Wingdings</vt:lpstr>
      <vt:lpstr>Wingdings 2</vt:lpstr>
      <vt:lpstr>Wingdings 3</vt:lpstr>
      <vt:lpstr>Concourse</vt:lpstr>
      <vt:lpstr>Introduction to Classes, Objects, Methods and strings </vt:lpstr>
      <vt:lpstr>PowerPoint Presentation</vt:lpstr>
      <vt:lpstr>PowerPoint Presentation</vt:lpstr>
      <vt:lpstr>PowerPoint Presentation</vt:lpstr>
      <vt:lpstr>4.1 Introduction</vt:lpstr>
      <vt:lpstr>4.2 Test-Driving an Account Class </vt:lpstr>
      <vt:lpstr>4.2 Test-Driving an Account Class </vt:lpstr>
      <vt:lpstr>PowerPoint Presentation</vt:lpstr>
      <vt:lpstr>PowerPoint Presentation</vt:lpstr>
      <vt:lpstr>4.2.1 Instantiating an Object—Keyword new</vt:lpstr>
      <vt:lpstr>4.2.2 Calling Class Account’s GetName Method</vt:lpstr>
      <vt:lpstr>4.2.2 Calling Class Account’s GetName Method</vt:lpstr>
      <vt:lpstr>4.2.3 Inputting a Name from the User </vt:lpstr>
      <vt:lpstr>4.2.4 Calling Class Account’s SetName Method </vt:lpstr>
      <vt:lpstr>4.2.4 Calling Class Account’s SetName Method </vt:lpstr>
      <vt:lpstr>4.3 Account Class with an Instance Variable and Set and Get Methods</vt:lpstr>
      <vt:lpstr>4.3.1 Account Class Declaration</vt:lpstr>
      <vt:lpstr>PowerPoint Presentation</vt:lpstr>
      <vt:lpstr>4.3.2 Keyword class and the Class Body </vt:lpstr>
      <vt:lpstr>4.3.3 Instance Variable name of Type string  </vt:lpstr>
      <vt:lpstr>4.3.3 Instance Variable name of Type string  </vt:lpstr>
      <vt:lpstr>PowerPoint Presentation</vt:lpstr>
      <vt:lpstr>4.3.3 Instance Variable name of Type string  </vt:lpstr>
      <vt:lpstr>4.3.4 SetName Method</vt:lpstr>
      <vt:lpstr>4.3.4 SetName Method</vt:lpstr>
      <vt:lpstr>4.3.4 SetName Method</vt:lpstr>
      <vt:lpstr>4.3.4 SetName Method</vt:lpstr>
      <vt:lpstr>4.3.4 SetName Method</vt:lpstr>
      <vt:lpstr>4.3.5 GetName Method</vt:lpstr>
      <vt:lpstr>4.3.6 Access Modifiers private and public </vt:lpstr>
      <vt:lpstr>4.3.6 Access Modifiers private and public </vt:lpstr>
      <vt:lpstr>PowerPoint Presentation</vt:lpstr>
      <vt:lpstr>PowerPoint Presentation</vt:lpstr>
      <vt:lpstr>4.3.7 Account UML Class Diagram </vt:lpstr>
      <vt:lpstr>4.3.7 Account UML Class Diagram </vt:lpstr>
      <vt:lpstr>4.3.7 Account UML Class Diagram </vt:lpstr>
      <vt:lpstr>4.3.7 Account UML Class Diagram </vt:lpstr>
      <vt:lpstr>4.3.7 Account UML Class Diagram </vt:lpstr>
      <vt:lpstr>PowerPoint Presentation</vt:lpstr>
      <vt:lpstr>4.4 Creating, Compiling and Running a Visual C# Project with Two Classes</vt:lpstr>
      <vt:lpstr>PowerPoint Presentation</vt:lpstr>
      <vt:lpstr>4.5 Software Engineering with Set and Get Methods </vt:lpstr>
      <vt:lpstr>4.5 Software Engineering with Set and Get Methods </vt:lpstr>
      <vt:lpstr>4.5 Software Engineering with Set and Get Methods </vt:lpstr>
      <vt:lpstr>PowerPoint Presentation</vt:lpstr>
      <vt:lpstr>PowerPoint Presentation</vt:lpstr>
      <vt:lpstr>PowerPoint Presentation</vt:lpstr>
      <vt:lpstr>4.6 Account Class with a Property Rather Than Set and Get Methods </vt:lpstr>
      <vt:lpstr>4.6.1 Class AccountTest Using Account’s Name Property</vt:lpstr>
      <vt:lpstr>PowerPoint Presentation</vt:lpstr>
      <vt:lpstr>PowerPoint Presentation</vt:lpstr>
      <vt:lpstr>4.6.1 Class AccountTest Using Account’s Name Property</vt:lpstr>
      <vt:lpstr>4.6.1 Class AccountTest Using Account’s Name Property</vt:lpstr>
      <vt:lpstr>4.6.1 Class AccountTest Using Account’s Name Property</vt:lpstr>
      <vt:lpstr>4.6.2 Account Class with an Instance Variable and a Property</vt:lpstr>
      <vt:lpstr>PowerPoint Presentation</vt:lpstr>
      <vt:lpstr>4.6.2 Account Class with an Instance Variable and a Property</vt:lpstr>
      <vt:lpstr>4.6.2 Account Class with an Instance Variable and a Property</vt:lpstr>
      <vt:lpstr>4.6.2 Account Class with an Instance Variable and a Property</vt:lpstr>
      <vt:lpstr>PowerPoint Presentation</vt:lpstr>
      <vt:lpstr>4.6.3 Account UML Class Diagram with a Property</vt:lpstr>
      <vt:lpstr>4.6.3 Account UML Class Diagram with a Property</vt:lpstr>
      <vt:lpstr>PowerPoint Presentation</vt:lpstr>
      <vt:lpstr>4.7 Auto-Implemented Properties</vt:lpstr>
      <vt:lpstr>4.7 Auto-Implemented Properties</vt:lpstr>
      <vt:lpstr>PowerPoint Presentation</vt:lpstr>
      <vt:lpstr>4.8 Account Class: Initializing Objects with Constructors</vt:lpstr>
      <vt:lpstr>PowerPoint Presentation</vt:lpstr>
      <vt:lpstr>4.8.1 Declaring an Account Constructor for Custom Object Initialization</vt:lpstr>
      <vt:lpstr>4.8.1 Declaring an Account Constructor for Custom Object Initialization</vt:lpstr>
      <vt:lpstr>4.8.2 Class AccountTest: Initializing Account Objects When They’re Created</vt:lpstr>
      <vt:lpstr>PowerPoint Presentation</vt:lpstr>
      <vt:lpstr>4.8.2 Class AccountTest: Initializing Account Objects When They’re Created</vt:lpstr>
      <vt:lpstr>4.8.2 Class AccountTest: Initializing Account Objects When They’re Created</vt:lpstr>
      <vt:lpstr>PowerPoint Presentation</vt:lpstr>
      <vt:lpstr>4.8.2 Class AccountTest: Initializing Account Objects When They’re Created</vt:lpstr>
      <vt:lpstr>PowerPoint Presentation</vt:lpstr>
      <vt:lpstr>4.9 Account Class with a Balance; Processing Monetary Amounts </vt:lpstr>
      <vt:lpstr>4.9.1 Account Class with a decimal balance Instance Variable </vt:lpstr>
      <vt:lpstr>PowerPoint Presentation</vt:lpstr>
      <vt:lpstr>PowerPoint Presentation</vt:lpstr>
      <vt:lpstr>PowerPoint Presentation</vt:lpstr>
      <vt:lpstr>4.9.1 Account Class with a decimal balance Instance Variable </vt:lpstr>
      <vt:lpstr>PowerPoint Presentation</vt:lpstr>
      <vt:lpstr>PowerPoint Presentation</vt:lpstr>
      <vt:lpstr>PowerPoint Presentation</vt:lpstr>
      <vt:lpstr>4.9.2 AccountTest Class That Uses Account Objects with Balances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4.9.2 AccountTest Class That Uses Account Objects with Balances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Classes, Objects, Methods and strings </dc:title>
  <cp:lastModifiedBy>Microsoft account</cp:lastModifiedBy>
  <cp:revision>15</cp:revision>
  <dcterms:created xsi:type="dcterms:W3CDTF">2016-07-22T20:19:53Z</dcterms:created>
  <dcterms:modified xsi:type="dcterms:W3CDTF">2024-10-19T00:39:54Z</dcterms:modified>
</cp:coreProperties>
</file>