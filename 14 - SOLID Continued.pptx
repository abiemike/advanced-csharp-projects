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5" r:id="rId6"/>
  </p:sldMasterIdLst>
  <p:notesMasterIdLst>
    <p:notesMasterId r:id="rId24"/>
  </p:notesMasterIdLst>
  <p:handoutMasterIdLst>
    <p:handoutMasterId r:id="rId25"/>
  </p:handoutMasterIdLst>
  <p:sldIdLst>
    <p:sldId id="265" r:id="rId7"/>
    <p:sldId id="264" r:id="rId8"/>
    <p:sldId id="268" r:id="rId9"/>
    <p:sldId id="269" r:id="rId10"/>
    <p:sldId id="270" r:id="rId11"/>
    <p:sldId id="277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6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432">
          <p15:clr>
            <a:srgbClr val="A4A3A4"/>
          </p15:clr>
        </p15:guide>
        <p15:guide id="3" orient="horz" pos="3600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pos="5328">
          <p15:clr>
            <a:srgbClr val="A4A3A4"/>
          </p15:clr>
        </p15:guide>
        <p15:guide id="6" pos="2880">
          <p15:clr>
            <a:srgbClr val="A4A3A4"/>
          </p15:clr>
        </p15:guide>
        <p15:guide id="7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C8"/>
    <a:srgbClr val="AFC828"/>
    <a:srgbClr val="14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CD98E-6430-4778-96C8-79BFB5F2251D}" v="1" dt="2022-12-31T18:51:57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75" autoAdjust="0"/>
    <p:restoredTop sz="94660"/>
  </p:normalViewPr>
  <p:slideViewPr>
    <p:cSldViewPr snapToGrid="0" snapToObjects="1" showGuides="1">
      <p:cViewPr varScale="1">
        <p:scale>
          <a:sx n="105" d="100"/>
          <a:sy n="105" d="100"/>
        </p:scale>
        <p:origin x="1554" y="96"/>
      </p:cViewPr>
      <p:guideLst>
        <p:guide orient="horz" pos="3888"/>
        <p:guide orient="horz" pos="432"/>
        <p:guide orient="horz" pos="3600"/>
        <p:guide orient="horz" pos="2160"/>
        <p:guide pos="5328"/>
        <p:guide pos="2880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inz" userId="7f59dc78-02bd-4886-abaf-6bd5f36ff05a" providerId="ADAL" clId="{65E23EDD-4C10-4499-B2E5-1124F9376525}"/>
    <pc:docChg chg="modSld">
      <pc:chgData name="John Hinz" userId="7f59dc78-02bd-4886-abaf-6bd5f36ff05a" providerId="ADAL" clId="{65E23EDD-4C10-4499-B2E5-1124F9376525}" dt="2019-12-05T13:39:45.262" v="0"/>
      <pc:docMkLst>
        <pc:docMk/>
      </pc:docMkLst>
      <pc:sldChg chg="modSp">
        <pc:chgData name="John Hinz" userId="7f59dc78-02bd-4886-abaf-6bd5f36ff05a" providerId="ADAL" clId="{65E23EDD-4C10-4499-B2E5-1124F9376525}" dt="2019-12-05T13:39:45.262" v="0"/>
        <pc:sldMkLst>
          <pc:docMk/>
          <pc:sldMk cId="2853357568" sldId="265"/>
        </pc:sldMkLst>
        <pc:spChg chg="mod">
          <ac:chgData name="John Hinz" userId="7f59dc78-02bd-4886-abaf-6bd5f36ff05a" providerId="ADAL" clId="{65E23EDD-4C10-4499-B2E5-1124F9376525}" dt="2019-12-05T13:39:45.262" v="0"/>
          <ac:spMkLst>
            <pc:docMk/>
            <pc:sldMk cId="2853357568" sldId="265"/>
            <ac:spMk id="4" creationId="{00000000-0000-0000-0000-000000000000}"/>
          </ac:spMkLst>
        </pc:spChg>
      </pc:sldChg>
    </pc:docChg>
  </pc:docChgLst>
  <pc:docChgLst>
    <pc:chgData name="John Hinz" userId="7f59dc78-02bd-4886-abaf-6bd5f36ff05a" providerId="ADAL" clId="{756CD98E-6430-4778-96C8-79BFB5F2251D}"/>
    <pc:docChg chg="modSld modMainMaster">
      <pc:chgData name="John Hinz" userId="7f59dc78-02bd-4886-abaf-6bd5f36ff05a" providerId="ADAL" clId="{756CD98E-6430-4778-96C8-79BFB5F2251D}" dt="2022-12-31T18:51:57.647" v="1"/>
      <pc:docMkLst>
        <pc:docMk/>
      </pc:docMkLst>
      <pc:sldChg chg="modSp mod">
        <pc:chgData name="John Hinz" userId="7f59dc78-02bd-4886-abaf-6bd5f36ff05a" providerId="ADAL" clId="{756CD98E-6430-4778-96C8-79BFB5F2251D}" dt="2022-12-31T18:42:44.611" v="0" actId="6549"/>
        <pc:sldMkLst>
          <pc:docMk/>
          <pc:sldMk cId="2853357568" sldId="265"/>
        </pc:sldMkLst>
        <pc:spChg chg="mod">
          <ac:chgData name="John Hinz" userId="7f59dc78-02bd-4886-abaf-6bd5f36ff05a" providerId="ADAL" clId="{756CD98E-6430-4778-96C8-79BFB5F2251D}" dt="2022-12-31T18:42:44.611" v="0" actId="6549"/>
          <ac:spMkLst>
            <pc:docMk/>
            <pc:sldMk cId="2853357568" sldId="26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2543511098" sldId="268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2543511098" sldId="268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2126927577" sldId="269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2126927577" sldId="269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1177293005" sldId="270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1177293005" sldId="270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759209510" sldId="271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759209510" sldId="271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459172232" sldId="272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459172232" sldId="272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1835859444" sldId="273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1835859444" sldId="273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986587484" sldId="274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986587484" sldId="274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1779935053" sldId="275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1779935053" sldId="27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032003378" sldId="276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032003378" sldId="276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205429024" sldId="277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205429024" sldId="277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081304750" sldId="278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081304750" sldId="278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2900315788" sldId="279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2900315788" sldId="279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701638012" sldId="280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701638012" sldId="280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756CD98E-6430-4778-96C8-79BFB5F2251D}" dt="2022-12-31T18:51:57.647" v="1"/>
        <pc:sldMkLst>
          <pc:docMk/>
          <pc:sldMk cId="3789928271" sldId="281"/>
        </pc:sldMkLst>
        <pc:spChg chg="mod">
          <ac:chgData name="John Hinz" userId="7f59dc78-02bd-4886-abaf-6bd5f36ff05a" providerId="ADAL" clId="{756CD98E-6430-4778-96C8-79BFB5F2251D}" dt="2022-12-31T18:51:57.647" v="1"/>
          <ac:spMkLst>
            <pc:docMk/>
            <pc:sldMk cId="3789928271" sldId="281"/>
            <ac:spMk id="4" creationId="{00000000-0000-0000-0000-000000000000}"/>
          </ac:spMkLst>
        </pc:spChg>
      </pc:sldChg>
      <pc:sldMasterChg chg="modSldLayout">
        <pc:chgData name="John Hinz" userId="7f59dc78-02bd-4886-abaf-6bd5f36ff05a" providerId="ADAL" clId="{756CD98E-6430-4778-96C8-79BFB5F2251D}" dt="2022-12-31T18:51:57.647" v="1"/>
        <pc:sldMasterMkLst>
          <pc:docMk/>
          <pc:sldMasterMk cId="3832927138" sldId="2147483650"/>
        </pc:sldMasterMkLst>
        <pc:sldLayoutChg chg="modSp">
          <pc:chgData name="John Hinz" userId="7f59dc78-02bd-4886-abaf-6bd5f36ff05a" providerId="ADAL" clId="{756CD98E-6430-4778-96C8-79BFB5F2251D}" dt="2022-12-31T18:51:57.647" v="1"/>
          <pc:sldLayoutMkLst>
            <pc:docMk/>
            <pc:sldMasterMk cId="3832927138" sldId="2147483650"/>
            <pc:sldLayoutMk cId="2468820788" sldId="2147483657"/>
          </pc:sldLayoutMkLst>
          <pc:spChg chg="mod">
            <ac:chgData name="John Hinz" userId="7f59dc78-02bd-4886-abaf-6bd5f36ff05a" providerId="ADAL" clId="{756CD98E-6430-4778-96C8-79BFB5F2251D}" dt="2022-12-31T18:51:57.647" v="1"/>
            <ac:spMkLst>
              <pc:docMk/>
              <pc:sldMasterMk cId="3832927138" sldId="2147483650"/>
              <pc:sldLayoutMk cId="2468820788" sldId="2147483657"/>
              <ac:spMk id="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C81C5-AE7A-1044-93C2-6BFF0DD7BC2B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6EB44-35E4-0D4D-B375-5AD65073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612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B8FA7-5BDC-BF4F-AE27-E2122A3D7D4C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D953D-192A-4F4A-A51F-DC3C7E58A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29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/>
              <a:t>©2019 John Hinz</a:t>
            </a:r>
            <a:endParaRPr lang="en-C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54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Start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00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</a:t>
            </a:r>
            <a:r>
              <a:rPr lang="en-US" baseline="0"/>
              <a:t> Off </a:t>
            </a:r>
            <a:r>
              <a:rPr lang="en-US" baseline="0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9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98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7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CA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37BDD08-E33E-4E70-9A4A-E7BE06C20C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8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83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0" y="2984500"/>
            <a:ext cx="1828800" cy="387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968" y="5875020"/>
            <a:ext cx="237744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58200" y="5405437"/>
            <a:ext cx="685800" cy="14525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383292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8E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8200" y="5405436"/>
            <a:ext cx="685800" cy="145256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solidFill>
                  <a:srgbClr val="FFFFFF"/>
                </a:solidFill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solidFill>
                <a:srgbClr val="FFFFFF"/>
              </a:solidFill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16299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6bzaD8" TargetMode="External"/><Relationship Id="rId2" Type="http://schemas.openxmlformats.org/officeDocument/2006/relationships/hyperlink" Target="https://dotnetfiddle.net/Vo9zhP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evnUkC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YAmKsR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fiddle.net/Zaaddm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structuremap.net/" TargetMode="External"/><Relationship Id="rId2" Type="http://schemas.openxmlformats.org/officeDocument/2006/relationships/hyperlink" Target="https://unity.codeplex.com/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castleproject/Windsor/blob/master/docs/README.md" TargetMode="External"/><Relationship Id="rId4" Type="http://schemas.openxmlformats.org/officeDocument/2006/relationships/hyperlink" Target="http://www.ninject.org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dotnetfiddle.net/r0K2GM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7772400" cy="27533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NET. 012</a:t>
            </a:r>
          </a:p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S.O.L.I.D. </a:t>
            </a:r>
            <a:r>
              <a:rPr lang="en-US" sz="54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(cont.)</a:t>
            </a:r>
            <a:endParaRPr lang="en-US" sz="8000" spc="100" dirty="0">
              <a:solidFill>
                <a:schemeClr val="bg1"/>
              </a:solidFill>
              <a:latin typeface="ITC Franklin Gothic Std Dm Cd"/>
              <a:cs typeface="ITC Franklin Gothic Std Bk Cd"/>
            </a:endParaRPr>
          </a:p>
          <a:p>
            <a:pPr>
              <a:lnSpc>
                <a:spcPts val="7500"/>
              </a:lnSpc>
            </a:pPr>
            <a:r>
              <a:rPr lang="en-US" sz="32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Class 13</a:t>
            </a:r>
          </a:p>
        </p:txBody>
      </p:sp>
    </p:spTree>
    <p:extLst>
      <p:ext uri="{BB962C8B-B14F-4D97-AF65-F5344CB8AC3E}">
        <p14:creationId xmlns:p14="http://schemas.microsoft.com/office/powerpoint/2010/main" val="285335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85800"/>
            <a:ext cx="7772400" cy="35060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Agenda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Continue S.O.L.I.D discussion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Interface Segregation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Dependency Inversion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</p:txBody>
      </p:sp>
    </p:spTree>
    <p:extLst>
      <p:ext uri="{BB962C8B-B14F-4D97-AF65-F5344CB8AC3E}">
        <p14:creationId xmlns:p14="http://schemas.microsoft.com/office/powerpoint/2010/main" val="208111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Interface Segregation Principle -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Interface Segregation Principle states: </a:t>
            </a:r>
          </a:p>
          <a:p>
            <a:pPr lvl="1"/>
            <a:r>
              <a:rPr lang="en-CA" dirty="0"/>
              <a:t>Clients should not be forced to depend on (implement) methods they do not use.</a:t>
            </a:r>
          </a:p>
          <a:p>
            <a:r>
              <a:rPr lang="en-CA" dirty="0"/>
              <a:t>Prefer small, cohesive interfaces to ‘fat’ interfaces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511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Interface Segregation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Interface Segregation violations result in classes that depend on things they do not need, increasing coupling and reducing flexibility and maintainability.</a:t>
            </a:r>
          </a:p>
          <a:p>
            <a:r>
              <a:rPr lang="en-CA" dirty="0"/>
              <a:t>Keep interfaces lean and focused</a:t>
            </a:r>
          </a:p>
          <a:p>
            <a:r>
              <a:rPr lang="en-CA" dirty="0"/>
              <a:t>Refactor large interfaces so they inherit smaller interfaces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692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Interface Segregation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Keep interfaces small, cohesive, and focused</a:t>
            </a:r>
          </a:p>
          <a:p>
            <a:r>
              <a:rPr lang="en-CA" dirty="0"/>
              <a:t>Whenever possible, let the client define the interface</a:t>
            </a:r>
          </a:p>
          <a:p>
            <a:r>
              <a:rPr lang="en-CA" dirty="0"/>
              <a:t>Whenever possible, package the interface with the client</a:t>
            </a:r>
            <a:br>
              <a:rPr lang="en-CA" dirty="0"/>
            </a:b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729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Interface Segregation Principal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Before</a:t>
            </a:r>
          </a:p>
          <a:p>
            <a:pPr lvl="1"/>
            <a:r>
              <a:rPr lang="en-CA" dirty="0">
                <a:hlinkClick r:id="rId2"/>
              </a:rPr>
              <a:t>https://dotnetfiddle.net/Vo9zhP</a:t>
            </a:r>
            <a:endParaRPr lang="en-CA" dirty="0"/>
          </a:p>
          <a:p>
            <a:r>
              <a:rPr lang="en-CA" dirty="0"/>
              <a:t>After</a:t>
            </a:r>
          </a:p>
          <a:p>
            <a:pPr lvl="1"/>
            <a:r>
              <a:rPr lang="en-CA" dirty="0">
                <a:hlinkClick r:id="rId3"/>
              </a:rPr>
              <a:t>https://dotnetfiddle.net/6bzaD8</a:t>
            </a: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5429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Dependency Inversion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High-level modules should not depend on low-level modules. Both should depend on abstractions.</a:t>
            </a:r>
          </a:p>
          <a:p>
            <a:r>
              <a:rPr lang="en-CA" dirty="0"/>
              <a:t>Abstractions should not depend on details. Details should depend on abstractions.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920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Traditional Programming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High Level Modules Call Low Level Modules</a:t>
            </a:r>
          </a:p>
          <a:p>
            <a:r>
              <a:rPr lang="en-CA" sz="2800" dirty="0"/>
              <a:t>User Interface depends on</a:t>
            </a:r>
          </a:p>
          <a:p>
            <a:pPr lvl="1"/>
            <a:r>
              <a:rPr lang="en-CA" sz="2400" dirty="0"/>
              <a:t>Business Logic depends on</a:t>
            </a:r>
          </a:p>
          <a:p>
            <a:pPr lvl="2"/>
            <a:r>
              <a:rPr lang="en-CA" sz="2000" dirty="0"/>
              <a:t>Infrastructure</a:t>
            </a:r>
          </a:p>
          <a:p>
            <a:pPr lvl="2"/>
            <a:r>
              <a:rPr lang="en-CA" sz="2000" dirty="0"/>
              <a:t>Utility</a:t>
            </a:r>
          </a:p>
          <a:p>
            <a:pPr lvl="2"/>
            <a:r>
              <a:rPr lang="en-CA" sz="2000" dirty="0"/>
              <a:t>Data Access</a:t>
            </a:r>
          </a:p>
          <a:p>
            <a:r>
              <a:rPr lang="en-CA" sz="2800" dirty="0"/>
              <a:t>Class instantiation / Call stack logic is scattered through all modules</a:t>
            </a:r>
          </a:p>
          <a:p>
            <a:pPr lvl="1"/>
            <a:r>
              <a:rPr lang="en-CA" sz="2400" dirty="0"/>
              <a:t>Violation of Single Responsibility Principle</a:t>
            </a:r>
            <a:br>
              <a:rPr lang="en-CA" sz="2400" dirty="0"/>
            </a:br>
            <a:br>
              <a:rPr lang="en-CA" sz="2400" dirty="0"/>
            </a:br>
            <a:endParaRPr lang="en-CA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17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Dependency Injection is a technique that is used to allow calling code to inject the dependencies into a class when needed.</a:t>
            </a:r>
          </a:p>
          <a:p>
            <a:r>
              <a:rPr lang="en-CA" dirty="0"/>
              <a:t>Three Primary Techniques</a:t>
            </a:r>
          </a:p>
          <a:p>
            <a:pPr lvl="1"/>
            <a:r>
              <a:rPr lang="en-CA" dirty="0"/>
              <a:t>Constructor Injection</a:t>
            </a:r>
          </a:p>
          <a:p>
            <a:pPr lvl="1"/>
            <a:r>
              <a:rPr lang="en-CA" dirty="0"/>
              <a:t>Property Injection</a:t>
            </a:r>
          </a:p>
          <a:p>
            <a:pPr lvl="1"/>
            <a:r>
              <a:rPr lang="en-CA" dirty="0"/>
              <a:t>Parameter Injection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585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Constructor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Dependencies are passed in via constructor</a:t>
            </a:r>
          </a:p>
          <a:p>
            <a:r>
              <a:rPr lang="en-CA" sz="2400" dirty="0"/>
              <a:t>Pros</a:t>
            </a:r>
          </a:p>
          <a:p>
            <a:pPr lvl="1"/>
            <a:r>
              <a:rPr lang="en-CA" sz="2000" dirty="0"/>
              <a:t>Classes self-document what they need to perform their work</a:t>
            </a:r>
          </a:p>
          <a:p>
            <a:pPr lvl="1"/>
            <a:r>
              <a:rPr lang="en-CA" sz="2000" dirty="0"/>
              <a:t>Classes are always in a valid state once constructed</a:t>
            </a:r>
          </a:p>
          <a:p>
            <a:r>
              <a:rPr lang="en-CA" sz="2400" dirty="0"/>
              <a:t>Cons</a:t>
            </a:r>
          </a:p>
          <a:p>
            <a:pPr lvl="1"/>
            <a:r>
              <a:rPr lang="en-CA" sz="2000" dirty="0"/>
              <a:t>Constructors can have many parameters</a:t>
            </a:r>
          </a:p>
          <a:p>
            <a:pPr lvl="1"/>
            <a:r>
              <a:rPr lang="en-CA" sz="2000" dirty="0"/>
              <a:t>Some methods in the class may not require things other methods require</a:t>
            </a:r>
          </a:p>
          <a:p>
            <a:r>
              <a:rPr lang="en-CA" sz="2800" dirty="0">
                <a:hlinkClick r:id="rId2"/>
              </a:rPr>
              <a:t>https://dotnetfiddle.net/evnUkC</a:t>
            </a:r>
            <a:endParaRPr lang="en-CA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6587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Property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Dependencies are passed in via a property</a:t>
            </a:r>
          </a:p>
          <a:p>
            <a:pPr lvl="1"/>
            <a:r>
              <a:rPr lang="en-CA" sz="2000" dirty="0"/>
              <a:t>Also known as “setter injection”</a:t>
            </a:r>
          </a:p>
          <a:p>
            <a:r>
              <a:rPr lang="en-CA" sz="2400" dirty="0"/>
              <a:t>Pros</a:t>
            </a:r>
          </a:p>
          <a:p>
            <a:pPr lvl="1"/>
            <a:r>
              <a:rPr lang="en-CA" sz="2000" dirty="0"/>
              <a:t>Dependency can be changed at any time during object lifetime</a:t>
            </a:r>
          </a:p>
          <a:p>
            <a:pPr lvl="1"/>
            <a:r>
              <a:rPr lang="en-CA" sz="2000" dirty="0"/>
              <a:t>Very flexible</a:t>
            </a:r>
          </a:p>
          <a:p>
            <a:r>
              <a:rPr lang="en-CA" sz="2400" dirty="0"/>
              <a:t>Cons</a:t>
            </a:r>
          </a:p>
          <a:p>
            <a:pPr lvl="1"/>
            <a:r>
              <a:rPr lang="en-CA" sz="2000" dirty="0"/>
              <a:t>Objects may be in an invalid state between construction and setting of dependencies via setters</a:t>
            </a:r>
          </a:p>
          <a:p>
            <a:r>
              <a:rPr lang="en-CA" sz="2800" dirty="0">
                <a:hlinkClick r:id="rId2"/>
              </a:rPr>
              <a:t>https://dotnetfiddle.net/YAmKsR</a:t>
            </a:r>
            <a:endParaRPr lang="en-CA" sz="2800" dirty="0"/>
          </a:p>
          <a:p>
            <a:endParaRPr lang="en-CA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993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Parameter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Dependencies are passed in via a method parameter</a:t>
            </a:r>
          </a:p>
          <a:p>
            <a:r>
              <a:rPr lang="en-CA" sz="2800" dirty="0"/>
              <a:t>Pros</a:t>
            </a:r>
          </a:p>
          <a:p>
            <a:pPr lvl="1"/>
            <a:r>
              <a:rPr lang="en-CA" sz="2400" dirty="0"/>
              <a:t>Most granular</a:t>
            </a:r>
          </a:p>
          <a:p>
            <a:pPr lvl="1"/>
            <a:r>
              <a:rPr lang="en-CA" sz="2400" dirty="0"/>
              <a:t>Very flexible</a:t>
            </a:r>
          </a:p>
          <a:p>
            <a:pPr lvl="1"/>
            <a:r>
              <a:rPr lang="en-CA" sz="2400" dirty="0"/>
              <a:t>Requires no change to the rest of the class</a:t>
            </a:r>
          </a:p>
          <a:p>
            <a:r>
              <a:rPr lang="en-CA" sz="2800" dirty="0"/>
              <a:t>Cons</a:t>
            </a:r>
          </a:p>
          <a:p>
            <a:pPr lvl="1"/>
            <a:r>
              <a:rPr lang="en-CA" sz="2400" dirty="0"/>
              <a:t>Can result in many parameters</a:t>
            </a:r>
          </a:p>
          <a:p>
            <a:r>
              <a:rPr lang="en-CA" sz="2800" dirty="0">
                <a:hlinkClick r:id="rId2"/>
              </a:rPr>
              <a:t>https://dotnetfiddle.net/Zaaddm</a:t>
            </a:r>
            <a:endParaRPr lang="en-CA" sz="2800" dirty="0"/>
          </a:p>
          <a:p>
            <a:endParaRPr lang="en-CA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003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to use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Use of the ‘new’ keyword</a:t>
            </a:r>
          </a:p>
          <a:p>
            <a:pPr lvl="1"/>
            <a:r>
              <a:rPr lang="en-CA" dirty="0"/>
              <a:t>If you are creating many class instances inside a single class that container class may be a good candidate for dependency injection.</a:t>
            </a:r>
          </a:p>
          <a:p>
            <a:r>
              <a:rPr lang="en-CA" dirty="0"/>
              <a:t>Use of static methods / properties</a:t>
            </a:r>
          </a:p>
          <a:p>
            <a:pPr lvl="1"/>
            <a:r>
              <a:rPr lang="en-CA" dirty="0"/>
              <a:t>If your class makes use of many static methods it may be a good candidate for dependency injection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1304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do we instantiate objects?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2784"/>
            <a:ext cx="7886700" cy="4351338"/>
          </a:xfrm>
        </p:spPr>
        <p:txBody>
          <a:bodyPr/>
          <a:lstStyle/>
          <a:p>
            <a:r>
              <a:rPr lang="en-CA" sz="2800" dirty="0"/>
              <a:t>Default Constructor</a:t>
            </a:r>
          </a:p>
          <a:p>
            <a:pPr lvl="1"/>
            <a:r>
              <a:rPr lang="en-CA" sz="2400" dirty="0"/>
              <a:t>You can provide a default constructor that new[s] up the instances you expect to typically need in your application</a:t>
            </a:r>
          </a:p>
          <a:p>
            <a:pPr lvl="1"/>
            <a:r>
              <a:rPr lang="en-CA" sz="2400" dirty="0"/>
              <a:t>Referred to as “poor man’s dependency injection” or “poor man’s IoC”</a:t>
            </a:r>
          </a:p>
          <a:p>
            <a:r>
              <a:rPr lang="en-CA" sz="2800" dirty="0"/>
              <a:t>Main</a:t>
            </a:r>
          </a:p>
          <a:p>
            <a:pPr lvl="1"/>
            <a:r>
              <a:rPr lang="en-CA" sz="2400" dirty="0"/>
              <a:t>You can manually instantiate whatever is needed in your application’s </a:t>
            </a:r>
            <a:r>
              <a:rPr lang="en-CA" sz="2400" dirty="0" err="1"/>
              <a:t>startup</a:t>
            </a:r>
            <a:r>
              <a:rPr lang="en-CA" sz="2400" dirty="0"/>
              <a:t> routine or main() method</a:t>
            </a:r>
          </a:p>
          <a:p>
            <a:r>
              <a:rPr lang="en-CA" sz="2800" dirty="0"/>
              <a:t>IoC Container</a:t>
            </a:r>
          </a:p>
          <a:p>
            <a:pPr lvl="1"/>
            <a:r>
              <a:rPr lang="en-CA" sz="2400" dirty="0"/>
              <a:t>Use an “Inversion of Control” Container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0315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IoC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Initiated at application start up via code or configuration</a:t>
            </a:r>
          </a:p>
          <a:p>
            <a:r>
              <a:rPr lang="en-CA" sz="2800" dirty="0"/>
              <a:t>Managed interfaces and the implementation to be used are registered with the container</a:t>
            </a:r>
          </a:p>
          <a:p>
            <a:r>
              <a:rPr lang="en-CA" sz="2800" dirty="0"/>
              <a:t>Dependencies on interfaces are Resolved at application start up or runtime</a:t>
            </a:r>
          </a:p>
          <a:p>
            <a:r>
              <a:rPr lang="en-CA" sz="2800" dirty="0"/>
              <a:t>Examples of IoC Containers for .NET</a:t>
            </a:r>
          </a:p>
          <a:p>
            <a:pPr lvl="1"/>
            <a:r>
              <a:rPr lang="en-CA" sz="2400" dirty="0">
                <a:hlinkClick r:id="rId2"/>
              </a:rPr>
              <a:t>Microsoft Unity</a:t>
            </a:r>
            <a:r>
              <a:rPr lang="en-CA" sz="2400" dirty="0"/>
              <a:t>, </a:t>
            </a:r>
            <a:r>
              <a:rPr lang="en-CA" sz="2400" dirty="0" err="1">
                <a:hlinkClick r:id="rId3"/>
              </a:rPr>
              <a:t>StructureMap</a:t>
            </a:r>
            <a:r>
              <a:rPr lang="en-CA" sz="2400" dirty="0"/>
              <a:t>, </a:t>
            </a:r>
            <a:r>
              <a:rPr lang="en-CA" sz="2400" dirty="0" err="1">
                <a:hlinkClick r:id="rId4"/>
              </a:rPr>
              <a:t>Ninject</a:t>
            </a:r>
            <a:r>
              <a:rPr lang="en-CA" sz="2400" dirty="0"/>
              <a:t>, </a:t>
            </a:r>
            <a:r>
              <a:rPr lang="en-CA" sz="2400" dirty="0">
                <a:hlinkClick r:id="rId5"/>
              </a:rPr>
              <a:t>Windsor</a:t>
            </a:r>
            <a:endParaRPr lang="en-CA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1638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1399"/>
            <a:ext cx="7886700" cy="4351338"/>
          </a:xfrm>
        </p:spPr>
        <p:txBody>
          <a:bodyPr/>
          <a:lstStyle/>
          <a:p>
            <a:r>
              <a:rPr lang="en-US" dirty="0"/>
              <a:t>Take the code in the fiddle below and apply the SOLID principals to refactor the code:</a:t>
            </a:r>
          </a:p>
          <a:p>
            <a:r>
              <a:rPr lang="en-US" dirty="0">
                <a:hlinkClick r:id="rId2"/>
              </a:rPr>
              <a:t>https://dotnetfiddle.net/r0K2GM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 </a:t>
            </a:r>
          </a:p>
        </p:txBody>
      </p:sp>
      <p:pic>
        <p:nvPicPr>
          <p:cNvPr id="1026" name="Picture 2" descr="http://images.canadianlisted.com/nlarge/tupperwares-shape-o-toy_58071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186" y="3521242"/>
            <a:ext cx="3211271" cy="235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92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741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75705073"/>
      </p:ext>
    </p:extLst>
  </p:cSld>
  <p:clrMapOvr>
    <a:masterClrMapping/>
  </p:clrMapOvr>
</p:sld>
</file>

<file path=ppt/theme/theme1.xml><?xml version="1.0" encoding="utf-8"?>
<a:theme xmlns:a="http://schemas.openxmlformats.org/drawingml/2006/main" name="Humber Title Slide">
  <a:themeElements>
    <a:clrScheme name="Humber">
      <a:dk1>
        <a:srgbClr val="141313"/>
      </a:dk1>
      <a:lt1>
        <a:srgbClr val="FFFFFE"/>
      </a:lt1>
      <a:dk2>
        <a:srgbClr val="141313"/>
      </a:dk2>
      <a:lt2>
        <a:srgbClr val="EFEEED"/>
      </a:lt2>
      <a:accent1>
        <a:srgbClr val="008EC8"/>
      </a:accent1>
      <a:accent2>
        <a:srgbClr val="AFC828"/>
      </a:accent2>
      <a:accent3>
        <a:srgbClr val="D53958"/>
      </a:accent3>
      <a:accent4>
        <a:srgbClr val="FFE319"/>
      </a:accent4>
      <a:accent5>
        <a:srgbClr val="3C1C66"/>
      </a:accent5>
      <a:accent6>
        <a:srgbClr val="008C99"/>
      </a:accent6>
      <a:hlink>
        <a:srgbClr val="0000FF"/>
      </a:hlink>
      <a:folHlink>
        <a:srgbClr val="EFEEE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umber Conten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umber Section Star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71C8B94430640A2F350B6533A274C" ma:contentTypeVersion="1" ma:contentTypeDescription="Create a new document." ma:contentTypeScope="" ma:versionID="5d43878db8b0c71b6e7401f8c5a7f179">
  <xsd:schema xmlns:xsd="http://www.w3.org/2001/XMLSchema" xmlns:xs="http://www.w3.org/2001/XMLSchema" xmlns:p="http://schemas.microsoft.com/office/2006/metadata/properties" xmlns:ns3="0c056a99-50b4-4809-aade-01fba2756a6f" targetNamespace="http://schemas.microsoft.com/office/2006/metadata/properties" ma:root="true" ma:fieldsID="2e2fcfc1b79692e7cbcf306c1c2defed" ns3:_="">
    <xsd:import namespace="0c056a99-50b4-4809-aade-01fba2756a6f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6a99-50b4-4809-aade-01fba2756a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EF33B7-E8EB-4E3B-BA1C-BF808B8EB6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6a99-50b4-4809-aade-01fba2756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80490D-3AF5-4B12-9687-2DC26D0BB1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AAD99A-6ABE-4F1C-AC22-C5F81303ECC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2882</TotalTime>
  <Words>651</Words>
  <Application>Microsoft Office PowerPoint</Application>
  <PresentationFormat>On-screen Show (4:3)</PresentationFormat>
  <Paragraphs>114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ITC Franklin Gothic Std Bk Cd</vt:lpstr>
      <vt:lpstr>ITC Franklin Gothic Std Dm Cd</vt:lpstr>
      <vt:lpstr>ITC Franklin Gothic Std MedCd</vt:lpstr>
      <vt:lpstr>Humber Title Slide</vt:lpstr>
      <vt:lpstr>Humber Content Slide</vt:lpstr>
      <vt:lpstr>Humber Section Start Slide</vt:lpstr>
      <vt:lpstr>PowerPoint Presentation</vt:lpstr>
      <vt:lpstr>PowerPoint Presentation</vt:lpstr>
      <vt:lpstr>The Interface Segregation Principle - Defined</vt:lpstr>
      <vt:lpstr>The Interface Segregation Principle</vt:lpstr>
      <vt:lpstr>Interface Segregation Principal</vt:lpstr>
      <vt:lpstr>Interface Segregation Principal</vt:lpstr>
      <vt:lpstr>The Dependency Inversion Principle</vt:lpstr>
      <vt:lpstr>Traditional Programming Dependencies</vt:lpstr>
      <vt:lpstr>Dependency Injection</vt:lpstr>
      <vt:lpstr>Constructor Injection</vt:lpstr>
      <vt:lpstr>Property Injection</vt:lpstr>
      <vt:lpstr>Parameter Injection</vt:lpstr>
      <vt:lpstr>When to use Dependency Injection</vt:lpstr>
      <vt:lpstr>Where do we instantiate objects?</vt:lpstr>
      <vt:lpstr>IoC Containers</vt:lpstr>
      <vt:lpstr>In-Class Assignment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Amandeep S. Patti</cp:lastModifiedBy>
  <cp:revision>1</cp:revision>
  <dcterms:created xsi:type="dcterms:W3CDTF">2013-11-05T15:35:21Z</dcterms:created>
  <dcterms:modified xsi:type="dcterms:W3CDTF">2023-10-04T23:36:54Z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0x010100FA371C8B94430640A2F350B6533A274C</vt:lpwstr>
  </property>
</Properties>
</file>