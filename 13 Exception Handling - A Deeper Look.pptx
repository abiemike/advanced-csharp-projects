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94"/>
  </p:notesMasterIdLst>
  <p:sldIdLst>
    <p:sldId id="311" r:id="rId2"/>
    <p:sldId id="258" r:id="rId3"/>
    <p:sldId id="259" r:id="rId4"/>
    <p:sldId id="260" r:id="rId5"/>
    <p:sldId id="261" r:id="rId6"/>
    <p:sldId id="312" r:id="rId7"/>
    <p:sldId id="313" r:id="rId8"/>
    <p:sldId id="265" r:id="rId9"/>
    <p:sldId id="266" r:id="rId10"/>
    <p:sldId id="267" r:id="rId11"/>
    <p:sldId id="314" r:id="rId12"/>
    <p:sldId id="341" r:id="rId13"/>
    <p:sldId id="342" r:id="rId14"/>
    <p:sldId id="316" r:id="rId15"/>
    <p:sldId id="268" r:id="rId16"/>
    <p:sldId id="269" r:id="rId17"/>
    <p:sldId id="270" r:id="rId18"/>
    <p:sldId id="271" r:id="rId19"/>
    <p:sldId id="317" r:id="rId20"/>
    <p:sldId id="272" r:id="rId21"/>
    <p:sldId id="318" r:id="rId22"/>
    <p:sldId id="319" r:id="rId23"/>
    <p:sldId id="320" r:id="rId24"/>
    <p:sldId id="273" r:id="rId25"/>
    <p:sldId id="321" r:id="rId26"/>
    <p:sldId id="274" r:id="rId27"/>
    <p:sldId id="322" r:id="rId28"/>
    <p:sldId id="323" r:id="rId29"/>
    <p:sldId id="324" r:id="rId30"/>
    <p:sldId id="275" r:id="rId31"/>
    <p:sldId id="325" r:id="rId32"/>
    <p:sldId id="276" r:id="rId33"/>
    <p:sldId id="326" r:id="rId34"/>
    <p:sldId id="277" r:id="rId35"/>
    <p:sldId id="327" r:id="rId36"/>
    <p:sldId id="328" r:id="rId37"/>
    <p:sldId id="278" r:id="rId38"/>
    <p:sldId id="279" r:id="rId39"/>
    <p:sldId id="329" r:id="rId40"/>
    <p:sldId id="280" r:id="rId41"/>
    <p:sldId id="281" r:id="rId42"/>
    <p:sldId id="282" r:id="rId43"/>
    <p:sldId id="283" r:id="rId44"/>
    <p:sldId id="284" r:id="rId45"/>
    <p:sldId id="285" r:id="rId46"/>
    <p:sldId id="286" r:id="rId47"/>
    <p:sldId id="287" r:id="rId48"/>
    <p:sldId id="288" r:id="rId49"/>
    <p:sldId id="343" r:id="rId50"/>
    <p:sldId id="344" r:id="rId51"/>
    <p:sldId id="289" r:id="rId52"/>
    <p:sldId id="345" r:id="rId53"/>
    <p:sldId id="290" r:id="rId54"/>
    <p:sldId id="291" r:id="rId55"/>
    <p:sldId id="292" r:id="rId56"/>
    <p:sldId id="330" r:id="rId57"/>
    <p:sldId id="331" r:id="rId58"/>
    <p:sldId id="332" r:id="rId59"/>
    <p:sldId id="333" r:id="rId60"/>
    <p:sldId id="334" r:id="rId61"/>
    <p:sldId id="335" r:id="rId62"/>
    <p:sldId id="293" r:id="rId63"/>
    <p:sldId id="294" r:id="rId64"/>
    <p:sldId id="295" r:id="rId65"/>
    <p:sldId id="296" r:id="rId66"/>
    <p:sldId id="297" r:id="rId67"/>
    <p:sldId id="298" r:id="rId68"/>
    <p:sldId id="336" r:id="rId69"/>
    <p:sldId id="346" r:id="rId70"/>
    <p:sldId id="299" r:id="rId71"/>
    <p:sldId id="337" r:id="rId72"/>
    <p:sldId id="338" r:id="rId73"/>
    <p:sldId id="300" r:id="rId74"/>
    <p:sldId id="301" r:id="rId75"/>
    <p:sldId id="339" r:id="rId76"/>
    <p:sldId id="302" r:id="rId77"/>
    <p:sldId id="303" r:id="rId78"/>
    <p:sldId id="304" r:id="rId79"/>
    <p:sldId id="305" r:id="rId80"/>
    <p:sldId id="306" r:id="rId81"/>
    <p:sldId id="307" r:id="rId82"/>
    <p:sldId id="348" r:id="rId83"/>
    <p:sldId id="308" r:id="rId84"/>
    <p:sldId id="347" r:id="rId85"/>
    <p:sldId id="349" r:id="rId86"/>
    <p:sldId id="350" r:id="rId87"/>
    <p:sldId id="351" r:id="rId88"/>
    <p:sldId id="309" r:id="rId89"/>
    <p:sldId id="352" r:id="rId90"/>
    <p:sldId id="353" r:id="rId91"/>
    <p:sldId id="354" r:id="rId92"/>
    <p:sldId id="310" r:id="rId93"/>
  </p:sldIdLst>
  <p:sldSz cx="12192000" cy="6858000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77" autoAdjust="0"/>
    <p:restoredTop sz="94660"/>
  </p:normalViewPr>
  <p:slideViewPr>
    <p:cSldViewPr snapToGrid="0">
      <p:cViewPr varScale="1">
        <p:scale>
          <a:sx n="58" d="100"/>
          <a:sy n="58" d="100"/>
        </p:scale>
        <p:origin x="84" y="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9C4096-7A1C-4138-A64A-ED82702DF4DF}" type="datetimeFigureOut">
              <a:rPr lang="en-US" smtClean="0"/>
              <a:t>2/9/2017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804969-7E2A-4483-85AC-B24A6B349B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633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376B6E-7392-4AAB-B74D-020DDD275D8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7590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62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962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04B2964D-EA9B-4B3C-8C87-D788FF9B6881}" type="slidenum">
              <a:rPr lang="en-US" altLang="en-US" sz="1200">
                <a:solidFill>
                  <a:schemeClr val="tx1"/>
                </a:solidFill>
              </a:rPr>
              <a:pPr eaLnBrk="1" hangingPunct="1"/>
              <a:t>6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5532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72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972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ACCE4D81-3F6A-436E-BD0F-68C807544E56}" type="slidenum">
              <a:rPr lang="en-US" altLang="en-US" sz="1200">
                <a:solidFill>
                  <a:schemeClr val="tx1"/>
                </a:solidFill>
              </a:rPr>
              <a:pPr eaLnBrk="1" hangingPunct="1"/>
              <a:t>11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88122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72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972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ACCE4D81-3F6A-436E-BD0F-68C807544E56}" type="slidenum">
              <a:rPr lang="en-US" altLang="en-US" sz="1200">
                <a:solidFill>
                  <a:schemeClr val="tx1"/>
                </a:solidFill>
              </a:rPr>
              <a:pPr eaLnBrk="1" hangingPunct="1"/>
              <a:t>12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76762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72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972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ACCE4D81-3F6A-436E-BD0F-68C807544E56}" type="slidenum">
              <a:rPr lang="en-US" altLang="en-US" sz="1200">
                <a:solidFill>
                  <a:schemeClr val="tx1"/>
                </a:solidFill>
              </a:rPr>
              <a:pPr eaLnBrk="1" hangingPunct="1"/>
              <a:t>13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7433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03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003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D93C2C65-6536-4519-8BE9-5D1526F9F727}" type="slidenum">
              <a:rPr lang="en-US" altLang="en-US" sz="1200">
                <a:solidFill>
                  <a:schemeClr val="tx1"/>
                </a:solidFill>
              </a:rPr>
              <a:pPr eaLnBrk="1" hangingPunct="1"/>
              <a:t>19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98768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13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013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901EBCDD-8054-4BD4-A614-4C2F0617BAB6}" type="slidenum">
              <a:rPr lang="en-US" altLang="en-US" sz="1200">
                <a:solidFill>
                  <a:schemeClr val="tx1"/>
                </a:solidFill>
              </a:rPr>
              <a:pPr eaLnBrk="1" hangingPunct="1"/>
              <a:t>21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22863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024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94A79C8B-5101-4725-9C0A-44FDAB9D427F}" type="slidenum">
              <a:rPr lang="en-US" altLang="en-US" sz="1200">
                <a:solidFill>
                  <a:schemeClr val="tx1"/>
                </a:solidFill>
              </a:rPr>
              <a:pPr eaLnBrk="1" hangingPunct="1"/>
              <a:t>22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98347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34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034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FBCD5688-79CE-4CF4-B52E-EA60EE615E6E}" type="slidenum">
              <a:rPr lang="en-US" altLang="en-US" sz="1200">
                <a:solidFill>
                  <a:schemeClr val="tx1"/>
                </a:solidFill>
              </a:rPr>
              <a:pPr eaLnBrk="1" hangingPunct="1"/>
              <a:t>23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80968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44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044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00FC7064-A752-4D04-B546-8A719A5144A4}" type="slidenum">
              <a:rPr lang="en-US" altLang="en-US" sz="1200">
                <a:solidFill>
                  <a:schemeClr val="tx1"/>
                </a:solidFill>
              </a:rPr>
              <a:pPr eaLnBrk="1" hangingPunct="1"/>
              <a:t>25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0243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54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054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73E6E205-8CAB-4733-8242-D28145C263CB}" type="slidenum">
              <a:rPr lang="en-US" altLang="en-US" sz="1200">
                <a:solidFill>
                  <a:schemeClr val="tx1"/>
                </a:solidFill>
              </a:rPr>
              <a:pPr eaLnBrk="1" hangingPunct="1"/>
              <a:t>27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48446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64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065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78621F72-5636-4B40-BDE2-AFA5DF6C8A8E}" type="slidenum">
              <a:rPr lang="en-US" altLang="en-US" sz="1200">
                <a:solidFill>
                  <a:schemeClr val="tx1"/>
                </a:solidFill>
              </a:rPr>
              <a:pPr eaLnBrk="1" hangingPunct="1"/>
              <a:t>28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7587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75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075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6DCC13FC-FF9B-483D-B338-41618A42605D}" type="slidenum">
              <a:rPr lang="en-US" altLang="en-US" sz="1200">
                <a:solidFill>
                  <a:schemeClr val="tx1"/>
                </a:solidFill>
              </a:rPr>
              <a:pPr eaLnBrk="1" hangingPunct="1"/>
              <a:t>29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41254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85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085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9565204C-2032-4F30-B15A-0FC71D71C2C7}" type="slidenum">
              <a:rPr lang="en-US" altLang="en-US" sz="1200">
                <a:solidFill>
                  <a:schemeClr val="tx1"/>
                </a:solidFill>
              </a:rPr>
              <a:pPr eaLnBrk="1" hangingPunct="1"/>
              <a:t>31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76516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95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095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AD7AC75B-467C-4523-BBC0-724AA6D87BDD}" type="slidenum">
              <a:rPr lang="en-US" altLang="en-US" sz="1200">
                <a:solidFill>
                  <a:schemeClr val="tx1"/>
                </a:solidFill>
              </a:rPr>
              <a:pPr eaLnBrk="1" hangingPunct="1"/>
              <a:t>33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19205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05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105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725BBD3A-DDD3-4254-A13A-5A8381430381}" type="slidenum">
              <a:rPr lang="en-US" altLang="en-US" sz="1200">
                <a:solidFill>
                  <a:schemeClr val="tx1"/>
                </a:solidFill>
              </a:rPr>
              <a:pPr eaLnBrk="1" hangingPunct="1"/>
              <a:t>35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8248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16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116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38078EB5-69F8-4387-86D5-1FB7FCB8E460}" type="slidenum">
              <a:rPr lang="en-US" altLang="en-US" sz="1200">
                <a:solidFill>
                  <a:schemeClr val="tx1"/>
                </a:solidFill>
              </a:rPr>
              <a:pPr eaLnBrk="1" hangingPunct="1"/>
              <a:t>36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4901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126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840A8647-A252-4985-AE9E-E8D8D23F05F6}" type="slidenum">
              <a:rPr lang="en-US" altLang="en-US" sz="1200">
                <a:solidFill>
                  <a:schemeClr val="tx1"/>
                </a:solidFill>
              </a:rPr>
              <a:pPr eaLnBrk="1" hangingPunct="1"/>
              <a:t>39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35623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126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840A8647-A252-4985-AE9E-E8D8D23F05F6}" type="slidenum">
              <a:rPr lang="en-US" altLang="en-US" sz="1200">
                <a:solidFill>
                  <a:schemeClr val="tx1"/>
                </a:solidFill>
              </a:rPr>
              <a:pPr eaLnBrk="1" hangingPunct="1"/>
              <a:t>49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60923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126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840A8647-A252-4985-AE9E-E8D8D23F05F6}" type="slidenum">
              <a:rPr lang="en-US" altLang="en-US" sz="1200">
                <a:solidFill>
                  <a:schemeClr val="tx1"/>
                </a:solidFill>
              </a:rPr>
              <a:pPr eaLnBrk="1" hangingPunct="1"/>
              <a:t>50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79322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126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840A8647-A252-4985-AE9E-E8D8D23F05F6}" type="slidenum">
              <a:rPr lang="en-US" altLang="en-US" sz="1200">
                <a:solidFill>
                  <a:schemeClr val="tx1"/>
                </a:solidFill>
              </a:rPr>
              <a:pPr eaLnBrk="1" hangingPunct="1"/>
              <a:t>52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26441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36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136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CDBB5E5A-A4DC-4502-9F72-D9CDCE70F67A}" type="slidenum">
              <a:rPr lang="en-US" altLang="en-US" sz="1200">
                <a:solidFill>
                  <a:schemeClr val="tx1"/>
                </a:solidFill>
              </a:rPr>
              <a:pPr eaLnBrk="1" hangingPunct="1"/>
              <a:t>56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75128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46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146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E06C37B5-46E0-48DA-BCDD-094B0E4E5C99}" type="slidenum">
              <a:rPr lang="en-US" altLang="en-US" sz="1200">
                <a:solidFill>
                  <a:schemeClr val="tx1"/>
                </a:solidFill>
              </a:rPr>
              <a:pPr eaLnBrk="1" hangingPunct="1"/>
              <a:t>57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449052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57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157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40B0F82F-D05E-4D96-9925-7D69E0036650}" type="slidenum">
              <a:rPr lang="en-US" altLang="en-US" sz="1200">
                <a:solidFill>
                  <a:schemeClr val="tx1"/>
                </a:solidFill>
              </a:rPr>
              <a:pPr eaLnBrk="1" hangingPunct="1"/>
              <a:t>58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62367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67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167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904CDF48-3CE0-4EF3-8695-F9DA3724E820}" type="slidenum">
              <a:rPr lang="en-US" altLang="en-US" sz="1200">
                <a:solidFill>
                  <a:schemeClr val="tx1"/>
                </a:solidFill>
              </a:rPr>
              <a:pPr eaLnBrk="1" hangingPunct="1"/>
              <a:t>59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77469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77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177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CC575CA2-2EBD-424C-B7A4-11038A2BA615}" type="slidenum">
              <a:rPr lang="en-US" altLang="en-US" sz="1200">
                <a:solidFill>
                  <a:schemeClr val="tx1"/>
                </a:solidFill>
              </a:rPr>
              <a:pPr eaLnBrk="1" hangingPunct="1"/>
              <a:t>60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758749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87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187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EAAF3934-E5CC-48E2-B944-F7360CF22CB1}" type="slidenum">
              <a:rPr lang="en-US" altLang="en-US" sz="1200">
                <a:solidFill>
                  <a:schemeClr val="tx1"/>
                </a:solidFill>
              </a:rPr>
              <a:pPr eaLnBrk="1" hangingPunct="1"/>
              <a:t>61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514947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98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198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8062CB48-2F8E-4985-95EC-ED7BAF2A2F32}" type="slidenum">
              <a:rPr lang="en-US" altLang="en-US" sz="1200">
                <a:solidFill>
                  <a:schemeClr val="tx1"/>
                </a:solidFill>
              </a:rPr>
              <a:pPr eaLnBrk="1" hangingPunct="1"/>
              <a:t>68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28478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98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198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8062CB48-2F8E-4985-95EC-ED7BAF2A2F32}" type="slidenum">
              <a:rPr lang="en-US" altLang="en-US" sz="1200">
                <a:solidFill>
                  <a:schemeClr val="tx1"/>
                </a:solidFill>
              </a:rPr>
              <a:pPr eaLnBrk="1" hangingPunct="1"/>
              <a:t>69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141448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08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208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EC0D00CF-FDA6-422E-ADA5-593076F423DD}" type="slidenum">
              <a:rPr lang="en-US" altLang="en-US" sz="1200">
                <a:solidFill>
                  <a:schemeClr val="tx1"/>
                </a:solidFill>
              </a:rPr>
              <a:pPr eaLnBrk="1" hangingPunct="1"/>
              <a:t>71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792929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18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218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30043568-77BA-4DA1-B1D0-968581E02856}" type="slidenum">
              <a:rPr lang="en-US" altLang="en-US" sz="1200">
                <a:solidFill>
                  <a:schemeClr val="tx1"/>
                </a:solidFill>
              </a:rPr>
              <a:pPr eaLnBrk="1" hangingPunct="1"/>
              <a:t>72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620228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8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228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AC353E2E-F2A2-49AE-8B2C-D3625C351BFB}" type="slidenum">
              <a:rPr lang="en-US" altLang="en-US" sz="1200">
                <a:solidFill>
                  <a:schemeClr val="tx1"/>
                </a:solidFill>
              </a:rPr>
              <a:pPr eaLnBrk="1" hangingPunct="1"/>
              <a:t>75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908063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8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228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AC353E2E-F2A2-49AE-8B2C-D3625C351BFB}" type="slidenum">
              <a:rPr lang="en-US" altLang="en-US" sz="1200">
                <a:solidFill>
                  <a:schemeClr val="tx1"/>
                </a:solidFill>
              </a:rPr>
              <a:pPr eaLnBrk="1" hangingPunct="1"/>
              <a:t>82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486767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8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228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AC353E2E-F2A2-49AE-8B2C-D3625C351BFB}" type="slidenum">
              <a:rPr lang="en-US" altLang="en-US" sz="1200">
                <a:solidFill>
                  <a:schemeClr val="tx1"/>
                </a:solidFill>
              </a:rPr>
              <a:pPr eaLnBrk="1" hangingPunct="1"/>
              <a:t>84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505970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8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228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AC353E2E-F2A2-49AE-8B2C-D3625C351BFB}" type="slidenum">
              <a:rPr lang="en-US" altLang="en-US" sz="1200">
                <a:solidFill>
                  <a:schemeClr val="tx1"/>
                </a:solidFill>
              </a:rPr>
              <a:pPr eaLnBrk="1" hangingPunct="1"/>
              <a:t>85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128661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8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228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AC353E2E-F2A2-49AE-8B2C-D3625C351BFB}" type="slidenum">
              <a:rPr lang="en-US" altLang="en-US" sz="1200">
                <a:solidFill>
                  <a:schemeClr val="tx1"/>
                </a:solidFill>
              </a:rPr>
              <a:pPr eaLnBrk="1" hangingPunct="1"/>
              <a:t>86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261031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8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228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AC353E2E-F2A2-49AE-8B2C-D3625C351BFB}" type="slidenum">
              <a:rPr lang="en-US" altLang="en-US" sz="1200">
                <a:solidFill>
                  <a:schemeClr val="tx1"/>
                </a:solidFill>
              </a:rPr>
              <a:pPr eaLnBrk="1" hangingPunct="1"/>
              <a:t>87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521063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8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228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AC353E2E-F2A2-49AE-8B2C-D3625C351BFB}" type="slidenum">
              <a:rPr lang="en-US" altLang="en-US" sz="1200">
                <a:solidFill>
                  <a:schemeClr val="tx1"/>
                </a:solidFill>
              </a:rPr>
              <a:pPr eaLnBrk="1" hangingPunct="1"/>
              <a:t>89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76517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8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228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AC353E2E-F2A2-49AE-8B2C-D3625C351BFB}" type="slidenum">
              <a:rPr lang="en-US" altLang="en-US" sz="1200">
                <a:solidFill>
                  <a:schemeClr val="tx1"/>
                </a:solidFill>
              </a:rPr>
              <a:pPr eaLnBrk="1" hangingPunct="1"/>
              <a:t>90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527066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8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228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AC353E2E-F2A2-49AE-8B2C-D3625C351BFB}" type="slidenum">
              <a:rPr lang="en-US" altLang="en-US" sz="1200">
                <a:solidFill>
                  <a:schemeClr val="tx1"/>
                </a:solidFill>
              </a:rPr>
              <a:pPr eaLnBrk="1" hangingPunct="1"/>
              <a:t>91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73011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1.jpe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0" y="4664075"/>
            <a:ext cx="12200467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Cambria" panose="02040503050406030204" pitchFamily="18" charset="0"/>
            </a:endParaRPr>
          </a:p>
        </p:txBody>
      </p:sp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-4233" y="4953000"/>
            <a:ext cx="12196233" cy="1911350"/>
            <a:chOff x="-3765" y="4832896"/>
            <a:chExt cx="9147765" cy="2032192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extLst/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>
                <a:latin typeface="Cambria" panose="02040503050406030204" pitchFamily="18" charset="0"/>
                <a:cs typeface="+mn-cs"/>
              </a:endParaRPr>
            </a:p>
          </p:txBody>
        </p:sp>
        <p:sp>
          <p:nvSpPr>
            <p:cNvPr id="7" name="Freeform 20"/>
            <p:cNvSpPr>
              <a:spLocks/>
            </p:cNvSpPr>
            <p:nvPr/>
          </p:nvSpPr>
          <p:spPr bwMode="auto">
            <a:xfrm>
              <a:off x="35926" y="5135025"/>
              <a:ext cx="9108074" cy="838869"/>
            </a:xfrm>
            <a:custGeom>
              <a:avLst/>
              <a:gdLst>
                <a:gd name="T0" fmla="*/ 0 w 5760"/>
                <a:gd name="T1" fmla="*/ 0 h 528"/>
                <a:gd name="T2" fmla="*/ 2147483647 w 5760"/>
                <a:gd name="T3" fmla="*/ 0 h 528"/>
                <a:gd name="T4" fmla="*/ 2147483647 w 5760"/>
                <a:gd name="T5" fmla="*/ 1332767423 h 528"/>
                <a:gd name="T6" fmla="*/ 120019431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extLst/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>
                <a:latin typeface="Cambria" panose="02040503050406030204" pitchFamily="18" charset="0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914400" y="1752602"/>
            <a:ext cx="103632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914400" y="3611607"/>
            <a:ext cx="103632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2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  <a:extLst/>
          </a:lstStyle>
          <a:p>
            <a:fld id="{12A86E37-EAF9-4875-A3B0-B0723B9479FF}" type="datetime1">
              <a:rPr lang="en-US" smtClean="0"/>
              <a:t>2/9/2017</a:t>
            </a:fld>
            <a:endParaRPr lang="en-US"/>
          </a:p>
        </p:txBody>
      </p:sp>
      <p:sp>
        <p:nvSpPr>
          <p:cNvPr id="13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954E134-F100-4680-9AD0-9133BFF6915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8"/>
          <p:cNvSpPr>
            <a:spLocks noGrp="1"/>
          </p:cNvSpPr>
          <p:nvPr>
            <p:ph type="ftr" sz="quarter" idx="12"/>
          </p:nvPr>
        </p:nvSpPr>
        <p:spPr>
          <a:xfrm>
            <a:off x="3657600" y="6408739"/>
            <a:ext cx="5317067" cy="365125"/>
          </a:xfrm>
        </p:spPr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663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buFont typeface="Wingdings" pitchFamily="2" charset="2"/>
              <a:buChar char="§"/>
              <a:defRPr/>
            </a:lvl2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fld id="{87446552-7235-46E6-9689-A7EE12A16D07}" type="datetime1">
              <a:rPr lang="en-US" smtClean="0"/>
              <a:t>2/9/2017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408739"/>
            <a:ext cx="8365067" cy="365125"/>
          </a:xfrm>
        </p:spPr>
        <p:txBody>
          <a:bodyPr/>
          <a:lstStyle>
            <a:lvl1pPr>
              <a:defRPr/>
            </a:lvl1pPr>
            <a:extLst/>
          </a:lstStyle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54E134-F100-4680-9AD0-9133BFF69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188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/>
        </p:nvSpPr>
        <p:spPr>
          <a:xfrm>
            <a:off x="4849284" y="3005138"/>
            <a:ext cx="243416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Cambria" panose="02040503050406030204" pitchFamily="18" charset="0"/>
            </a:endParaRPr>
          </a:p>
        </p:txBody>
      </p:sp>
      <p:sp>
        <p:nvSpPr>
          <p:cNvPr id="5" name="Chevron 4"/>
          <p:cNvSpPr/>
          <p:nvPr/>
        </p:nvSpPr>
        <p:spPr>
          <a:xfrm>
            <a:off x="4599518" y="3005138"/>
            <a:ext cx="24553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Cambria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168" y="1059712"/>
            <a:ext cx="103632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30284" y="2931712"/>
            <a:ext cx="6096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fld id="{F268449C-A24B-4E2B-9FDA-7E438743B4CC}" type="datetime1">
              <a:rPr lang="en-US" smtClean="0"/>
              <a:t>2/9/2017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54E134-F100-4680-9AD0-9133BFF69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4817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fld id="{80C580A3-14C4-4D36-98B6-F05AA0BD6218}" type="datetime1">
              <a:rPr lang="en-US" smtClean="0"/>
              <a:t>2/9/2017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54E134-F100-4680-9AD0-9133BFF69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1575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/>
          <a:lstStyle>
            <a:lvl1pPr>
              <a:defRPr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5410200"/>
            <a:ext cx="5386917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9" y="5410200"/>
            <a:ext cx="5389033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1444295"/>
            <a:ext cx="5386917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444295"/>
            <a:ext cx="5389033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fld id="{E4D340D9-E3C7-4429-A5DF-5BB33135C55E}" type="datetime1">
              <a:rPr lang="en-US" smtClean="0"/>
              <a:t>2/9/2017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54E134-F100-4680-9AD0-9133BFF69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4358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fld id="{4BE26213-A327-4043-BE7E-0A710536352D}" type="datetime1">
              <a:rPr lang="en-US" smtClean="0"/>
              <a:t>2/9/2017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54E134-F100-4680-9AD0-9133BFF69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3313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65ECD7B-052A-49D1-86B9-3CCBDBB68EFF}" type="datetime1">
              <a:rPr lang="en-US" smtClean="0"/>
              <a:t>2/9/2017</a:t>
            </a:fld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54E134-F100-4680-9AD0-9133BFF69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500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876800"/>
            <a:ext cx="9975701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892800" y="5355102"/>
            <a:ext cx="5299456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219200" y="274320"/>
            <a:ext cx="9973056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fld id="{3E3A6C07-837E-4E27-B663-A3E3E3D45439}" type="datetime1">
              <a:rPr lang="en-US" smtClean="0"/>
              <a:t>2/9/2017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54E134-F100-4680-9AD0-9133BFF69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4576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>
            <a:spLocks/>
          </p:cNvSpPr>
          <p:nvPr/>
        </p:nvSpPr>
        <p:spPr bwMode="auto">
          <a:xfrm>
            <a:off x="666751" y="5945188"/>
            <a:ext cx="6587067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extLst/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Cambria" panose="02040503050406030204" pitchFamily="18" charset="0"/>
              <a:cs typeface="+mn-cs"/>
            </a:endParaRPr>
          </a:p>
        </p:txBody>
      </p:sp>
      <p:sp>
        <p:nvSpPr>
          <p:cNvPr id="6" name="Freeform 18"/>
          <p:cNvSpPr>
            <a:spLocks/>
          </p:cNvSpPr>
          <p:nvPr/>
        </p:nvSpPr>
        <p:spPr bwMode="auto">
          <a:xfrm>
            <a:off x="647700" y="5938838"/>
            <a:ext cx="4921251" cy="933450"/>
          </a:xfrm>
          <a:custGeom>
            <a:avLst/>
            <a:gdLst>
              <a:gd name="T0" fmla="*/ 0 w 5591"/>
              <a:gd name="T1" fmla="*/ 0 h 588"/>
              <a:gd name="T2" fmla="*/ 2147483647 w 5591"/>
              <a:gd name="T3" fmla="*/ 0 h 588"/>
              <a:gd name="T4" fmla="*/ 2147483647 w 5591"/>
              <a:gd name="T5" fmla="*/ 1330642500 h 588"/>
              <a:gd name="T6" fmla="*/ 2091905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7" name="Right Triangle 6"/>
          <p:cNvSpPr>
            <a:spLocks/>
          </p:cNvSpPr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4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Cambria" panose="02040503050406030204" pitchFamily="18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8"/>
          <p:cNvSpPr/>
          <p:nvPr/>
        </p:nvSpPr>
        <p:spPr>
          <a:xfrm>
            <a:off x="11552768" y="4987925"/>
            <a:ext cx="24341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Cambria" panose="02040503050406030204" pitchFamily="18" charset="0"/>
            </a:endParaRPr>
          </a:p>
        </p:txBody>
      </p:sp>
      <p:sp>
        <p:nvSpPr>
          <p:cNvPr id="10" name="Chevron 9"/>
          <p:cNvSpPr/>
          <p:nvPr/>
        </p:nvSpPr>
        <p:spPr>
          <a:xfrm>
            <a:off x="11303001" y="4987925"/>
            <a:ext cx="24341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Cambria" panose="02040503050406030204" pitchFamily="18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1643" y="5443402"/>
            <a:ext cx="9550400" cy="648232"/>
          </a:xfrm>
          <a:noFill/>
        </p:spPr>
        <p:txBody>
          <a:bodyPr tIns="0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189968"/>
            <a:ext cx="115824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865122"/>
            <a:ext cx="10767243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chemeClr val="tx1"/>
                </a:solidFill>
              </a:defRPr>
            </a:lvl1pPr>
            <a:extLst/>
          </a:lstStyle>
          <a:p>
            <a:fld id="{1451A884-6FF7-41FF-AFFA-80788A0824B9}" type="datetime1">
              <a:rPr lang="en-US" smtClean="0"/>
              <a:t>2/9/2017</a:t>
            </a:fld>
            <a:endParaRPr lang="en-US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39884" y="6408739"/>
            <a:ext cx="313478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54E134-F100-4680-9AD0-9133BFF69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7859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481330"/>
            <a:ext cx="10972800" cy="4386071"/>
          </a:xfrm>
        </p:spPr>
        <p:txBody>
          <a:bodyPr vert="eaVert"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0EEA791-6370-45FB-B6F0-BA482C28AD1D}" type="datetime1">
              <a:rPr lang="en-US" smtClean="0"/>
              <a:t>2/9/2017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54E134-F100-4680-9AD0-9133BFF69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591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5351" y="274641"/>
            <a:ext cx="2369960" cy="5592761"/>
          </a:xfrm>
        </p:spPr>
        <p:txBody>
          <a:bodyPr vert="eaVert"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432800" cy="5592760"/>
          </a:xfrm>
        </p:spPr>
        <p:txBody>
          <a:bodyPr vert="eaVert"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58381AA-6C94-454E-914D-5F912E7DEADD}" type="datetime1">
              <a:rPr lang="en-US" smtClean="0"/>
              <a:t>2/9/2017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54E134-F100-4680-9AD0-9133BFF69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2917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4488296" y="6408739"/>
            <a:ext cx="7044267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54E134-F100-4680-9AD0-9133BFF69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074077"/>
      </p:ext>
    </p:extLst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609600" y="1481138"/>
            <a:ext cx="109728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  <a:endParaRPr lang="en-US" altLang="en-US" dirty="0" smtClean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8970433" y="6408739"/>
            <a:ext cx="2559051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 smtClean="0">
                <a:solidFill>
                  <a:schemeClr val="tx1"/>
                </a:solidFill>
                <a:latin typeface="Cambria" panose="02040503050406030204" pitchFamily="18" charset="0"/>
                <a:cs typeface="+mn-cs"/>
              </a:defRPr>
            </a:lvl1pPr>
            <a:extLst/>
          </a:lstStyle>
          <a:p>
            <a:fld id="{B6218B59-3082-4110-BA8E-3BD3E5B4C753}" type="datetime1">
              <a:rPr lang="en-US" smtClean="0"/>
              <a:t>2/9/2017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5283200" y="6408739"/>
            <a:ext cx="3691467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tx1"/>
                </a:solidFill>
                <a:latin typeface="Cambria" panose="02040503050406030204" pitchFamily="18" charset="0"/>
                <a:cs typeface="+mn-cs"/>
              </a:defRPr>
            </a:lvl1pPr>
            <a:extLst/>
          </a:lstStyle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1529484" y="6408739"/>
            <a:ext cx="488949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Cambria" panose="02040503050406030204" pitchFamily="18" charset="0"/>
              </a:defRPr>
            </a:lvl1pPr>
          </a:lstStyle>
          <a:p>
            <a:fld id="{B954E134-F100-4680-9AD0-9133BFF69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447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Cambria" panose="02040503050406030204" pitchFamily="18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9pPr>
      <a:extLst/>
    </p:titleStyle>
    <p:bodyStyle>
      <a:lvl1pPr marL="365125" indent="-255588" algn="l" rtl="0" eaLnBrk="1" fontAlgn="base" hangingPunct="1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7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1pPr>
      <a:lvl2pPr marL="620713" indent="-228600" algn="l" rtl="0" eaLnBrk="1" fontAlgn="base" hangingPunct="1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2pPr>
      <a:lvl3pPr marL="858838" indent="-228600" algn="l" rtl="0" eaLnBrk="1" fontAlgn="base" hangingPunct="1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3pPr>
      <a:lvl4pPr marL="1143000" indent="-228600" algn="l" rtl="0" eaLnBrk="1" fontAlgn="base" hangingPunct="1">
        <a:spcBef>
          <a:spcPts val="350"/>
        </a:spcBef>
        <a:spcAft>
          <a:spcPct val="0"/>
        </a:spcAft>
        <a:buClr>
          <a:schemeClr val="accent2"/>
        </a:buClr>
        <a:defRPr sz="19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4pPr>
      <a:lvl5pPr marL="1143000" indent="-228600" algn="l" rtl="0" eaLnBrk="1" fontAlgn="base" hangingPunct="1">
        <a:spcBef>
          <a:spcPts val="350"/>
        </a:spcBef>
        <a:spcAft>
          <a:spcPct val="0"/>
        </a:spcAft>
        <a:buClr>
          <a:schemeClr val="accent2"/>
        </a:buClr>
        <a:defRPr sz="19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Exception Handling: </a:t>
            </a:r>
            <a:br>
              <a:rPr lang="en-US" smtClean="0"/>
            </a:br>
            <a:r>
              <a:rPr lang="en-US" smtClean="0"/>
              <a:t>A Deeper Look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Chapter 13 of Visual C# How to Program, 6/e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982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3_Exceptions_Page_0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5750"/>
            <a:ext cx="12192000" cy="62849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370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3_Exceptions_Page_0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5175"/>
            <a:ext cx="12192000" cy="532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458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3_Exceptions_Page_0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6838" y="0"/>
            <a:ext cx="94583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068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3_Exceptions_Page_0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50" y="0"/>
            <a:ext cx="119491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425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An exception is an indication of a problem that occurred during a program’s execution.</a:t>
            </a:r>
          </a:p>
          <a:p>
            <a:r>
              <a:rPr lang="en-US" altLang="en-US" dirty="0" smtClean="0"/>
              <a:t>Exception handling enables you to create apps that can handle exceptions—in many cases allowing a program to continue executing as if no problems were encountered. </a:t>
            </a:r>
          </a:p>
          <a:p>
            <a:r>
              <a:rPr lang="en-US" altLang="en-US" dirty="0" smtClean="0"/>
              <a:t>Exception handling enables you to write clear, robust and more fault-tolerant programs.</a:t>
            </a:r>
            <a:endParaRPr lang="en-US" altLang="en-US" dirty="0"/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13.1 Introduction</a:t>
            </a:r>
            <a:endParaRPr lang="en-US" dirty="0" smtClean="0"/>
          </a:p>
        </p:txBody>
      </p:sp>
      <p:sp>
        <p:nvSpPr>
          <p:cNvPr id="24580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©1992-2014 by Pearson Education, Inc. All Rights Reserved.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2100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Figure 13.1’s inputs two integers from the users, then divides the first integer by the second using integer division to obtain an int result.</a:t>
            </a:r>
          </a:p>
          <a:p>
            <a:r>
              <a:rPr lang="en-US" altLang="en-US" smtClean="0"/>
              <a:t>In this example, an exception is thrown (i.e., an exception occurs) when a method detects a problem.</a:t>
            </a:r>
          </a:p>
          <a:p>
            <a:endParaRPr lang="en-US" altLang="en-US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13.2 Example: Divide by Zero without Exception Handling</a:t>
            </a:r>
            <a:endParaRPr lang="en-US" dirty="0"/>
          </a:p>
        </p:txBody>
      </p:sp>
      <p:sp>
        <p:nvSpPr>
          <p:cNvPr id="25604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©1992-2014 by Pearson Education, Inc. All Rights Reserved.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83477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3_Exceptions_Page_0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288" y="0"/>
            <a:ext cx="101314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844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3_Exceptions_Page_10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6156"/>
            <a:ext cx="12192000" cy="64738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1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3_Exceptions_Page_1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1013"/>
            <a:ext cx="12192000" cy="58943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2855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/>
              <a:t>example in Fig. 13.1 might cause exceptions, depending on the user’s input. </a:t>
            </a:r>
            <a:endParaRPr lang="en-US" dirty="0" smtClean="0"/>
          </a:p>
          <a:p>
            <a:r>
              <a:rPr lang="en-US" dirty="0" smtClean="0"/>
              <a:t>Execute </a:t>
            </a:r>
            <a:r>
              <a:rPr lang="en-US" dirty="0"/>
              <a:t>this app with </a:t>
            </a:r>
            <a:r>
              <a:rPr lang="en-US" b="1" dirty="0"/>
              <a:t>Debug &gt; Start Without Debugging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If </a:t>
            </a:r>
            <a:r>
              <a:rPr lang="en-US" dirty="0"/>
              <a:t>an exception occurs during execution, a dialog appears indicating that the app “has stopped working.” </a:t>
            </a:r>
          </a:p>
          <a:p>
            <a:r>
              <a:rPr lang="en-US" dirty="0" smtClean="0"/>
              <a:t>Click </a:t>
            </a:r>
            <a:r>
              <a:rPr lang="en-US" b="1" dirty="0"/>
              <a:t>Cancel</a:t>
            </a:r>
            <a:r>
              <a:rPr lang="en-US" dirty="0"/>
              <a:t> or </a:t>
            </a:r>
            <a:r>
              <a:rPr lang="en-US" b="1" dirty="0"/>
              <a:t>Close Program </a:t>
            </a:r>
            <a:r>
              <a:rPr lang="en-US" dirty="0"/>
              <a:t>to terminate the app. </a:t>
            </a:r>
            <a:endParaRPr lang="en-US" dirty="0" smtClean="0"/>
          </a:p>
          <a:p>
            <a:r>
              <a:rPr lang="en-US" dirty="0" smtClean="0"/>
              <a:t>An </a:t>
            </a:r>
            <a:r>
              <a:rPr lang="en-US" dirty="0"/>
              <a:t>error message describing the exception that occurred is displayed in the program’s output. </a:t>
            </a:r>
            <a:endParaRPr lang="en-US" dirty="0" smtClean="0"/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13.2 </a:t>
            </a:r>
            <a:r>
              <a:rPr lang="en-US" altLang="ja-JP" dirty="0" smtClean="0"/>
              <a:t>Example: Divide by Zero without Exception Handling  (cont.)</a:t>
            </a:r>
            <a:endParaRPr lang="en-US" dirty="0"/>
          </a:p>
        </p:txBody>
      </p:sp>
      <p:sp>
        <p:nvSpPr>
          <p:cNvPr id="29700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©1992-2014 by Pearson Education, Inc. All Rights Reserved.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7487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b="1" dirty="0"/>
              <a:t>stack </a:t>
            </a:r>
            <a:r>
              <a:rPr lang="en-US" b="1" dirty="0" smtClean="0"/>
              <a:t>trace</a:t>
            </a:r>
            <a:r>
              <a:rPr lang="en-US" dirty="0" smtClean="0"/>
              <a:t> includes </a:t>
            </a:r>
            <a:r>
              <a:rPr lang="en-US" dirty="0"/>
              <a:t>the exception class’s </a:t>
            </a:r>
            <a:r>
              <a:rPr lang="en-US" dirty="0" smtClean="0"/>
              <a:t>name in </a:t>
            </a:r>
            <a:r>
              <a:rPr lang="en-US" dirty="0"/>
              <a:t>a message indicating the problem that occurred and the path of execution that led to the exception, method by method</a:t>
            </a:r>
            <a:r>
              <a:rPr lang="en-US" dirty="0" smtClean="0"/>
              <a:t>.</a:t>
            </a:r>
          </a:p>
          <a:p>
            <a:r>
              <a:rPr lang="en-US" dirty="0" smtClean="0"/>
              <a:t>Stack </a:t>
            </a:r>
            <a:r>
              <a:rPr lang="en-US" dirty="0"/>
              <a:t>traces help you debug a program.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first line of the error message specifies </a:t>
            </a:r>
            <a:r>
              <a:rPr lang="en-US" dirty="0" smtClean="0"/>
              <a:t>the exception that </a:t>
            </a:r>
            <a:r>
              <a:rPr lang="en-US" dirty="0"/>
              <a:t>occurred. </a:t>
            </a:r>
            <a:endParaRPr lang="en-US" dirty="0" smtClean="0"/>
          </a:p>
          <a:p>
            <a:r>
              <a:rPr lang="en-US" dirty="0" smtClean="0"/>
              <a:t>When </a:t>
            </a:r>
            <a:r>
              <a:rPr lang="en-US" dirty="0"/>
              <a:t>a program divides an integer by 0, the CLR throws a </a:t>
            </a:r>
            <a:r>
              <a:rPr lang="en-US" b="1" dirty="0" err="1" smtClean="0">
                <a:latin typeface="Consolas" panose="020B0609020204030204" pitchFamily="49" charset="0"/>
              </a:rPr>
              <a:t>DivideByZeroException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Division </a:t>
            </a:r>
            <a:r>
              <a:rPr lang="en-US" dirty="0"/>
              <a:t>by zero is not allowed in integer arithmetic. </a:t>
            </a:r>
          </a:p>
          <a:p>
            <a:endParaRPr lang="en-US" dirty="0" smtClean="0"/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13.2 </a:t>
            </a:r>
            <a:r>
              <a:rPr lang="en-US" altLang="ja-JP" dirty="0" smtClean="0"/>
              <a:t>Example: Divide by Zero without Exception Handling  (cont.)</a:t>
            </a:r>
            <a:endParaRPr lang="en-US" dirty="0"/>
          </a:p>
        </p:txBody>
      </p:sp>
      <p:sp>
        <p:nvSpPr>
          <p:cNvPr id="29700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©1992-2014 by Pearson Education, Inc. All Rights Reserved.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0107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b="1" dirty="0" err="1">
                <a:latin typeface="Consolas" panose="020B0609020204030204" pitchFamily="49" charset="0"/>
              </a:rPr>
              <a:t>FormatException</a:t>
            </a:r>
            <a:r>
              <a:rPr lang="en-US" dirty="0"/>
              <a:t> </a:t>
            </a:r>
            <a:r>
              <a:rPr lang="en-US" dirty="0" smtClean="0"/>
              <a:t>occurs </a:t>
            </a:r>
            <a:r>
              <a:rPr lang="en-US" dirty="0"/>
              <a:t>when </a:t>
            </a:r>
            <a:r>
              <a:rPr lang="en-US" dirty="0" err="1">
                <a:latin typeface="Consolas" panose="020B0609020204030204" pitchFamily="49" charset="0"/>
              </a:rPr>
              <a:t>int.Parse</a:t>
            </a:r>
            <a:r>
              <a:rPr lang="en-US" dirty="0"/>
              <a:t> receives a </a:t>
            </a:r>
            <a:r>
              <a:rPr lang="en-US" dirty="0">
                <a:latin typeface="Consolas" panose="020B0609020204030204" pitchFamily="49" charset="0"/>
              </a:rPr>
              <a:t>string</a:t>
            </a:r>
            <a:r>
              <a:rPr lang="en-US" dirty="0"/>
              <a:t> that does not represent a valid integer.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program terminates when an </a:t>
            </a:r>
            <a:r>
              <a:rPr lang="en-US" i="1" dirty="0"/>
              <a:t>unhandled</a:t>
            </a:r>
            <a:r>
              <a:rPr lang="en-US" dirty="0"/>
              <a:t> exception </a:t>
            </a:r>
            <a:r>
              <a:rPr lang="en-US" dirty="0" smtClean="0"/>
              <a:t>occurs. </a:t>
            </a:r>
          </a:p>
          <a:p>
            <a:r>
              <a:rPr lang="en-US" dirty="0" smtClean="0"/>
              <a:t>This </a:t>
            </a:r>
            <a:r>
              <a:rPr lang="en-US" dirty="0"/>
              <a:t>does not always happen—sometimes a program may continue executing even though an exception has occurred and a stack trace has been displayed. </a:t>
            </a:r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/>
              <a:t>such cases, the app may produce incorrect results. </a:t>
            </a:r>
            <a:endParaRPr lang="en-US" dirty="0" smtClean="0"/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13.2 </a:t>
            </a:r>
            <a:r>
              <a:rPr lang="en-US" altLang="ja-JP" dirty="0" smtClean="0"/>
              <a:t>Example: Divide by Zero without Exception Handling  (cont.)</a:t>
            </a:r>
            <a:endParaRPr lang="en-US" dirty="0"/>
          </a:p>
        </p:txBody>
      </p:sp>
      <p:sp>
        <p:nvSpPr>
          <p:cNvPr id="29700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©1992-2014 by Pearson Education, Inc. All Rights Reserved.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0035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The app  in Fig. 13.2 uses exception handling to process </a:t>
            </a:r>
            <a:r>
              <a:rPr lang="en-US" altLang="en-US" dirty="0" err="1" smtClean="0">
                <a:latin typeface="Consolas" panose="020B0609020204030204" pitchFamily="49" charset="0"/>
              </a:rPr>
              <a:t>DivideByZeroException</a:t>
            </a:r>
            <a:r>
              <a:rPr lang="en-US" altLang="en-US" dirty="0" err="1" smtClean="0"/>
              <a:t>s</a:t>
            </a:r>
            <a:r>
              <a:rPr lang="en-US" altLang="en-US" dirty="0" smtClean="0"/>
              <a:t> and </a:t>
            </a:r>
            <a:r>
              <a:rPr lang="en-US" altLang="en-US" dirty="0" err="1" smtClean="0">
                <a:latin typeface="Consolas" panose="020B0609020204030204" pitchFamily="49" charset="0"/>
              </a:rPr>
              <a:t>FormatException</a:t>
            </a:r>
            <a:r>
              <a:rPr lang="en-US" altLang="en-US" dirty="0" err="1" smtClean="0"/>
              <a:t>s</a:t>
            </a:r>
            <a:r>
              <a:rPr lang="en-US" altLang="en-US" dirty="0" smtClean="0"/>
              <a:t> that might arise.</a:t>
            </a:r>
          </a:p>
          <a:p>
            <a:r>
              <a:rPr lang="en-US" altLang="en-US" dirty="0" smtClean="0"/>
              <a:t>This program demonstrates how to catch and handle exceptions—in this case, displaying an error message and allowing the user to enter another set of values. </a:t>
            </a:r>
          </a:p>
          <a:p>
            <a:endParaRPr lang="en-US" alt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13.3 Example: Handling DivideByZeroExceptions and FormatExceptions</a:t>
            </a:r>
            <a:endParaRPr lang="en-US" dirty="0"/>
          </a:p>
        </p:txBody>
      </p:sp>
      <p:sp>
        <p:nvSpPr>
          <p:cNvPr id="33796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©1992-2014 by Pearson Education, Inc. All Rights Reserved.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07190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3_Exceptions_Page_1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288" y="0"/>
            <a:ext cx="101314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2031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3_Exceptions_Page_1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075" y="0"/>
            <a:ext cx="94662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7859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3_Exceptions_Page_1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563"/>
            <a:ext cx="12192000" cy="67452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8998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3_Exceptions_Page_1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5525"/>
            <a:ext cx="12192000" cy="48053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603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The </a:t>
            </a:r>
            <a:r>
              <a:rPr lang="en-US" altLang="ja-JP" dirty="0" smtClean="0">
                <a:latin typeface="Consolas" panose="020B0609020204030204" pitchFamily="49" charset="0"/>
              </a:rPr>
              <a:t>Int32.TryParse</a:t>
            </a:r>
            <a:r>
              <a:rPr lang="en-US" altLang="ja-JP" dirty="0" smtClean="0"/>
              <a:t> method converts a </a:t>
            </a:r>
            <a:r>
              <a:rPr lang="en-US" altLang="ja-JP" dirty="0" smtClean="0">
                <a:latin typeface="Consolas" panose="020B0609020204030204" pitchFamily="49" charset="0"/>
              </a:rPr>
              <a:t>string</a:t>
            </a:r>
            <a:r>
              <a:rPr lang="en-US" altLang="ja-JP" dirty="0" smtClean="0"/>
              <a:t> to an </a:t>
            </a:r>
            <a:r>
              <a:rPr lang="en-US" altLang="ja-JP" dirty="0" err="1" smtClean="0">
                <a:latin typeface="Consolas" panose="020B0609020204030204" pitchFamily="49" charset="0"/>
              </a:rPr>
              <a:t>int</a:t>
            </a:r>
            <a:r>
              <a:rPr lang="en-US" altLang="ja-JP" dirty="0" smtClean="0"/>
              <a:t> value if possible.</a:t>
            </a:r>
          </a:p>
          <a:p>
            <a:r>
              <a:rPr lang="en-US" altLang="ja-JP" dirty="0" smtClean="0"/>
              <a:t>The method requires two arguments—one is the </a:t>
            </a:r>
            <a:r>
              <a:rPr lang="en-US" altLang="ja-JP" dirty="0" smtClean="0">
                <a:latin typeface="Consolas" panose="020B0609020204030204" pitchFamily="49" charset="0"/>
              </a:rPr>
              <a:t>string</a:t>
            </a:r>
            <a:r>
              <a:rPr lang="en-US" altLang="ja-JP" dirty="0" smtClean="0"/>
              <a:t> to parse and the other is the variable in which the converted value is to be stored.</a:t>
            </a:r>
          </a:p>
          <a:p>
            <a:r>
              <a:rPr lang="en-US" altLang="ja-JP" dirty="0" smtClean="0"/>
              <a:t>The method returns a </a:t>
            </a:r>
            <a:r>
              <a:rPr lang="en-US" altLang="ja-JP" dirty="0" smtClean="0">
                <a:latin typeface="Consolas" panose="020B0609020204030204" pitchFamily="49" charset="0"/>
              </a:rPr>
              <a:t>bool</a:t>
            </a:r>
            <a:r>
              <a:rPr lang="en-US" altLang="ja-JP" dirty="0" smtClean="0"/>
              <a:t> value that’s </a:t>
            </a:r>
            <a:r>
              <a:rPr lang="en-US" altLang="ja-JP" dirty="0" smtClean="0">
                <a:latin typeface="Consolas" panose="020B0609020204030204" pitchFamily="49" charset="0"/>
              </a:rPr>
              <a:t>true</a:t>
            </a:r>
            <a:r>
              <a:rPr lang="en-US" altLang="ja-JP" dirty="0" smtClean="0"/>
              <a:t> if the </a:t>
            </a:r>
            <a:r>
              <a:rPr lang="en-US" altLang="ja-JP" dirty="0" smtClean="0">
                <a:latin typeface="Consolas" panose="020B0609020204030204" pitchFamily="49" charset="0"/>
              </a:rPr>
              <a:t>string</a:t>
            </a:r>
            <a:r>
              <a:rPr lang="en-US" altLang="ja-JP" dirty="0" smtClean="0"/>
              <a:t> was parsed successfully.</a:t>
            </a:r>
          </a:p>
          <a:p>
            <a:r>
              <a:rPr lang="en-US" altLang="ja-JP" dirty="0" smtClean="0"/>
              <a:t>If the </a:t>
            </a:r>
            <a:r>
              <a:rPr lang="en-US" altLang="ja-JP" dirty="0" smtClean="0">
                <a:latin typeface="Consolas" panose="020B0609020204030204" pitchFamily="49" charset="0"/>
              </a:rPr>
              <a:t>string</a:t>
            </a:r>
            <a:r>
              <a:rPr lang="en-US" altLang="ja-JP" dirty="0" smtClean="0"/>
              <a:t> could not be converted, the value </a:t>
            </a:r>
            <a:r>
              <a:rPr lang="en-US" altLang="ja-JP" dirty="0" smtClean="0">
                <a:latin typeface="Consolas" panose="020B0609020204030204" pitchFamily="49" charset="0"/>
              </a:rPr>
              <a:t>0</a:t>
            </a:r>
            <a:r>
              <a:rPr lang="en-US" altLang="ja-JP" dirty="0" smtClean="0"/>
              <a:t> is assigned to the second argument. </a:t>
            </a:r>
            <a:endParaRPr lang="en-US" dirty="0"/>
          </a:p>
        </p:txBody>
      </p:sp>
      <p:sp>
        <p:nvSpPr>
          <p:cNvPr id="5632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13.3 Example: </a:t>
            </a:r>
            <a:r>
              <a:rPr lang="en-US" altLang="ja-JP" smtClean="0"/>
              <a:t>Handling DivideByZeroExceptions and FormatExceptions (cont). </a:t>
            </a:r>
            <a:endParaRPr lang="en-US" dirty="0"/>
          </a:p>
        </p:txBody>
      </p:sp>
      <p:sp>
        <p:nvSpPr>
          <p:cNvPr id="38916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©1992-2014 by Pearson Education, Inc. All Rights Reserved.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5913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3_Exceptions_Page_1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65300"/>
            <a:ext cx="12192000" cy="33258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8145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A </a:t>
            </a:r>
            <a:r>
              <a:rPr lang="en-US" altLang="ja-JP" dirty="0" smtClean="0">
                <a:latin typeface="Consolas" panose="020B0609020204030204" pitchFamily="49" charset="0"/>
              </a:rPr>
              <a:t>try</a:t>
            </a:r>
            <a:r>
              <a:rPr lang="en-US" altLang="ja-JP" dirty="0" smtClean="0"/>
              <a:t> block encloses code that might throw exceptions, as well as the code that’s skipped when an exception occurs. </a:t>
            </a:r>
            <a:endParaRPr lang="en-US" altLang="en-US" dirty="0"/>
          </a:p>
        </p:txBody>
      </p:sp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13.3.1 Enclosing Code in a </a:t>
            </a:r>
            <a:r>
              <a:rPr lang="en-US" altLang="ja-JP" dirty="0">
                <a:latin typeface="Consolas" panose="020B0609020204030204" pitchFamily="49" charset="0"/>
              </a:rPr>
              <a:t>try</a:t>
            </a:r>
            <a:r>
              <a:rPr lang="en-US" altLang="ja-JP" dirty="0"/>
              <a:t> Block</a:t>
            </a:r>
          </a:p>
        </p:txBody>
      </p:sp>
      <p:sp>
        <p:nvSpPr>
          <p:cNvPr id="39940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©1992-2014 by Pearson Education, Inc. All Rights Reserved.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416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When an exception occurs in a </a:t>
            </a:r>
            <a:r>
              <a:rPr lang="en-US" altLang="ja-JP" dirty="0" smtClean="0">
                <a:latin typeface="Consolas" panose="020B0609020204030204" pitchFamily="49" charset="0"/>
              </a:rPr>
              <a:t>try</a:t>
            </a:r>
            <a:r>
              <a:rPr lang="en-US" altLang="ja-JP" dirty="0" smtClean="0"/>
              <a:t> block, a corresponding </a:t>
            </a:r>
            <a:r>
              <a:rPr lang="en-US" altLang="ja-JP" dirty="0" smtClean="0">
                <a:latin typeface="Consolas" panose="020B0609020204030204" pitchFamily="49" charset="0"/>
              </a:rPr>
              <a:t>catch</a:t>
            </a:r>
            <a:r>
              <a:rPr lang="en-US" altLang="ja-JP" dirty="0" smtClean="0"/>
              <a:t> block catches the exception and handles it.</a:t>
            </a:r>
          </a:p>
          <a:p>
            <a:r>
              <a:rPr lang="en-US" altLang="ja-JP" dirty="0" smtClean="0"/>
              <a:t>At least one </a:t>
            </a:r>
            <a:r>
              <a:rPr lang="en-US" altLang="ja-JP" dirty="0" smtClean="0">
                <a:latin typeface="Consolas" panose="020B0609020204030204" pitchFamily="49" charset="0"/>
              </a:rPr>
              <a:t>catch</a:t>
            </a:r>
            <a:r>
              <a:rPr lang="en-US" altLang="ja-JP" dirty="0" smtClean="0"/>
              <a:t> block must immediately follow a </a:t>
            </a:r>
            <a:r>
              <a:rPr lang="en-US" altLang="ja-JP" dirty="0" smtClean="0">
                <a:latin typeface="Consolas" panose="020B0609020204030204" pitchFamily="49" charset="0"/>
              </a:rPr>
              <a:t>try</a:t>
            </a:r>
            <a:r>
              <a:rPr lang="en-US" altLang="ja-JP" dirty="0" smtClean="0"/>
              <a:t> block. </a:t>
            </a:r>
          </a:p>
          <a:p>
            <a:r>
              <a:rPr lang="en-US" altLang="ja-JP" dirty="0" smtClean="0"/>
              <a:t>A </a:t>
            </a:r>
            <a:r>
              <a:rPr lang="en-US" altLang="ja-JP" dirty="0" smtClean="0">
                <a:latin typeface="Consolas" panose="020B0609020204030204" pitchFamily="49" charset="0"/>
              </a:rPr>
              <a:t>catch</a:t>
            </a:r>
            <a:r>
              <a:rPr lang="en-US" altLang="ja-JP" dirty="0" smtClean="0"/>
              <a:t> block specifies an exception parameter representing the exception that the </a:t>
            </a:r>
            <a:r>
              <a:rPr lang="en-US" altLang="ja-JP" dirty="0" smtClean="0">
                <a:latin typeface="Consolas" panose="020B0609020204030204" pitchFamily="49" charset="0"/>
              </a:rPr>
              <a:t>catch</a:t>
            </a:r>
            <a:r>
              <a:rPr lang="en-US" altLang="ja-JP" dirty="0" smtClean="0"/>
              <a:t> block can handle.</a:t>
            </a:r>
          </a:p>
          <a:p>
            <a:r>
              <a:rPr lang="en-US" altLang="ja-JP" dirty="0" smtClean="0"/>
              <a:t>Optionally, you can include a </a:t>
            </a:r>
            <a:r>
              <a:rPr lang="en-US" altLang="ja-JP" dirty="0" smtClean="0">
                <a:latin typeface="Consolas" panose="020B0609020204030204" pitchFamily="49" charset="0"/>
              </a:rPr>
              <a:t>catch</a:t>
            </a:r>
            <a:r>
              <a:rPr lang="en-US" altLang="ja-JP" dirty="0" smtClean="0"/>
              <a:t> block that does not specify an exception type to catch all exception types. </a:t>
            </a:r>
            <a:endParaRPr lang="en-US" altLang="en-US" dirty="0"/>
          </a:p>
        </p:txBody>
      </p:sp>
      <p:sp>
        <p:nvSpPr>
          <p:cNvPr id="5837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13.3.2 Catching Exceptions</a:t>
            </a:r>
          </a:p>
        </p:txBody>
      </p:sp>
      <p:sp>
        <p:nvSpPr>
          <p:cNvPr id="40964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©1992-2014 by Pearson Education, Inc. All Rights Reserved.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0793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An uncaught exception (or unhandled exception) is an exception for which there is </a:t>
            </a:r>
            <a:r>
              <a:rPr lang="en-US" altLang="en-US" dirty="0" smtClean="0"/>
              <a:t>no matching catch block.</a:t>
            </a:r>
          </a:p>
          <a:p>
            <a:r>
              <a:rPr lang="en-US" altLang="ja-JP" dirty="0" smtClean="0"/>
              <a:t>If you run the app by using </a:t>
            </a:r>
            <a:r>
              <a:rPr lang="en-US" altLang="ja-JP" b="1" dirty="0" smtClean="0"/>
              <a:t>Debug &gt; Start Debugging </a:t>
            </a:r>
            <a:r>
              <a:rPr lang="en-US" altLang="ja-JP" dirty="0" smtClean="0"/>
              <a:t>and the runtime environment detects an uncaught exception, the app pauses, and the </a:t>
            </a:r>
            <a:r>
              <a:rPr lang="en-US" altLang="ja-JP" b="1" dirty="0" smtClean="0"/>
              <a:t>Exception Assistant </a:t>
            </a:r>
            <a:r>
              <a:rPr lang="en-US" altLang="ja-JP" dirty="0" smtClean="0"/>
              <a:t>(Fig. 13.3) appears. </a:t>
            </a:r>
            <a:endParaRPr lang="en-US" altLang="en-US" dirty="0"/>
          </a:p>
        </p:txBody>
      </p:sp>
      <p:sp>
        <p:nvSpPr>
          <p:cNvPr id="5939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13.3.3 Uncaught Exceptions</a:t>
            </a:r>
          </a:p>
        </p:txBody>
      </p:sp>
      <p:sp>
        <p:nvSpPr>
          <p:cNvPr id="41988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©1992-2014 by Pearson Education, Inc. All Rights Reserved.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1456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3_Exceptions_Page_1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6838" y="0"/>
            <a:ext cx="945673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1288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The point at which an exception occurs is called the throw point.</a:t>
            </a:r>
          </a:p>
          <a:p>
            <a:r>
              <a:rPr lang="en-US" altLang="ja-JP" dirty="0" smtClean="0"/>
              <a:t>If an exception occurs in a </a:t>
            </a:r>
            <a:r>
              <a:rPr lang="en-US" altLang="ja-JP" dirty="0" smtClean="0">
                <a:latin typeface="Consolas" panose="020B0609020204030204" pitchFamily="49" charset="0"/>
              </a:rPr>
              <a:t>try</a:t>
            </a:r>
            <a:r>
              <a:rPr lang="en-US" altLang="ja-JP" dirty="0" smtClean="0"/>
              <a:t> block, program control immediately transfers to the first </a:t>
            </a:r>
            <a:r>
              <a:rPr lang="en-US" altLang="ja-JP" dirty="0" smtClean="0">
                <a:latin typeface="Consolas" panose="020B0609020204030204" pitchFamily="49" charset="0"/>
              </a:rPr>
              <a:t>catch</a:t>
            </a:r>
            <a:r>
              <a:rPr lang="en-US" altLang="ja-JP" dirty="0" smtClean="0"/>
              <a:t> block matching the type of the thrown exception.</a:t>
            </a:r>
          </a:p>
          <a:p>
            <a:r>
              <a:rPr lang="en-US" altLang="ja-JP" dirty="0" smtClean="0"/>
              <a:t>After the exception is handled, program control resumes after the last </a:t>
            </a:r>
            <a:r>
              <a:rPr lang="en-US" altLang="ja-JP" dirty="0" smtClean="0">
                <a:latin typeface="Consolas" panose="020B0609020204030204" pitchFamily="49" charset="0"/>
              </a:rPr>
              <a:t>catch</a:t>
            </a:r>
            <a:r>
              <a:rPr lang="en-US" altLang="ja-JP" dirty="0" smtClean="0"/>
              <a:t> block.</a:t>
            </a:r>
          </a:p>
          <a:p>
            <a:r>
              <a:rPr lang="en-US" altLang="ja-JP" dirty="0" smtClean="0"/>
              <a:t>This is known as the termination model of exception handling. </a:t>
            </a:r>
            <a:endParaRPr lang="en-US" altLang="en-US" dirty="0"/>
          </a:p>
        </p:txBody>
      </p:sp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ja-JP" dirty="0"/>
              <a:t>13.3.4 Termination Model of Exception Handling</a:t>
            </a:r>
          </a:p>
        </p:txBody>
      </p:sp>
      <p:sp>
        <p:nvSpPr>
          <p:cNvPr id="44036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©1992-2014 by Pearson Education, Inc. All Rights Reserved.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6515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3_Exceptions_Page_1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14438"/>
            <a:ext cx="12192000" cy="44291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9302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In C#, only objects of class </a:t>
            </a:r>
            <a:r>
              <a:rPr lang="en-US" altLang="ja-JP" dirty="0" smtClean="0">
                <a:latin typeface="Consolas" panose="020B0609020204030204" pitchFamily="49" charset="0"/>
              </a:rPr>
              <a:t>Exception</a:t>
            </a:r>
            <a:r>
              <a:rPr lang="en-US" altLang="ja-JP" dirty="0" smtClean="0"/>
              <a:t> and its derived classes may be thrown and caught.</a:t>
            </a:r>
          </a:p>
          <a:p>
            <a:r>
              <a:rPr lang="en-US" altLang="ja-JP" dirty="0" smtClean="0"/>
              <a:t>Exceptions thrown in other .NET languages can be caught with the general </a:t>
            </a:r>
            <a:r>
              <a:rPr lang="en-US" altLang="ja-JP" dirty="0" smtClean="0">
                <a:latin typeface="Consolas" panose="020B0609020204030204" pitchFamily="49" charset="0"/>
              </a:rPr>
              <a:t>catch</a:t>
            </a:r>
            <a:r>
              <a:rPr lang="en-US" altLang="ja-JP" dirty="0" smtClean="0"/>
              <a:t> clause. </a:t>
            </a:r>
            <a:endParaRPr lang="en-US" altLang="en-US" dirty="0"/>
          </a:p>
        </p:txBody>
      </p:sp>
      <p:sp>
        <p:nvSpPr>
          <p:cNvPr id="655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13.4 </a:t>
            </a:r>
            <a:r>
              <a:rPr lang="en-US" altLang="ja-JP" smtClean="0"/>
              <a:t>.NET Exception Hierarchy </a:t>
            </a:r>
            <a:endParaRPr lang="en-US" dirty="0" smtClean="0"/>
          </a:p>
        </p:txBody>
      </p:sp>
      <p:sp>
        <p:nvSpPr>
          <p:cNvPr id="46084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©1992-2014 by Pearson Education, Inc. All Rights Reserved.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4716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Class </a:t>
            </a:r>
            <a:r>
              <a:rPr lang="en-US" altLang="ja-JP" dirty="0" smtClean="0">
                <a:latin typeface="Consolas" panose="020B0609020204030204" pitchFamily="49" charset="0"/>
              </a:rPr>
              <a:t>Exception</a:t>
            </a:r>
            <a:r>
              <a:rPr lang="en-US" altLang="ja-JP" dirty="0" smtClean="0"/>
              <a:t> is the base class of .NET’s exception class hierarchy.</a:t>
            </a:r>
          </a:p>
          <a:p>
            <a:r>
              <a:rPr lang="en-US" altLang="ja-JP" dirty="0" smtClean="0"/>
              <a:t>The CLR generates </a:t>
            </a:r>
            <a:r>
              <a:rPr lang="en-US" altLang="ja-JP" dirty="0" err="1" smtClean="0">
                <a:latin typeface="Consolas" panose="020B0609020204030204" pitchFamily="49" charset="0"/>
              </a:rPr>
              <a:t>SystemException</a:t>
            </a:r>
            <a:r>
              <a:rPr lang="en-US" altLang="ja-JP" dirty="0" err="1" smtClean="0"/>
              <a:t>s</a:t>
            </a:r>
            <a:r>
              <a:rPr lang="en-US" altLang="ja-JP" dirty="0" smtClean="0"/>
              <a:t>.</a:t>
            </a:r>
          </a:p>
          <a:p>
            <a:r>
              <a:rPr lang="en-US" altLang="ja-JP" dirty="0" smtClean="0"/>
              <a:t>If a program attempts to access an out-of-range array index, the CLR throws an exception of type </a:t>
            </a:r>
            <a:r>
              <a:rPr lang="en-US" altLang="ja-JP" dirty="0" err="1" smtClean="0">
                <a:latin typeface="Consolas" panose="020B0609020204030204" pitchFamily="49" charset="0"/>
              </a:rPr>
              <a:t>IndexOutOfRangeException</a:t>
            </a:r>
            <a:r>
              <a:rPr lang="en-US" altLang="ja-JP" dirty="0" smtClean="0"/>
              <a:t>.</a:t>
            </a:r>
          </a:p>
          <a:p>
            <a:r>
              <a:rPr lang="en-US" altLang="ja-JP" dirty="0" smtClean="0"/>
              <a:t>Attempting to use a </a:t>
            </a:r>
            <a:r>
              <a:rPr lang="en-US" altLang="ja-JP" dirty="0" smtClean="0">
                <a:latin typeface="Consolas" panose="020B0609020204030204" pitchFamily="49" charset="0"/>
              </a:rPr>
              <a:t>null</a:t>
            </a:r>
            <a:r>
              <a:rPr lang="en-US" altLang="ja-JP" dirty="0" smtClean="0"/>
              <a:t> reference causes a </a:t>
            </a:r>
            <a:r>
              <a:rPr lang="en-US" altLang="ja-JP" dirty="0" err="1" smtClean="0">
                <a:latin typeface="Consolas" panose="020B0609020204030204" pitchFamily="49" charset="0"/>
              </a:rPr>
              <a:t>NullReferenceException</a:t>
            </a:r>
            <a:r>
              <a:rPr lang="en-US" altLang="ja-JP" dirty="0" smtClean="0"/>
              <a:t>.</a:t>
            </a:r>
            <a:endParaRPr lang="en-US" altLang="en-US" dirty="0" smtClean="0"/>
          </a:p>
        </p:txBody>
      </p:sp>
      <p:sp>
        <p:nvSpPr>
          <p:cNvPr id="665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13.4.1 Class </a:t>
            </a:r>
            <a:r>
              <a:rPr lang="en-US" altLang="ja-JP" dirty="0" err="1"/>
              <a:t>SystemException</a:t>
            </a:r>
            <a:endParaRPr lang="en-US" altLang="ja-JP" dirty="0"/>
          </a:p>
        </p:txBody>
      </p:sp>
      <p:sp>
        <p:nvSpPr>
          <p:cNvPr id="47108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©1992-2014 by Pearson Education, Inc. All Rights Reserved.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9850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A </a:t>
            </a:r>
            <a:r>
              <a:rPr lang="en-US" altLang="ja-JP" dirty="0" smtClean="0">
                <a:latin typeface="Consolas" panose="020B0609020204030204" pitchFamily="49" charset="0"/>
              </a:rPr>
              <a:t>catch</a:t>
            </a:r>
            <a:r>
              <a:rPr lang="en-US" altLang="ja-JP" dirty="0" smtClean="0"/>
              <a:t> block can use a base-class type to catch a hierarchy of related exception types.</a:t>
            </a:r>
          </a:p>
          <a:p>
            <a:r>
              <a:rPr lang="en-US" altLang="ja-JP" dirty="0" smtClean="0"/>
              <a:t>A </a:t>
            </a:r>
            <a:r>
              <a:rPr lang="en-US" altLang="ja-JP" dirty="0" smtClean="0">
                <a:latin typeface="Consolas" panose="020B0609020204030204" pitchFamily="49" charset="0"/>
              </a:rPr>
              <a:t>catch</a:t>
            </a:r>
            <a:r>
              <a:rPr lang="en-US" altLang="ja-JP" dirty="0" smtClean="0"/>
              <a:t> block that specifies a parameter of type </a:t>
            </a:r>
            <a:r>
              <a:rPr lang="en-US" altLang="ja-JP" dirty="0" smtClean="0">
                <a:latin typeface="Consolas" panose="020B0609020204030204" pitchFamily="49" charset="0"/>
              </a:rPr>
              <a:t>Exception</a:t>
            </a:r>
            <a:r>
              <a:rPr lang="en-US" altLang="ja-JP" dirty="0" smtClean="0"/>
              <a:t> can catch all exceptions.</a:t>
            </a:r>
          </a:p>
          <a:p>
            <a:r>
              <a:rPr lang="en-US" altLang="ja-JP" dirty="0" smtClean="0"/>
              <a:t>This technique makes sense only if the handling behavior is the same for a base class and all derived classes. </a:t>
            </a:r>
            <a:endParaRPr lang="en-US" altLang="en-US" dirty="0" smtClean="0"/>
          </a:p>
        </p:txBody>
      </p:sp>
      <p:sp>
        <p:nvSpPr>
          <p:cNvPr id="675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13.4.1 Class </a:t>
            </a:r>
            <a:r>
              <a:rPr lang="en-US" altLang="ja-JP" dirty="0" err="1"/>
              <a:t>SystemException</a:t>
            </a:r>
            <a:endParaRPr lang="en-US" dirty="0"/>
          </a:p>
        </p:txBody>
      </p:sp>
      <p:sp>
        <p:nvSpPr>
          <p:cNvPr id="4813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©1992-2014 by Pearson Education, Inc. All Rights Reserved.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1532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3_Exceptions_Page_1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19175"/>
            <a:ext cx="12192000" cy="48180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7321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Search for “</a:t>
            </a:r>
            <a:r>
              <a:rPr lang="en-US" altLang="ja-JP" dirty="0" err="1" smtClean="0">
                <a:latin typeface="Consolas" panose="020B0609020204030204" pitchFamily="49" charset="0"/>
              </a:rPr>
              <a:t>int.Parse</a:t>
            </a:r>
            <a:r>
              <a:rPr lang="en-US" altLang="ja-JP" dirty="0" smtClean="0"/>
              <a:t> method” in the  Visual Studio online documentation.</a:t>
            </a:r>
          </a:p>
          <a:p>
            <a:r>
              <a:rPr lang="en-US" altLang="ja-JP" dirty="0" smtClean="0"/>
              <a:t>The </a:t>
            </a:r>
            <a:r>
              <a:rPr lang="en-US" altLang="ja-JP" b="1" dirty="0" smtClean="0"/>
              <a:t>Exceptions</a:t>
            </a:r>
            <a:r>
              <a:rPr lang="en-US" altLang="ja-JP" dirty="0" smtClean="0"/>
              <a:t> section of this method’s web page indicates that method </a:t>
            </a:r>
            <a:r>
              <a:rPr lang="en-US" altLang="ja-JP" dirty="0" err="1">
                <a:latin typeface="Consolas" panose="020B0609020204030204" pitchFamily="49" charset="0"/>
              </a:rPr>
              <a:t>int.Parse</a:t>
            </a:r>
            <a:r>
              <a:rPr lang="en-US" altLang="ja-JP" dirty="0"/>
              <a:t> </a:t>
            </a:r>
            <a:r>
              <a:rPr lang="en-US" altLang="ja-JP" dirty="0" smtClean="0"/>
              <a:t>throws exception types</a:t>
            </a:r>
          </a:p>
          <a:p>
            <a:pPr lvl="1"/>
            <a:r>
              <a:rPr lang="en-US" altLang="ja-JP" dirty="0" err="1" smtClean="0">
                <a:latin typeface="Consolas" panose="020B0609020204030204" pitchFamily="49" charset="0"/>
              </a:rPr>
              <a:t>ArgumentNullException</a:t>
            </a:r>
            <a:endParaRPr lang="en-US" altLang="ja-JP" dirty="0"/>
          </a:p>
          <a:p>
            <a:pPr lvl="1"/>
            <a:r>
              <a:rPr lang="en-US" altLang="ja-JP" dirty="0" err="1">
                <a:latin typeface="Consolas" panose="020B0609020204030204" pitchFamily="49" charset="0"/>
              </a:rPr>
              <a:t>FormatException</a:t>
            </a:r>
            <a:r>
              <a:rPr lang="en-US" altLang="ja-JP" dirty="0"/>
              <a:t> </a:t>
            </a:r>
          </a:p>
          <a:p>
            <a:pPr lvl="1"/>
            <a:r>
              <a:rPr lang="en-US" altLang="ja-JP" dirty="0" err="1" smtClean="0">
                <a:latin typeface="Consolas" panose="020B0609020204030204" pitchFamily="49" charset="0"/>
              </a:rPr>
              <a:t>OverflowException</a:t>
            </a:r>
            <a:endParaRPr lang="en-US" altLang="ja-JP" dirty="0" smtClean="0"/>
          </a:p>
          <a:p>
            <a:r>
              <a:rPr lang="en-US" altLang="ja-JP" dirty="0" smtClean="0"/>
              <a:t>and describes the reason for each. </a:t>
            </a:r>
            <a:endParaRPr lang="en-US" dirty="0" smtClean="0"/>
          </a:p>
        </p:txBody>
      </p:sp>
      <p:sp>
        <p:nvSpPr>
          <p:cNvPr id="6963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ja-JP" dirty="0"/>
              <a:t>13.4.2 Which Exceptions Might a Method Throw?</a:t>
            </a:r>
          </a:p>
        </p:txBody>
      </p:sp>
      <p:sp>
        <p:nvSpPr>
          <p:cNvPr id="50180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©1992-2014 by Pearson Education, Inc. All Rights Reserved.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8851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3_Exceptions_Page_20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55750"/>
            <a:ext cx="12192000" cy="37449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6009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smtClean="0"/>
              <a:t>Programs frequently request and release resources dynamically.</a:t>
            </a:r>
          </a:p>
          <a:p>
            <a:r>
              <a:rPr lang="en-US" altLang="ja-JP" smtClean="0"/>
              <a:t>Operating systems typically prevent more than one program from manipulating a file.</a:t>
            </a:r>
          </a:p>
          <a:p>
            <a:r>
              <a:rPr lang="en-US" altLang="ja-JP" smtClean="0"/>
              <a:t>Therefore, the program should close the file</a:t>
            </a:r>
            <a:br>
              <a:rPr lang="en-US" altLang="ja-JP" smtClean="0"/>
            </a:br>
            <a:r>
              <a:rPr lang="en-US" altLang="ja-JP" smtClean="0"/>
              <a:t>(i.e., release the resource) so other programs can use it.</a:t>
            </a:r>
          </a:p>
          <a:p>
            <a:r>
              <a:rPr lang="en-US" altLang="ja-JP" smtClean="0"/>
              <a:t>If the file is not closed, a resource leak occurs. </a:t>
            </a:r>
            <a:endParaRPr lang="en-US" altLang="en-US"/>
          </a:p>
        </p:txBody>
      </p:sp>
      <p:sp>
        <p:nvSpPr>
          <p:cNvPr id="727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13.5 </a:t>
            </a:r>
            <a:r>
              <a:rPr lang="en-US" altLang="ja-JP" smtClean="0"/>
              <a:t>finally Block </a:t>
            </a:r>
            <a:endParaRPr lang="en-US" dirty="0" smtClean="0"/>
          </a:p>
        </p:txBody>
      </p:sp>
      <p:sp>
        <p:nvSpPr>
          <p:cNvPr id="52228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©1992-2014 by Pearson Education, Inc. All Rights Reserved.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2274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3_Exceptions_Page_2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46150"/>
            <a:ext cx="12192000" cy="49657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3164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Exceptions often occur when an app processes resources that require explicit release.</a:t>
            </a:r>
          </a:p>
          <a:p>
            <a:r>
              <a:rPr lang="en-US" altLang="ja-JP" dirty="0" smtClean="0"/>
              <a:t>Regardless of whether a program experiences exceptions, the program should close the file when it is no longer needed.</a:t>
            </a:r>
          </a:p>
          <a:p>
            <a:r>
              <a:rPr lang="en-US" altLang="ja-JP" dirty="0" smtClean="0"/>
              <a:t>C# provides the </a:t>
            </a:r>
            <a:r>
              <a:rPr lang="en-US" altLang="ja-JP" dirty="0" smtClean="0">
                <a:latin typeface="Consolas" panose="020B0609020204030204" pitchFamily="49" charset="0"/>
              </a:rPr>
              <a:t>finally</a:t>
            </a:r>
            <a:r>
              <a:rPr lang="en-US" altLang="ja-JP" dirty="0" smtClean="0"/>
              <a:t> block, which is guaranteed to execute regardless of whether an exception occurs.</a:t>
            </a:r>
          </a:p>
          <a:p>
            <a:r>
              <a:rPr lang="en-US" altLang="ja-JP" dirty="0" smtClean="0"/>
              <a:t>This makes the </a:t>
            </a:r>
            <a:r>
              <a:rPr lang="en-US" altLang="ja-JP" dirty="0" smtClean="0">
                <a:latin typeface="Consolas" panose="020B0609020204030204" pitchFamily="49" charset="0"/>
              </a:rPr>
              <a:t>finally</a:t>
            </a:r>
            <a:r>
              <a:rPr lang="en-US" altLang="ja-JP" dirty="0" smtClean="0"/>
              <a:t> block ideal to release resources from the corresponding try block.</a:t>
            </a:r>
            <a:endParaRPr lang="en-US" dirty="0"/>
          </a:p>
        </p:txBody>
      </p:sp>
      <p:sp>
        <p:nvSpPr>
          <p:cNvPr id="7577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13.5.1 </a:t>
            </a:r>
            <a:r>
              <a:rPr lang="en-US" altLang="ja-JP" dirty="0" smtClean="0"/>
              <a:t>Moving </a:t>
            </a:r>
            <a:r>
              <a:rPr lang="en-US" altLang="ja-JP" dirty="0"/>
              <a:t>Resource-Release Code to a </a:t>
            </a:r>
            <a:r>
              <a:rPr lang="en-US" altLang="ja-JP" dirty="0">
                <a:latin typeface="Consolas" panose="020B0609020204030204" pitchFamily="49" charset="0"/>
              </a:rPr>
              <a:t>finally</a:t>
            </a:r>
            <a:r>
              <a:rPr lang="en-US" altLang="ja-JP" dirty="0"/>
              <a:t> Block</a:t>
            </a:r>
          </a:p>
        </p:txBody>
      </p:sp>
      <p:sp>
        <p:nvSpPr>
          <p:cNvPr id="54276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©1992-2014 by Pearson Education, Inc. All Rights Reserved.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3604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Local variables in a </a:t>
            </a:r>
            <a:r>
              <a:rPr lang="en-US" altLang="ja-JP" dirty="0" smtClean="0">
                <a:latin typeface="Consolas" panose="020B0609020204030204" pitchFamily="49" charset="0"/>
              </a:rPr>
              <a:t>try</a:t>
            </a:r>
            <a:r>
              <a:rPr lang="en-US" altLang="ja-JP" dirty="0" smtClean="0"/>
              <a:t> block cannot be accessed in the corresponding </a:t>
            </a:r>
            <a:r>
              <a:rPr lang="en-US" altLang="ja-JP" dirty="0" smtClean="0">
                <a:latin typeface="Consolas" panose="020B0609020204030204" pitchFamily="49" charset="0"/>
              </a:rPr>
              <a:t>finally</a:t>
            </a:r>
            <a:r>
              <a:rPr lang="en-US" altLang="ja-JP" dirty="0" smtClean="0"/>
              <a:t> block, so variables that must be accessed in both should be declared before the </a:t>
            </a:r>
            <a:r>
              <a:rPr lang="en-US" altLang="ja-JP" dirty="0" smtClean="0">
                <a:latin typeface="Consolas" panose="020B0609020204030204" pitchFamily="49" charset="0"/>
              </a:rPr>
              <a:t>try</a:t>
            </a:r>
            <a:r>
              <a:rPr lang="en-US" altLang="ja-JP" dirty="0" smtClean="0"/>
              <a:t> block. </a:t>
            </a:r>
            <a:endParaRPr lang="en-US" altLang="en-US" dirty="0"/>
          </a:p>
        </p:txBody>
      </p:sp>
      <p:sp>
        <p:nvSpPr>
          <p:cNvPr id="768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13.5 </a:t>
            </a:r>
            <a:r>
              <a:rPr lang="en-US" altLang="ja-JP" smtClean="0"/>
              <a:t>finally Block (Cont.)</a:t>
            </a:r>
            <a:endParaRPr lang="en-US" dirty="0" smtClean="0"/>
          </a:p>
        </p:txBody>
      </p:sp>
      <p:sp>
        <p:nvSpPr>
          <p:cNvPr id="55300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©1992-2014 by Pearson Education, Inc. All Rights Reserved.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3044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3_Exceptions_Page_2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81138"/>
            <a:ext cx="12192000" cy="38941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1995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3_Exceptions_Page_2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68475"/>
            <a:ext cx="12192000" cy="33194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3452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app in Fig. 13.4 demonstrates that the </a:t>
            </a:r>
            <a:r>
              <a:rPr lang="en-US" dirty="0" smtClean="0">
                <a:latin typeface="Consolas" panose="020B0609020204030204" pitchFamily="49" charset="0"/>
              </a:rPr>
              <a:t>finally</a:t>
            </a:r>
            <a:r>
              <a:rPr lang="en-US" dirty="0" smtClean="0"/>
              <a:t> block always executes, regardless of whether an exception occurs in the corresponding try block. </a:t>
            </a:r>
          </a:p>
          <a:p>
            <a:endParaRPr lang="en-US" dirty="0"/>
          </a:p>
        </p:txBody>
      </p:sp>
      <p:sp>
        <p:nvSpPr>
          <p:cNvPr id="7680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13.5.2 </a:t>
            </a:r>
            <a:r>
              <a:rPr lang="en-US" dirty="0"/>
              <a:t>Demonstrating the </a:t>
            </a:r>
            <a:r>
              <a:rPr lang="en-US" dirty="0">
                <a:latin typeface="Consolas" panose="020B0609020204030204" pitchFamily="49" charset="0"/>
              </a:rPr>
              <a:t>finally</a:t>
            </a:r>
            <a:r>
              <a:rPr lang="en-US" dirty="0"/>
              <a:t> </a:t>
            </a:r>
            <a:r>
              <a:rPr lang="en-US" dirty="0" smtClean="0"/>
              <a:t>Block</a:t>
            </a:r>
            <a:endParaRPr lang="en-US" dirty="0" smtClean="0"/>
          </a:p>
        </p:txBody>
      </p:sp>
      <p:sp>
        <p:nvSpPr>
          <p:cNvPr id="5837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©1992-2014 by Pearson Education, Inc. All Rights Reserved.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1692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3_Exceptions_Page_2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9033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3_Exceptions_Page_2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7500"/>
            <a:ext cx="12192000" cy="62214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1455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3_Exceptions_Page_2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450"/>
            <a:ext cx="12192000" cy="65135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76369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3_Exceptions_Page_2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" y="0"/>
            <a:ext cx="108966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2093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3_Exceptions_Page_2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288" y="0"/>
            <a:ext cx="101314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4435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3_Exceptions_Page_2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00" y="0"/>
            <a:ext cx="113284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93244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3_Exceptions_Page_30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613" y="0"/>
            <a:ext cx="1178718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77945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3_Exceptions_Page_3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44575"/>
            <a:ext cx="12192000" cy="47688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66602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3_Exceptions_Page_3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88" y="0"/>
            <a:ext cx="1071403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74288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You create and throw an exception with the </a:t>
            </a:r>
            <a:r>
              <a:rPr lang="en-US" b="1" dirty="0" smtClean="0">
                <a:latin typeface="Consolas" panose="020B0609020204030204" pitchFamily="49" charset="0"/>
              </a:rPr>
              <a:t>throw</a:t>
            </a:r>
            <a:r>
              <a:rPr lang="en-US" dirty="0" smtClean="0"/>
              <a:t> </a:t>
            </a:r>
            <a:r>
              <a:rPr lang="en-US" b="1" dirty="0"/>
              <a:t>statement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dirty="0" smtClean="0"/>
              <a:t>Executing </a:t>
            </a:r>
            <a:r>
              <a:rPr lang="en-US" dirty="0"/>
              <a:t>the </a:t>
            </a:r>
            <a:r>
              <a:rPr lang="en-US" dirty="0">
                <a:latin typeface="Consolas" panose="020B0609020204030204" pitchFamily="49" charset="0"/>
              </a:rPr>
              <a:t>throw</a:t>
            </a:r>
            <a:r>
              <a:rPr lang="en-US" dirty="0"/>
              <a:t> statement indicates that a problem has occurred in the code. </a:t>
            </a:r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 smtClean="0">
                <a:latin typeface="Consolas" panose="020B0609020204030204" pitchFamily="49" charset="0"/>
              </a:rPr>
              <a:t>throw</a:t>
            </a:r>
            <a:r>
              <a:rPr lang="en-US" dirty="0" smtClean="0"/>
              <a:t> statement </a:t>
            </a:r>
            <a:r>
              <a:rPr lang="en-US" dirty="0"/>
              <a:t>specifies an object to be thrown. The operand of a </a:t>
            </a:r>
            <a:r>
              <a:rPr lang="en-US" dirty="0" smtClean="0">
                <a:latin typeface="Consolas" panose="020B0609020204030204" pitchFamily="49" charset="0"/>
              </a:rPr>
              <a:t>throw</a:t>
            </a:r>
            <a:r>
              <a:rPr lang="en-US" dirty="0" smtClean="0"/>
              <a:t> </a:t>
            </a:r>
            <a:r>
              <a:rPr lang="en-US" dirty="0"/>
              <a:t>statement can be of type </a:t>
            </a:r>
            <a:r>
              <a:rPr lang="en-US" dirty="0">
                <a:latin typeface="Consolas" panose="020B0609020204030204" pitchFamily="49" charset="0"/>
              </a:rPr>
              <a:t>Exception</a:t>
            </a:r>
            <a:r>
              <a:rPr lang="en-US" dirty="0"/>
              <a:t> or of any type derived from class </a:t>
            </a:r>
            <a:r>
              <a:rPr lang="en-US" dirty="0" smtClean="0">
                <a:latin typeface="Consolas" panose="020B0609020204030204" pitchFamily="49" charset="0"/>
              </a:rPr>
              <a:t>Exception</a:t>
            </a:r>
            <a:r>
              <a:rPr lang="en-US" dirty="0" smtClean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7680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13.5.3 </a:t>
            </a:r>
            <a:r>
              <a:rPr lang="en-US" dirty="0"/>
              <a:t>Throwing Exceptions Using the </a:t>
            </a:r>
            <a:r>
              <a:rPr lang="en-US" dirty="0">
                <a:latin typeface="Consolas" panose="020B0609020204030204" pitchFamily="49" charset="0"/>
              </a:rPr>
              <a:t>throw</a:t>
            </a:r>
            <a:r>
              <a:rPr lang="en-US" dirty="0"/>
              <a:t> </a:t>
            </a:r>
            <a:r>
              <a:rPr lang="en-US" dirty="0" smtClean="0"/>
              <a:t>Statement</a:t>
            </a:r>
            <a:endParaRPr lang="en-US" dirty="0" smtClean="0"/>
          </a:p>
        </p:txBody>
      </p:sp>
      <p:sp>
        <p:nvSpPr>
          <p:cNvPr id="5837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©1992-2014 by Pearson Education, Inc. All Rights Reserved.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7936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also can </a:t>
            </a:r>
            <a:r>
              <a:rPr lang="en-US" dirty="0" err="1" smtClean="0"/>
              <a:t>rethrow</a:t>
            </a:r>
            <a:r>
              <a:rPr lang="en-US" dirty="0" smtClean="0"/>
              <a:t> </a:t>
            </a:r>
            <a:r>
              <a:rPr lang="en-US" dirty="0"/>
              <a:t>an exception with a version of the </a:t>
            </a:r>
            <a:r>
              <a:rPr lang="en-US" dirty="0">
                <a:latin typeface="Consolas" panose="020B0609020204030204" pitchFamily="49" charset="0"/>
              </a:rPr>
              <a:t>throw</a:t>
            </a:r>
            <a:r>
              <a:rPr lang="en-US" dirty="0"/>
              <a:t> statement which takes an operand that’s the reference to the exception that was caught.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form of throw statement </a:t>
            </a:r>
            <a:r>
              <a:rPr lang="en-US" i="1" dirty="0"/>
              <a:t>resets the throw point</a:t>
            </a:r>
            <a:r>
              <a:rPr lang="en-US" dirty="0"/>
              <a:t>, so the original throw point’s stack-trace information is </a:t>
            </a:r>
            <a:r>
              <a:rPr lang="en-US" i="1" dirty="0"/>
              <a:t>lost</a:t>
            </a:r>
            <a:r>
              <a:rPr lang="en-US" dirty="0"/>
              <a:t>.  </a:t>
            </a:r>
            <a:endParaRPr lang="en-US" dirty="0" smtClean="0"/>
          </a:p>
          <a:p>
            <a:r>
              <a:rPr lang="en-US" dirty="0" smtClean="0"/>
              <a:t>Later, you’ll see that after an exception is caught, you can create and throw a different type of exception object from the catch block and you can include the original exception as part of the new exception object. </a:t>
            </a:r>
          </a:p>
          <a:p>
            <a:r>
              <a:rPr lang="en-US" dirty="0" smtClean="0"/>
              <a:t>Class library designers often do this to </a:t>
            </a:r>
            <a:r>
              <a:rPr lang="en-US" i="1" dirty="0" smtClean="0"/>
              <a:t>customize</a:t>
            </a:r>
            <a:r>
              <a:rPr lang="en-US" dirty="0" smtClean="0"/>
              <a:t> the exception types thrown from methods in their class libraries or to provide additional debugging information</a:t>
            </a:r>
          </a:p>
          <a:p>
            <a:endParaRPr lang="en-US" dirty="0"/>
          </a:p>
        </p:txBody>
      </p:sp>
      <p:sp>
        <p:nvSpPr>
          <p:cNvPr id="7680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13.5.4 </a:t>
            </a:r>
            <a:r>
              <a:rPr lang="en-US" dirty="0" err="1"/>
              <a:t>Rethrowing</a:t>
            </a:r>
            <a:r>
              <a:rPr lang="en-US" dirty="0"/>
              <a:t> </a:t>
            </a:r>
            <a:r>
              <a:rPr lang="en-US" dirty="0" smtClean="0"/>
              <a:t>Exceptions</a:t>
            </a:r>
            <a:endParaRPr lang="en-US" dirty="0" smtClean="0"/>
          </a:p>
        </p:txBody>
      </p:sp>
      <p:sp>
        <p:nvSpPr>
          <p:cNvPr id="5837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©1992-2014 by Pearson Education, Inc. All Rights Reserved.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7399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3_Exceptions_Page_3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8338"/>
            <a:ext cx="12192000" cy="55213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48762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If a </a:t>
            </a:r>
            <a:r>
              <a:rPr lang="en-US" sz="2400" dirty="0">
                <a:latin typeface="Consolas" panose="020B0609020204030204" pitchFamily="49" charset="0"/>
              </a:rPr>
              <a:t>try</a:t>
            </a:r>
            <a:r>
              <a:rPr lang="en-US" sz="2400" dirty="0"/>
              <a:t> block successfully completes, or if a </a:t>
            </a:r>
            <a:r>
              <a:rPr lang="en-US" sz="2400" dirty="0">
                <a:latin typeface="Consolas" panose="020B0609020204030204" pitchFamily="49" charset="0"/>
              </a:rPr>
              <a:t>catch</a:t>
            </a:r>
            <a:r>
              <a:rPr lang="en-US" sz="2400" dirty="0"/>
              <a:t> block catches and handles an exception, the program continues its execution with the next statement after the </a:t>
            </a:r>
            <a:r>
              <a:rPr lang="en-US" sz="2400" dirty="0">
                <a:latin typeface="Consolas" panose="020B0609020204030204" pitchFamily="49" charset="0"/>
              </a:rPr>
              <a:t>finally</a:t>
            </a:r>
            <a:r>
              <a:rPr lang="en-US" sz="2400" dirty="0"/>
              <a:t> block. </a:t>
            </a:r>
            <a:endParaRPr lang="en-US" sz="2400" dirty="0" smtClean="0"/>
          </a:p>
          <a:p>
            <a:r>
              <a:rPr lang="en-US" sz="2400" dirty="0" smtClean="0"/>
              <a:t>If </a:t>
            </a:r>
            <a:r>
              <a:rPr lang="en-US" sz="2400" dirty="0"/>
              <a:t>an exception is not caught, or if a </a:t>
            </a:r>
            <a:r>
              <a:rPr lang="en-US" sz="2400" dirty="0" smtClean="0">
                <a:latin typeface="Consolas" panose="020B0609020204030204" pitchFamily="49" charset="0"/>
              </a:rPr>
              <a:t>catch </a:t>
            </a:r>
            <a:r>
              <a:rPr lang="en-US" sz="2400" dirty="0" smtClean="0"/>
              <a:t>block </a:t>
            </a:r>
            <a:r>
              <a:rPr lang="en-US" sz="2400" dirty="0" err="1"/>
              <a:t>rethrows</a:t>
            </a:r>
            <a:r>
              <a:rPr lang="en-US" sz="2400" dirty="0"/>
              <a:t> an exception, program control continues in the next enclosing </a:t>
            </a:r>
            <a:r>
              <a:rPr lang="en-US" sz="2400" dirty="0">
                <a:latin typeface="Consolas" panose="020B0609020204030204" pitchFamily="49" charset="0"/>
              </a:rPr>
              <a:t>try</a:t>
            </a:r>
            <a:r>
              <a:rPr lang="en-US" sz="2400" dirty="0"/>
              <a:t> block. </a:t>
            </a:r>
            <a:endParaRPr lang="en-US" sz="2400" dirty="0" smtClean="0"/>
          </a:p>
          <a:p>
            <a:r>
              <a:rPr lang="en-US" sz="2400" dirty="0" smtClean="0"/>
              <a:t>The </a:t>
            </a:r>
            <a:r>
              <a:rPr lang="en-US" sz="2400" dirty="0"/>
              <a:t>enclosing </a:t>
            </a:r>
            <a:r>
              <a:rPr lang="en-US" sz="2400" dirty="0">
                <a:latin typeface="Consolas" panose="020B0609020204030204" pitchFamily="49" charset="0"/>
              </a:rPr>
              <a:t>try</a:t>
            </a:r>
            <a:r>
              <a:rPr lang="en-US" sz="2400" dirty="0"/>
              <a:t> could be in the calling method or in one of its callers. </a:t>
            </a:r>
            <a:endParaRPr lang="en-US" sz="2400" dirty="0" smtClean="0"/>
          </a:p>
          <a:p>
            <a:r>
              <a:rPr lang="en-US" sz="2400" dirty="0" smtClean="0"/>
              <a:t>It </a:t>
            </a:r>
            <a:r>
              <a:rPr lang="en-US" sz="2400" dirty="0"/>
              <a:t>also is possible to nest a </a:t>
            </a:r>
            <a:r>
              <a:rPr lang="en-US" sz="2400" dirty="0">
                <a:latin typeface="Consolas" panose="020B0609020204030204" pitchFamily="49" charset="0"/>
              </a:rPr>
              <a:t>try</a:t>
            </a:r>
            <a:r>
              <a:rPr lang="en-US" sz="2400" dirty="0"/>
              <a:t> statement in a </a:t>
            </a:r>
            <a:r>
              <a:rPr lang="en-US" sz="2400" dirty="0">
                <a:latin typeface="Consolas" panose="020B0609020204030204" pitchFamily="49" charset="0"/>
              </a:rPr>
              <a:t>try</a:t>
            </a:r>
            <a:r>
              <a:rPr lang="en-US" sz="2400" dirty="0"/>
              <a:t> block; in such a case, the outer </a:t>
            </a:r>
            <a:r>
              <a:rPr lang="en-US" sz="2400" dirty="0">
                <a:latin typeface="Consolas" panose="020B0609020204030204" pitchFamily="49" charset="0"/>
              </a:rPr>
              <a:t>try</a:t>
            </a:r>
            <a:r>
              <a:rPr lang="en-US" sz="2400" dirty="0"/>
              <a:t> statement’s </a:t>
            </a:r>
            <a:r>
              <a:rPr lang="en-US" sz="2400" dirty="0">
                <a:latin typeface="Consolas" panose="020B0609020204030204" pitchFamily="49" charset="0"/>
              </a:rPr>
              <a:t>catch</a:t>
            </a:r>
            <a:r>
              <a:rPr lang="en-US" sz="2400" dirty="0"/>
              <a:t> blocks would process any exceptions that were not caught in the inner </a:t>
            </a:r>
            <a:r>
              <a:rPr lang="en-US" sz="2400" dirty="0">
                <a:latin typeface="Consolas" panose="020B0609020204030204" pitchFamily="49" charset="0"/>
              </a:rPr>
              <a:t>try</a:t>
            </a:r>
            <a:r>
              <a:rPr lang="en-US" sz="2400" dirty="0"/>
              <a:t> statement. </a:t>
            </a:r>
            <a:endParaRPr lang="en-US" sz="2400" dirty="0" smtClean="0"/>
          </a:p>
          <a:p>
            <a:r>
              <a:rPr lang="en-US" sz="2400" dirty="0" smtClean="0"/>
              <a:t>If </a:t>
            </a:r>
            <a:r>
              <a:rPr lang="en-US" sz="2400" dirty="0"/>
              <a:t>a </a:t>
            </a:r>
            <a:r>
              <a:rPr lang="en-US" sz="2400" dirty="0">
                <a:latin typeface="Consolas" panose="020B0609020204030204" pitchFamily="49" charset="0"/>
              </a:rPr>
              <a:t>try</a:t>
            </a:r>
            <a:r>
              <a:rPr lang="en-US" sz="2400" dirty="0"/>
              <a:t> block executes and has a corresponding </a:t>
            </a:r>
            <a:r>
              <a:rPr lang="en-US" sz="2400" dirty="0">
                <a:latin typeface="Consolas" panose="020B0609020204030204" pitchFamily="49" charset="0"/>
              </a:rPr>
              <a:t>finally</a:t>
            </a:r>
            <a:r>
              <a:rPr lang="en-US" sz="2400" dirty="0"/>
              <a:t> block, the </a:t>
            </a:r>
            <a:r>
              <a:rPr lang="en-US" sz="2400" dirty="0">
                <a:latin typeface="Consolas" panose="020B0609020204030204" pitchFamily="49" charset="0"/>
              </a:rPr>
              <a:t>finally</a:t>
            </a:r>
            <a:r>
              <a:rPr lang="en-US" sz="2400" dirty="0"/>
              <a:t> block executes even if the </a:t>
            </a:r>
            <a:r>
              <a:rPr lang="en-US" sz="2400" dirty="0">
                <a:latin typeface="Consolas" panose="020B0609020204030204" pitchFamily="49" charset="0"/>
              </a:rPr>
              <a:t>try</a:t>
            </a:r>
            <a:r>
              <a:rPr lang="en-US" sz="2400" dirty="0"/>
              <a:t> block terminates due to a </a:t>
            </a:r>
            <a:r>
              <a:rPr lang="en-US" sz="2400" dirty="0">
                <a:latin typeface="Consolas" panose="020B0609020204030204" pitchFamily="49" charset="0"/>
              </a:rPr>
              <a:t>return</a:t>
            </a:r>
            <a:r>
              <a:rPr lang="en-US" sz="2400" dirty="0"/>
              <a:t> statement. </a:t>
            </a:r>
            <a:endParaRPr lang="en-US" sz="2400" dirty="0" smtClean="0"/>
          </a:p>
          <a:p>
            <a:r>
              <a:rPr lang="en-US" sz="2400" dirty="0" smtClean="0"/>
              <a:t>The return occurs after the execution of the </a:t>
            </a:r>
            <a:r>
              <a:rPr lang="en-US" sz="2400" dirty="0" smtClean="0">
                <a:latin typeface="Consolas" panose="020B0609020204030204" pitchFamily="49" charset="0"/>
              </a:rPr>
              <a:t>finally </a:t>
            </a:r>
            <a:r>
              <a:rPr lang="en-US" sz="2400" dirty="0" smtClean="0"/>
              <a:t>block.</a:t>
            </a:r>
          </a:p>
          <a:p>
            <a:endParaRPr lang="en-US" sz="2400" dirty="0"/>
          </a:p>
        </p:txBody>
      </p:sp>
      <p:sp>
        <p:nvSpPr>
          <p:cNvPr id="7680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13.5.5 </a:t>
            </a:r>
            <a:r>
              <a:rPr lang="en-US" dirty="0"/>
              <a:t>Returning After a </a:t>
            </a:r>
            <a:r>
              <a:rPr lang="en-US" dirty="0">
                <a:latin typeface="Consolas" panose="020B0609020204030204" pitchFamily="49" charset="0"/>
              </a:rPr>
              <a:t>finally</a:t>
            </a:r>
            <a:r>
              <a:rPr lang="en-US" dirty="0"/>
              <a:t> </a:t>
            </a:r>
            <a:r>
              <a:rPr lang="en-US" dirty="0" smtClean="0"/>
              <a:t>Block</a:t>
            </a:r>
            <a:endParaRPr lang="en-US" dirty="0" smtClean="0"/>
          </a:p>
        </p:txBody>
      </p:sp>
      <p:sp>
        <p:nvSpPr>
          <p:cNvPr id="5837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dirty="0" smtClean="0"/>
              <a:t>©1992-2014 by Pearson Education, Inc. All Rights Reserved.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95047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3_Exceptions_Page_3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3963"/>
            <a:ext cx="12192000" cy="44084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63380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3_Exceptions_Page_3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0788"/>
            <a:ext cx="12192000" cy="44148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77793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3_Exceptions_Page_3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4775"/>
            <a:ext cx="12192000" cy="66484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42010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The using statement simplifies writing code in which you obtain a resource.</a:t>
            </a:r>
          </a:p>
          <a:p>
            <a:r>
              <a:rPr lang="en-US" altLang="ja-JP" dirty="0" smtClean="0"/>
              <a:t>The general form of a using statement is:</a:t>
            </a:r>
          </a:p>
          <a:p>
            <a:pPr lvl="1"/>
            <a:r>
              <a:rPr lang="en-US" altLang="ja-JP" dirty="0" smtClean="0">
                <a:latin typeface="Consolas" panose="020B0609020204030204" pitchFamily="49" charset="0"/>
              </a:rPr>
              <a:t>using (</a:t>
            </a:r>
            <a:r>
              <a:rPr lang="en-US" altLang="ja-JP" dirty="0" err="1" smtClean="0">
                <a:latin typeface="Consolas" panose="020B0609020204030204" pitchFamily="49" charset="0"/>
              </a:rPr>
              <a:t>var</a:t>
            </a:r>
            <a:r>
              <a:rPr lang="en-US" altLang="ja-JP" dirty="0" smtClean="0">
                <a:latin typeface="Consolas" panose="020B0609020204030204" pitchFamily="49" charset="0"/>
              </a:rPr>
              <a:t> </a:t>
            </a:r>
            <a:r>
              <a:rPr lang="en-US" altLang="ja-JP" dirty="0" err="1" smtClean="0">
                <a:latin typeface="Consolas" panose="020B0609020204030204" pitchFamily="49" charset="0"/>
              </a:rPr>
              <a:t>exampleObject</a:t>
            </a:r>
            <a:r>
              <a:rPr lang="en-US" altLang="ja-JP" dirty="0" smtClean="0">
                <a:latin typeface="Consolas" panose="020B0609020204030204" pitchFamily="49" charset="0"/>
              </a:rPr>
              <a:t> = new </a:t>
            </a:r>
            <a:r>
              <a:rPr lang="en-US" altLang="ja-JP" dirty="0" err="1" smtClean="0">
                <a:latin typeface="Consolas" panose="020B0609020204030204" pitchFamily="49" charset="0"/>
              </a:rPr>
              <a:t>ExampleClass</a:t>
            </a:r>
            <a:r>
              <a:rPr lang="en-US" altLang="ja-JP" dirty="0" smtClean="0">
                <a:latin typeface="Consolas" panose="020B0609020204030204" pitchFamily="49" charset="0"/>
              </a:rPr>
              <a:t>())</a:t>
            </a:r>
            <a:br>
              <a:rPr lang="en-US" altLang="ja-JP" dirty="0" smtClean="0">
                <a:latin typeface="Consolas" panose="020B0609020204030204" pitchFamily="49" charset="0"/>
              </a:rPr>
            </a:br>
            <a:r>
              <a:rPr lang="en-US" altLang="ja-JP" dirty="0" smtClean="0">
                <a:latin typeface="Consolas" panose="020B0609020204030204" pitchFamily="49" charset="0"/>
              </a:rPr>
              <a:t>{</a:t>
            </a:r>
            <a:br>
              <a:rPr lang="en-US" altLang="ja-JP" dirty="0" smtClean="0">
                <a:latin typeface="Consolas" panose="020B0609020204030204" pitchFamily="49" charset="0"/>
              </a:rPr>
            </a:br>
            <a:r>
              <a:rPr lang="en-US" altLang="ja-JP" dirty="0" smtClean="0">
                <a:latin typeface="Consolas" panose="020B0609020204030204" pitchFamily="49" charset="0"/>
              </a:rPr>
              <a:t>   </a:t>
            </a:r>
            <a:r>
              <a:rPr lang="en-US" altLang="ja-JP" dirty="0" err="1" smtClean="0">
                <a:latin typeface="Consolas" panose="020B0609020204030204" pitchFamily="49" charset="0"/>
              </a:rPr>
              <a:t>exampleObject.SomeMethod</a:t>
            </a:r>
            <a:r>
              <a:rPr lang="en-US" altLang="ja-JP" dirty="0" smtClean="0">
                <a:latin typeface="Consolas" panose="020B0609020204030204" pitchFamily="49" charset="0"/>
              </a:rPr>
              <a:t>();</a:t>
            </a:r>
            <a:br>
              <a:rPr lang="en-US" altLang="ja-JP" dirty="0" smtClean="0">
                <a:latin typeface="Consolas" panose="020B0609020204030204" pitchFamily="49" charset="0"/>
              </a:rPr>
            </a:br>
            <a:r>
              <a:rPr lang="en-US" altLang="ja-JP" dirty="0" smtClean="0">
                <a:latin typeface="Consolas" panose="020B0609020204030204" pitchFamily="49" charset="0"/>
              </a:rPr>
              <a:t>}</a:t>
            </a:r>
            <a:endParaRPr lang="en-US" altLang="en-US" dirty="0">
              <a:latin typeface="Consolas" panose="020B0609020204030204" pitchFamily="49" charset="0"/>
            </a:endParaRPr>
          </a:p>
        </p:txBody>
      </p:sp>
      <p:sp>
        <p:nvSpPr>
          <p:cNvPr id="942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13.6 The </a:t>
            </a:r>
            <a:r>
              <a:rPr lang="en-US" altLang="ja-JP" smtClean="0"/>
              <a:t>using statement</a:t>
            </a:r>
            <a:endParaRPr lang="en-US" dirty="0" smtClean="0"/>
          </a:p>
        </p:txBody>
      </p:sp>
      <p:sp>
        <p:nvSpPr>
          <p:cNvPr id="71684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©1992-2014 by Pearson Education, Inc. All Rights Reserved.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1374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The using statement code is equivalent to</a:t>
            </a:r>
          </a:p>
          <a:p>
            <a:pPr lvl="1"/>
            <a:r>
              <a:rPr lang="en-US" altLang="ja-JP" sz="1800" dirty="0" smtClean="0">
                <a:latin typeface="Consolas" panose="020B0609020204030204" pitchFamily="49" charset="0"/>
              </a:rPr>
              <a:t> {</a:t>
            </a:r>
            <a:br>
              <a:rPr lang="en-US" altLang="ja-JP" sz="1800" dirty="0" smtClean="0">
                <a:latin typeface="Consolas" panose="020B0609020204030204" pitchFamily="49" charset="0"/>
              </a:rPr>
            </a:br>
            <a:r>
              <a:rPr lang="en-US" altLang="ja-JP" sz="1800" dirty="0" smtClean="0">
                <a:latin typeface="Consolas" panose="020B0609020204030204" pitchFamily="49" charset="0"/>
              </a:rPr>
              <a:t>   </a:t>
            </a:r>
            <a:r>
              <a:rPr lang="en-US" altLang="ja-JP" sz="1800" dirty="0" err="1" smtClean="0">
                <a:latin typeface="Consolas" panose="020B0609020204030204" pitchFamily="49" charset="0"/>
              </a:rPr>
              <a:t>var</a:t>
            </a:r>
            <a:r>
              <a:rPr lang="en-US" altLang="ja-JP" sz="1800" dirty="0" smtClean="0">
                <a:latin typeface="Consolas" panose="020B0609020204030204" pitchFamily="49" charset="0"/>
              </a:rPr>
              <a:t> </a:t>
            </a:r>
            <a:r>
              <a:rPr lang="en-US" altLang="ja-JP" sz="1800" dirty="0" err="1" smtClean="0">
                <a:latin typeface="Consolas" panose="020B0609020204030204" pitchFamily="49" charset="0"/>
              </a:rPr>
              <a:t>exampleObject</a:t>
            </a:r>
            <a:r>
              <a:rPr lang="en-US" altLang="ja-JP" sz="1800" dirty="0" smtClean="0">
                <a:latin typeface="Consolas" panose="020B0609020204030204" pitchFamily="49" charset="0"/>
              </a:rPr>
              <a:t> = new </a:t>
            </a:r>
            <a:r>
              <a:rPr lang="en-US" altLang="ja-JP" sz="1800" dirty="0" err="1" smtClean="0">
                <a:latin typeface="Consolas" panose="020B0609020204030204" pitchFamily="49" charset="0"/>
              </a:rPr>
              <a:t>ExampleClass</a:t>
            </a:r>
            <a:r>
              <a:rPr lang="en-US" altLang="ja-JP" sz="1800" dirty="0" smtClean="0">
                <a:latin typeface="Consolas" panose="020B0609020204030204" pitchFamily="49" charset="0"/>
              </a:rPr>
              <a:t>();</a:t>
            </a:r>
            <a:br>
              <a:rPr lang="en-US" altLang="ja-JP" sz="1800" dirty="0" smtClean="0">
                <a:latin typeface="Consolas" panose="020B0609020204030204" pitchFamily="49" charset="0"/>
              </a:rPr>
            </a:br>
            <a:r>
              <a:rPr lang="en-US" altLang="ja-JP" sz="1800" dirty="0" smtClean="0">
                <a:latin typeface="Consolas" panose="020B0609020204030204" pitchFamily="49" charset="0"/>
              </a:rPr>
              <a:t>   try</a:t>
            </a:r>
            <a:br>
              <a:rPr lang="en-US" altLang="ja-JP" sz="1800" dirty="0" smtClean="0">
                <a:latin typeface="Consolas" panose="020B0609020204030204" pitchFamily="49" charset="0"/>
              </a:rPr>
            </a:br>
            <a:r>
              <a:rPr lang="en-US" altLang="ja-JP" sz="1800" dirty="0" smtClean="0">
                <a:latin typeface="Consolas" panose="020B0609020204030204" pitchFamily="49" charset="0"/>
              </a:rPr>
              <a:t>   {</a:t>
            </a:r>
            <a:br>
              <a:rPr lang="en-US" altLang="ja-JP" sz="1800" dirty="0" smtClean="0">
                <a:latin typeface="Consolas" panose="020B0609020204030204" pitchFamily="49" charset="0"/>
              </a:rPr>
            </a:br>
            <a:r>
              <a:rPr lang="en-US" altLang="ja-JP" sz="1800" dirty="0" smtClean="0">
                <a:latin typeface="Consolas" panose="020B0609020204030204" pitchFamily="49" charset="0"/>
              </a:rPr>
              <a:t>      </a:t>
            </a:r>
            <a:r>
              <a:rPr lang="en-US" altLang="ja-JP" sz="1800" dirty="0" err="1" smtClean="0">
                <a:latin typeface="Consolas" panose="020B0609020204030204" pitchFamily="49" charset="0"/>
              </a:rPr>
              <a:t>exampleObject.SomeMethod</a:t>
            </a:r>
            <a:r>
              <a:rPr lang="en-US" altLang="ja-JP" sz="1800" dirty="0" smtClean="0">
                <a:latin typeface="Consolas" panose="020B0609020204030204" pitchFamily="49" charset="0"/>
              </a:rPr>
              <a:t>();</a:t>
            </a:r>
            <a:br>
              <a:rPr lang="en-US" altLang="ja-JP" sz="1800" dirty="0" smtClean="0">
                <a:latin typeface="Consolas" panose="020B0609020204030204" pitchFamily="49" charset="0"/>
              </a:rPr>
            </a:br>
            <a:r>
              <a:rPr lang="en-US" altLang="ja-JP" sz="1800" dirty="0" smtClean="0">
                <a:latin typeface="Consolas" panose="020B0609020204030204" pitchFamily="49" charset="0"/>
              </a:rPr>
              <a:t>   }</a:t>
            </a:r>
            <a:br>
              <a:rPr lang="en-US" altLang="ja-JP" sz="1800" dirty="0" smtClean="0">
                <a:latin typeface="Consolas" panose="020B0609020204030204" pitchFamily="49" charset="0"/>
              </a:rPr>
            </a:br>
            <a:r>
              <a:rPr lang="en-US" altLang="ja-JP" sz="1800" dirty="0" smtClean="0">
                <a:latin typeface="Consolas" panose="020B0609020204030204" pitchFamily="49" charset="0"/>
              </a:rPr>
              <a:t>   finally</a:t>
            </a:r>
            <a:br>
              <a:rPr lang="en-US" altLang="ja-JP" sz="1800" dirty="0" smtClean="0">
                <a:latin typeface="Consolas" panose="020B0609020204030204" pitchFamily="49" charset="0"/>
              </a:rPr>
            </a:br>
            <a:r>
              <a:rPr lang="en-US" altLang="ja-JP" sz="1800" dirty="0" smtClean="0">
                <a:latin typeface="Consolas" panose="020B0609020204030204" pitchFamily="49" charset="0"/>
              </a:rPr>
              <a:t>   {</a:t>
            </a:r>
            <a:br>
              <a:rPr lang="en-US" altLang="ja-JP" sz="1800" dirty="0" smtClean="0">
                <a:latin typeface="Consolas" panose="020B0609020204030204" pitchFamily="49" charset="0"/>
              </a:rPr>
            </a:br>
            <a:r>
              <a:rPr lang="en-US" altLang="ja-JP" sz="1800" dirty="0" smtClean="0">
                <a:latin typeface="Consolas" panose="020B0609020204030204" pitchFamily="49" charset="0"/>
              </a:rPr>
              <a:t>      if (</a:t>
            </a:r>
            <a:r>
              <a:rPr lang="en-US" altLang="ja-JP" sz="1800" dirty="0" err="1" smtClean="0">
                <a:latin typeface="Consolas" panose="020B0609020204030204" pitchFamily="49" charset="0"/>
              </a:rPr>
              <a:t>exampleObject</a:t>
            </a:r>
            <a:r>
              <a:rPr lang="en-US" altLang="ja-JP" sz="1800" dirty="0" smtClean="0">
                <a:latin typeface="Consolas" panose="020B0609020204030204" pitchFamily="49" charset="0"/>
              </a:rPr>
              <a:t> != null)</a:t>
            </a:r>
            <a:br>
              <a:rPr lang="en-US" altLang="ja-JP" sz="1800" dirty="0" smtClean="0">
                <a:latin typeface="Consolas" panose="020B0609020204030204" pitchFamily="49" charset="0"/>
              </a:rPr>
            </a:br>
            <a:r>
              <a:rPr lang="en-US" altLang="ja-JP" sz="1800" dirty="0" smtClean="0">
                <a:latin typeface="Consolas" panose="020B0609020204030204" pitchFamily="49" charset="0"/>
              </a:rPr>
              <a:t>      {</a:t>
            </a:r>
            <a:br>
              <a:rPr lang="en-US" altLang="ja-JP" sz="1800" dirty="0" smtClean="0">
                <a:latin typeface="Consolas" panose="020B0609020204030204" pitchFamily="49" charset="0"/>
              </a:rPr>
            </a:br>
            <a:r>
              <a:rPr lang="en-US" altLang="ja-JP" sz="1800" dirty="0" smtClean="0">
                <a:latin typeface="Consolas" panose="020B0609020204030204" pitchFamily="49" charset="0"/>
              </a:rPr>
              <a:t>         ((</a:t>
            </a:r>
            <a:r>
              <a:rPr lang="en-US" altLang="ja-JP" sz="1800" dirty="0" err="1" smtClean="0">
                <a:latin typeface="Consolas" panose="020B0609020204030204" pitchFamily="49" charset="0"/>
              </a:rPr>
              <a:t>IDisposable</a:t>
            </a:r>
            <a:r>
              <a:rPr lang="en-US" altLang="ja-JP" sz="1800" dirty="0" smtClean="0">
                <a:latin typeface="Consolas" panose="020B0609020204030204" pitchFamily="49" charset="0"/>
              </a:rPr>
              <a:t>) </a:t>
            </a:r>
            <a:r>
              <a:rPr lang="en-US" altLang="ja-JP" sz="1800" dirty="0" err="1" smtClean="0">
                <a:latin typeface="Consolas" panose="020B0609020204030204" pitchFamily="49" charset="0"/>
              </a:rPr>
              <a:t>exampleObject</a:t>
            </a:r>
            <a:r>
              <a:rPr lang="en-US" altLang="ja-JP" sz="1800" dirty="0" smtClean="0">
                <a:latin typeface="Consolas" panose="020B0609020204030204" pitchFamily="49" charset="0"/>
              </a:rPr>
              <a:t>).Dispose();</a:t>
            </a:r>
            <a:br>
              <a:rPr lang="en-US" altLang="ja-JP" sz="1800" dirty="0" smtClean="0">
                <a:latin typeface="Consolas" panose="020B0609020204030204" pitchFamily="49" charset="0"/>
              </a:rPr>
            </a:br>
            <a:r>
              <a:rPr lang="en-US" altLang="ja-JP" sz="1800" dirty="0" smtClean="0">
                <a:latin typeface="Consolas" panose="020B0609020204030204" pitchFamily="49" charset="0"/>
              </a:rPr>
              <a:t>      }</a:t>
            </a:r>
            <a:br>
              <a:rPr lang="en-US" altLang="ja-JP" sz="1800" dirty="0" smtClean="0">
                <a:latin typeface="Consolas" panose="020B0609020204030204" pitchFamily="49" charset="0"/>
              </a:rPr>
            </a:br>
            <a:r>
              <a:rPr lang="en-US" altLang="ja-JP" sz="1800" dirty="0" smtClean="0">
                <a:latin typeface="Consolas" panose="020B0609020204030204" pitchFamily="49" charset="0"/>
              </a:rPr>
              <a:t>   } </a:t>
            </a:r>
            <a:br>
              <a:rPr lang="en-US" altLang="ja-JP" sz="1800" dirty="0" smtClean="0">
                <a:latin typeface="Consolas" panose="020B0609020204030204" pitchFamily="49" charset="0"/>
              </a:rPr>
            </a:br>
            <a:r>
              <a:rPr lang="en-US" altLang="ja-JP" sz="1800" dirty="0" smtClean="0">
                <a:latin typeface="Consolas" panose="020B0609020204030204" pitchFamily="49" charset="0"/>
              </a:rPr>
              <a:t>} </a:t>
            </a:r>
            <a:endParaRPr lang="en-US" altLang="en-US" sz="1800" dirty="0">
              <a:latin typeface="Consolas" panose="020B0609020204030204" pitchFamily="49" charset="0"/>
            </a:endParaRPr>
          </a:p>
        </p:txBody>
      </p:sp>
      <p:sp>
        <p:nvSpPr>
          <p:cNvPr id="952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13.6 The </a:t>
            </a:r>
            <a:r>
              <a:rPr lang="en-US" altLang="ja-JP" smtClean="0"/>
              <a:t>using statement (Cont.)</a:t>
            </a:r>
            <a:endParaRPr lang="en-US" dirty="0" smtClean="0"/>
          </a:p>
        </p:txBody>
      </p:sp>
      <p:sp>
        <p:nvSpPr>
          <p:cNvPr id="72708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©1992-2014 by Pearson Education, Inc. All Rights Reserved.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8603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smtClean="0"/>
              <a:t>Class Exception’s properties are used to formulate error messages indicating a caught exception.</a:t>
            </a:r>
          </a:p>
          <a:p>
            <a:pPr lvl="1"/>
            <a:r>
              <a:rPr lang="en-US" altLang="ja-JP" smtClean="0"/>
              <a:t>Property Message stores the error message associated with an Exception object.</a:t>
            </a:r>
          </a:p>
          <a:p>
            <a:pPr lvl="1"/>
            <a:r>
              <a:rPr lang="en-US" altLang="ja-JP" smtClean="0"/>
              <a:t>Property StackTrace contains a string that represents the method-call stack.</a:t>
            </a:r>
          </a:p>
          <a:p>
            <a:r>
              <a:rPr lang="en-US" smtClean="0"/>
              <a:t>If the debugging information that’s generated by the compiler for the method is accessible to the IDE, the stack trace also includes line numbers; the first line number indicates the throw point, and subsequent line numbers indicate the locations from which the methods in the stack trace were called. </a:t>
            </a:r>
          </a:p>
          <a:p>
            <a:r>
              <a:rPr lang="en-US" smtClean="0"/>
              <a:t>The IDE creates PDB files to maintain the debugging information for your projects.</a:t>
            </a:r>
          </a:p>
          <a:p>
            <a:pPr lvl="1"/>
            <a:endParaRPr lang="en-US" dirty="0" smtClean="0"/>
          </a:p>
        </p:txBody>
      </p:sp>
      <p:sp>
        <p:nvSpPr>
          <p:cNvPr id="962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13.7 </a:t>
            </a:r>
            <a:r>
              <a:rPr lang="en-US" altLang="ja-JP" smtClean="0"/>
              <a:t>Exception Properties </a:t>
            </a:r>
            <a:endParaRPr lang="en-US" dirty="0" smtClean="0"/>
          </a:p>
        </p:txBody>
      </p:sp>
      <p:sp>
        <p:nvSpPr>
          <p:cNvPr id="7373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©1992-2014 by Pearson Education, Inc. All Rights Reserved.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3475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When an exception occurs, a programmer might use a different error message or indicate a new exception type.</a:t>
            </a:r>
          </a:p>
          <a:p>
            <a:r>
              <a:rPr lang="en-US" altLang="ja-JP" dirty="0" smtClean="0"/>
              <a:t>The original exception object is stored in the </a:t>
            </a:r>
            <a:r>
              <a:rPr lang="en-US" altLang="ja-JP" dirty="0" err="1" smtClean="0">
                <a:latin typeface="Consolas" panose="020B0609020204030204" pitchFamily="49" charset="0"/>
              </a:rPr>
              <a:t>InnerException</a:t>
            </a:r>
            <a:r>
              <a:rPr lang="en-US" altLang="ja-JP" dirty="0" smtClean="0"/>
              <a:t> property. </a:t>
            </a:r>
            <a:endParaRPr lang="en-US" dirty="0"/>
          </a:p>
        </p:txBody>
      </p:sp>
      <p:sp>
        <p:nvSpPr>
          <p:cNvPr id="9830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13.7.1 </a:t>
            </a:r>
            <a:r>
              <a:rPr lang="en-US" altLang="ja-JP" dirty="0" smtClean="0"/>
              <a:t>Property </a:t>
            </a:r>
            <a:r>
              <a:rPr lang="en-US" altLang="ja-JP" dirty="0" err="1" smtClean="0">
                <a:latin typeface="Consolas" panose="020B0609020204030204" pitchFamily="49" charset="0"/>
              </a:rPr>
              <a:t>InnerException</a:t>
            </a:r>
            <a:endParaRPr lang="en-US" dirty="0" smtClean="0">
              <a:latin typeface="Consolas" panose="020B0609020204030204" pitchFamily="49" charset="0"/>
            </a:endParaRPr>
          </a:p>
        </p:txBody>
      </p:sp>
      <p:sp>
        <p:nvSpPr>
          <p:cNvPr id="74756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©1992-2014 by Pearson Education, Inc. All Rights Reserved.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8846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Class </a:t>
            </a:r>
            <a:r>
              <a:rPr lang="en-US" altLang="ja-JP" dirty="0" smtClean="0">
                <a:latin typeface="Consolas" panose="020B0609020204030204" pitchFamily="49" charset="0"/>
              </a:rPr>
              <a:t>Exception</a:t>
            </a:r>
            <a:r>
              <a:rPr lang="en-US" altLang="ja-JP" dirty="0" smtClean="0"/>
              <a:t> provides other properties:</a:t>
            </a:r>
          </a:p>
          <a:p>
            <a:pPr lvl="1"/>
            <a:r>
              <a:rPr lang="en-US" altLang="ja-JP" dirty="0" err="1" smtClean="0">
                <a:latin typeface="Consolas" panose="020B0609020204030204" pitchFamily="49" charset="0"/>
              </a:rPr>
              <a:t>HelpLink</a:t>
            </a:r>
            <a:r>
              <a:rPr lang="en-US" altLang="ja-JP" dirty="0" smtClean="0"/>
              <a:t> specifies the location of a help file that describes the problem.</a:t>
            </a:r>
          </a:p>
          <a:p>
            <a:pPr lvl="1"/>
            <a:r>
              <a:rPr lang="en-US" altLang="ja-JP" dirty="0" smtClean="0">
                <a:latin typeface="Consolas" panose="020B0609020204030204" pitchFamily="49" charset="0"/>
              </a:rPr>
              <a:t>Source</a:t>
            </a:r>
            <a:r>
              <a:rPr lang="en-US" altLang="ja-JP" dirty="0" smtClean="0"/>
              <a:t> specifies the name of the app or object that caused the exception.</a:t>
            </a:r>
          </a:p>
          <a:p>
            <a:pPr lvl="1"/>
            <a:r>
              <a:rPr lang="en-US" altLang="ja-JP" dirty="0" err="1" smtClean="0">
                <a:latin typeface="Consolas" panose="020B0609020204030204" pitchFamily="49" charset="0"/>
              </a:rPr>
              <a:t>TargetSite</a:t>
            </a:r>
            <a:r>
              <a:rPr lang="en-US" altLang="ja-JP" dirty="0" smtClean="0"/>
              <a:t> specifies the method where the exception originated. </a:t>
            </a:r>
          </a:p>
          <a:p>
            <a:pPr lvl="1"/>
            <a:endParaRPr lang="en-US" dirty="0" smtClean="0"/>
          </a:p>
        </p:txBody>
      </p:sp>
      <p:sp>
        <p:nvSpPr>
          <p:cNvPr id="9933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13.7.2 </a:t>
            </a:r>
            <a:r>
              <a:rPr lang="en-US" dirty="0"/>
              <a:t>Other </a:t>
            </a:r>
            <a:r>
              <a:rPr lang="en-US" dirty="0">
                <a:latin typeface="Consolas" panose="020B0609020204030204" pitchFamily="49" charset="0"/>
              </a:rPr>
              <a:t>Exception</a:t>
            </a:r>
            <a:r>
              <a:rPr lang="en-US" dirty="0"/>
              <a:t> </a:t>
            </a:r>
            <a:r>
              <a:rPr lang="en-US" dirty="0" smtClean="0"/>
              <a:t>Properties</a:t>
            </a:r>
            <a:endParaRPr lang="en-US" dirty="0" smtClean="0"/>
          </a:p>
        </p:txBody>
      </p:sp>
      <p:sp>
        <p:nvSpPr>
          <p:cNvPr id="75780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©1992-2014 by Pearson Education, Inc. All Rights Reserved.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7270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Fig. 13.5 demonstrates properties of class </a:t>
            </a:r>
            <a:r>
              <a:rPr lang="en-US" dirty="0" smtClean="0">
                <a:latin typeface="Consolas" panose="020B0609020204030204" pitchFamily="49" charset="0"/>
              </a:rPr>
              <a:t>Exception</a:t>
            </a:r>
            <a:r>
              <a:rPr lang="en-US" dirty="0" smtClean="0"/>
              <a:t>. </a:t>
            </a:r>
          </a:p>
          <a:p>
            <a:pPr lvl="1"/>
            <a:endParaRPr lang="en-US" dirty="0" smtClean="0"/>
          </a:p>
        </p:txBody>
      </p:sp>
      <p:sp>
        <p:nvSpPr>
          <p:cNvPr id="9933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13.7.3 </a:t>
            </a:r>
            <a:r>
              <a:rPr lang="en-US" dirty="0"/>
              <a:t>Demonstrating Exception Properties and Stack </a:t>
            </a:r>
            <a:r>
              <a:rPr lang="en-US" dirty="0" smtClean="0"/>
              <a:t>Unwinding</a:t>
            </a:r>
            <a:endParaRPr lang="en-US" dirty="0" smtClean="0"/>
          </a:p>
        </p:txBody>
      </p:sp>
      <p:sp>
        <p:nvSpPr>
          <p:cNvPr id="76804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©1992-2014 by Pearson Education, Inc. All Rights Reserved.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3064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3_Exceptions_Page_3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7450"/>
            <a:ext cx="12192000" cy="44815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5567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3_Exceptions_Page_3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550" y="0"/>
            <a:ext cx="105029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48369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3_Exceptions_Page_3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54063"/>
            <a:ext cx="12192000" cy="53482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51721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3_Exceptions_Page_40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78215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3_Exceptions_Page_4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163" y="0"/>
            <a:ext cx="103536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18629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3_Exceptions_Page_4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0"/>
            <a:ext cx="115220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42377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Exception class’s two-argument constructor receives 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custom error message </a:t>
            </a:r>
            <a:r>
              <a:rPr lang="en-US" dirty="0" smtClean="0"/>
              <a:t>and the</a:t>
            </a:r>
          </a:p>
          <a:p>
            <a:pPr lvl="1"/>
            <a:r>
              <a:rPr lang="en-US" dirty="0" err="1" smtClean="0"/>
              <a:t>InnerException</a:t>
            </a:r>
            <a:r>
              <a:rPr lang="en-US" dirty="0"/>
              <a:t> </a:t>
            </a:r>
            <a:r>
              <a:rPr lang="en-US" dirty="0" smtClean="0"/>
              <a:t>to provide as additional information</a:t>
            </a:r>
          </a:p>
        </p:txBody>
      </p:sp>
      <p:sp>
        <p:nvSpPr>
          <p:cNvPr id="1054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13.7.4 </a:t>
            </a:r>
            <a:r>
              <a:rPr lang="en-US" dirty="0"/>
              <a:t>Throwing an Exception with an </a:t>
            </a:r>
            <a:r>
              <a:rPr lang="en-US" dirty="0" err="1" smtClean="0">
                <a:latin typeface="Consolas" panose="020B0609020204030204" pitchFamily="49" charset="0"/>
              </a:rPr>
              <a:t>InnerException</a:t>
            </a:r>
            <a:r>
              <a:rPr lang="en-US" dirty="0" smtClean="0"/>
              <a:t> </a:t>
            </a:r>
            <a:endParaRPr lang="en-US" dirty="0" smtClean="0"/>
          </a:p>
        </p:txBody>
      </p:sp>
      <p:sp>
        <p:nvSpPr>
          <p:cNvPr id="82948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©1992-2014 by Pearson Education, Inc. All Rights Reserved.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2646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Consolas" panose="020B0609020204030204" pitchFamily="49" charset="0"/>
              </a:rPr>
              <a:t>Exception</a:t>
            </a:r>
            <a:r>
              <a:rPr lang="en-US" sz="2400" dirty="0" smtClean="0"/>
              <a:t> method </a:t>
            </a:r>
            <a:r>
              <a:rPr lang="en-US" sz="2400" dirty="0" err="1" smtClean="0">
                <a:latin typeface="Consolas" panose="020B0609020204030204" pitchFamily="49" charset="0"/>
              </a:rPr>
              <a:t>ToString</a:t>
            </a:r>
            <a:r>
              <a:rPr lang="en-US" sz="2400" dirty="0" smtClean="0"/>
              <a:t> returns a string that </a:t>
            </a:r>
            <a:r>
              <a:rPr lang="en-US" sz="2400" dirty="0"/>
              <a:t>begins with the name of the exception class followed by the </a:t>
            </a:r>
            <a:r>
              <a:rPr lang="en-US" sz="2400" dirty="0">
                <a:latin typeface="Consolas" panose="020B0609020204030204" pitchFamily="49" charset="0"/>
              </a:rPr>
              <a:t>Message</a:t>
            </a:r>
            <a:r>
              <a:rPr lang="en-US" sz="2400" dirty="0"/>
              <a:t> property value. </a:t>
            </a:r>
            <a:endParaRPr lang="en-US" sz="2400" dirty="0" smtClean="0"/>
          </a:p>
          <a:p>
            <a:r>
              <a:rPr lang="en-US" sz="2400" dirty="0" smtClean="0"/>
              <a:t>The next items </a:t>
            </a:r>
            <a:r>
              <a:rPr lang="en-US" sz="2400" dirty="0"/>
              <a:t>present the stack trace of the </a:t>
            </a:r>
            <a:r>
              <a:rPr lang="en-US" sz="2400" dirty="0" err="1">
                <a:latin typeface="Consolas" panose="020B0609020204030204" pitchFamily="49" charset="0"/>
              </a:rPr>
              <a:t>InnerException</a:t>
            </a:r>
            <a:r>
              <a:rPr lang="en-US" sz="2400" dirty="0"/>
              <a:t> object. </a:t>
            </a:r>
            <a:endParaRPr lang="en-US" sz="2400" dirty="0" smtClean="0"/>
          </a:p>
          <a:p>
            <a:r>
              <a:rPr lang="en-US" sz="2400" dirty="0" smtClean="0"/>
              <a:t>The </a:t>
            </a:r>
            <a:r>
              <a:rPr lang="en-US" sz="2400" dirty="0"/>
              <a:t>remainder of the block of output shows the </a:t>
            </a:r>
            <a:r>
              <a:rPr lang="en-US" sz="2400" dirty="0" err="1">
                <a:latin typeface="Consolas" panose="020B0609020204030204" pitchFamily="49" charset="0"/>
              </a:rPr>
              <a:t>StackTrace</a:t>
            </a:r>
            <a:r>
              <a:rPr lang="en-US" sz="2400" dirty="0"/>
              <a:t> for the </a:t>
            </a:r>
            <a:r>
              <a:rPr lang="en-US" sz="2400" dirty="0" smtClean="0"/>
              <a:t>exception. </a:t>
            </a:r>
          </a:p>
          <a:p>
            <a:r>
              <a:rPr lang="en-US" sz="2400" dirty="0" smtClean="0"/>
              <a:t>The </a:t>
            </a:r>
            <a:r>
              <a:rPr lang="en-US" sz="2400" dirty="0" err="1">
                <a:latin typeface="Consolas" panose="020B0609020204030204" pitchFamily="49" charset="0"/>
              </a:rPr>
              <a:t>StackTrace</a:t>
            </a:r>
            <a:r>
              <a:rPr lang="en-US" sz="2400" dirty="0"/>
              <a:t> represents the state of the method-call stack at the throw point of the exception, rather than at the point where the exception eventually is caught. </a:t>
            </a:r>
            <a:endParaRPr lang="en-US" sz="2400" dirty="0" smtClean="0"/>
          </a:p>
          <a:p>
            <a:r>
              <a:rPr lang="en-US" sz="2400" dirty="0" smtClean="0"/>
              <a:t>Each </a:t>
            </a:r>
            <a:r>
              <a:rPr lang="en-US" sz="2400" dirty="0" err="1">
                <a:latin typeface="Consolas" panose="020B0609020204030204" pitchFamily="49" charset="0"/>
              </a:rPr>
              <a:t>StackTrace</a:t>
            </a:r>
            <a:r>
              <a:rPr lang="en-US" sz="2400" dirty="0"/>
              <a:t> line that begins with “at” represents a method on the call stack. </a:t>
            </a:r>
            <a:endParaRPr lang="en-US" sz="2400" dirty="0" smtClean="0"/>
          </a:p>
          <a:p>
            <a:r>
              <a:rPr lang="en-US" sz="2400" dirty="0" smtClean="0"/>
              <a:t>These indicate </a:t>
            </a:r>
            <a:r>
              <a:rPr lang="en-US" sz="2400" dirty="0"/>
              <a:t>the method in which the exception occurred, the file in which the method resides and the line number of the throw point in the file. The inner-exception information includes the </a:t>
            </a:r>
            <a:r>
              <a:rPr lang="en-US" sz="2400" i="1" dirty="0"/>
              <a:t>inner-exception stack trace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sp>
        <p:nvSpPr>
          <p:cNvPr id="1054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13.7.5 </a:t>
            </a:r>
            <a:r>
              <a:rPr lang="en-US" dirty="0"/>
              <a:t>Displaying Information About the </a:t>
            </a:r>
            <a:r>
              <a:rPr lang="en-US" dirty="0" smtClean="0">
                <a:latin typeface="Consolas" panose="020B0609020204030204" pitchFamily="49" charset="0"/>
              </a:rPr>
              <a:t>Exception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82948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©1992-2014 by Pearson Education, Inc. All Rights Reserved.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3413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3_Exceptions_Page_4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5163"/>
            <a:ext cx="12192000" cy="55260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87685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In some cases, you might create exception classes specific to the problems that occur in your programs.</a:t>
            </a:r>
          </a:p>
          <a:p>
            <a:r>
              <a:rPr lang="en-US" altLang="ja-JP" dirty="0" smtClean="0"/>
              <a:t>User-defined exception classes should derive directly or indirectly from class </a:t>
            </a:r>
            <a:r>
              <a:rPr lang="en-US" altLang="ja-JP" dirty="0" smtClean="0">
                <a:latin typeface="Consolas" panose="020B0609020204030204" pitchFamily="49" charset="0"/>
              </a:rPr>
              <a:t>Exception</a:t>
            </a:r>
            <a:r>
              <a:rPr lang="en-US" altLang="ja-JP" dirty="0" smtClean="0"/>
              <a:t>.</a:t>
            </a:r>
          </a:p>
          <a:p>
            <a:r>
              <a:rPr lang="en-US" altLang="ja-JP" dirty="0" smtClean="0"/>
              <a:t>Exceptions should be documented so that other developers will know how to handle them. </a:t>
            </a:r>
            <a:endParaRPr lang="en-US" altLang="en-US" dirty="0"/>
          </a:p>
        </p:txBody>
      </p:sp>
      <p:sp>
        <p:nvSpPr>
          <p:cNvPr id="1075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13.8 </a:t>
            </a:r>
            <a:r>
              <a:rPr lang="en-US" altLang="ja-JP" smtClean="0"/>
              <a:t>User-Defined Exception Classes </a:t>
            </a:r>
            <a:endParaRPr lang="en-US" dirty="0" smtClean="0"/>
          </a:p>
        </p:txBody>
      </p:sp>
      <p:sp>
        <p:nvSpPr>
          <p:cNvPr id="84996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©1992-2014 by Pearson Education, Inc. All Rights Reserved.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755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b="1" i="1" dirty="0" smtClean="0"/>
              <a:t>Class </a:t>
            </a:r>
            <a:r>
              <a:rPr lang="en-US" altLang="ja-JP" b="1" i="1" dirty="0" err="1" smtClean="0"/>
              <a:t>NegativeNumberException</a:t>
            </a:r>
            <a:endParaRPr lang="en-US" altLang="ja-JP" b="1" i="1" dirty="0" smtClean="0"/>
          </a:p>
          <a:p>
            <a:r>
              <a:rPr lang="en-US" altLang="ja-JP" dirty="0" smtClean="0"/>
              <a:t>Figures 13.6–13.7 demonstrate a user-defined exception class. User-defined exceptions should define three constructors:</a:t>
            </a:r>
          </a:p>
          <a:p>
            <a:pPr lvl="1"/>
            <a:r>
              <a:rPr lang="en-US" altLang="ja-JP" dirty="0" smtClean="0"/>
              <a:t>a </a:t>
            </a:r>
            <a:r>
              <a:rPr lang="en-US" altLang="ja-JP" dirty="0" err="1" smtClean="0"/>
              <a:t>parameterless</a:t>
            </a:r>
            <a:r>
              <a:rPr lang="en-US" altLang="ja-JP" dirty="0" smtClean="0"/>
              <a:t> constructor</a:t>
            </a:r>
          </a:p>
          <a:p>
            <a:pPr lvl="1"/>
            <a:r>
              <a:rPr lang="en-US" altLang="ja-JP" dirty="0" smtClean="0"/>
              <a:t>a constructor that receives a </a:t>
            </a:r>
            <a:r>
              <a:rPr lang="en-US" altLang="ja-JP" dirty="0" smtClean="0">
                <a:latin typeface="Consolas" panose="020B0609020204030204" pitchFamily="49" charset="0"/>
              </a:rPr>
              <a:t>string</a:t>
            </a:r>
            <a:r>
              <a:rPr lang="en-US" altLang="ja-JP" dirty="0" smtClean="0"/>
              <a:t> argument (the error message)</a:t>
            </a:r>
          </a:p>
          <a:p>
            <a:pPr lvl="1"/>
            <a:r>
              <a:rPr lang="en-US" altLang="ja-JP" dirty="0" smtClean="0"/>
              <a:t>a constructor that receives a </a:t>
            </a:r>
            <a:r>
              <a:rPr lang="en-US" altLang="ja-JP" dirty="0" smtClean="0">
                <a:latin typeface="Consolas" panose="020B0609020204030204" pitchFamily="49" charset="0"/>
              </a:rPr>
              <a:t>string</a:t>
            </a:r>
            <a:r>
              <a:rPr lang="en-US" altLang="ja-JP" dirty="0" smtClean="0"/>
              <a:t> argument and an </a:t>
            </a:r>
            <a:r>
              <a:rPr lang="en-US" altLang="ja-JP" dirty="0" smtClean="0">
                <a:latin typeface="Consolas" panose="020B0609020204030204" pitchFamily="49" charset="0"/>
              </a:rPr>
              <a:t>Exception</a:t>
            </a:r>
            <a:r>
              <a:rPr lang="en-US" altLang="ja-JP" dirty="0" smtClean="0"/>
              <a:t> argument (the error message and the inner exception object) </a:t>
            </a:r>
            <a:endParaRPr lang="en-US" dirty="0"/>
          </a:p>
        </p:txBody>
      </p:sp>
      <p:sp>
        <p:nvSpPr>
          <p:cNvPr id="1085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13.8 </a:t>
            </a:r>
            <a:r>
              <a:rPr lang="en-US" altLang="ja-JP" smtClean="0"/>
              <a:t>User-Defined Exception Classes (Cont.) </a:t>
            </a:r>
            <a:endParaRPr lang="en-US" dirty="0" smtClean="0"/>
          </a:p>
        </p:txBody>
      </p:sp>
      <p:sp>
        <p:nvSpPr>
          <p:cNvPr id="86020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©1992-2014 by Pearson Education, Inc. All Rights Reserved.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9026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3_Exceptions_Page_4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38350"/>
            <a:ext cx="12192000" cy="27813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75443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3_Exceptions_Page_4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98600"/>
            <a:ext cx="12192000" cy="38608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29122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err="1" smtClean="0">
                <a:latin typeface="Consolas" panose="020B0609020204030204" pitchFamily="49" charset="0"/>
              </a:rPr>
              <a:t>NegativeNumberException</a:t>
            </a:r>
            <a:r>
              <a:rPr lang="en-US" altLang="en-US" dirty="0" smtClean="0"/>
              <a:t> (Fig. 13.6) represents exceptions that occur when a program performs an illegal operation on a negative number, such as attempting to calculate its square root.</a:t>
            </a:r>
          </a:p>
          <a:p>
            <a:r>
              <a:rPr lang="en-US" altLang="en-US" dirty="0" smtClean="0"/>
              <a:t>Class </a:t>
            </a:r>
            <a:r>
              <a:rPr lang="en-US" altLang="en-US" dirty="0" err="1" smtClean="0">
                <a:latin typeface="Consolas" panose="020B0609020204030204" pitchFamily="49" charset="0"/>
              </a:rPr>
              <a:t>SquareRootTest</a:t>
            </a:r>
            <a:r>
              <a:rPr lang="en-US" altLang="en-US" dirty="0" smtClean="0"/>
              <a:t> (Fig. 13.7) demonstrates our user-defined exception class. </a:t>
            </a:r>
          </a:p>
          <a:p>
            <a:endParaRPr lang="en-US" altLang="en-US" dirty="0" smtClean="0"/>
          </a:p>
          <a:p>
            <a:endParaRPr lang="en-US" altLang="en-US" dirty="0" smtClean="0"/>
          </a:p>
        </p:txBody>
      </p:sp>
      <p:sp>
        <p:nvSpPr>
          <p:cNvPr id="1085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13.8 </a:t>
            </a:r>
            <a:r>
              <a:rPr lang="en-US" altLang="ja-JP" smtClean="0"/>
              <a:t>User-Defined Exception Classes (Cont.) </a:t>
            </a:r>
            <a:endParaRPr lang="en-US" dirty="0" smtClean="0"/>
          </a:p>
        </p:txBody>
      </p:sp>
      <p:sp>
        <p:nvSpPr>
          <p:cNvPr id="8909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©1992-2014 by Pearson Education, Inc. All Rights Reserved.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8944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3_Exceptions_Page_4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3688"/>
            <a:ext cx="12192000" cy="62690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3614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3_Exceptions_Page_4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7638"/>
            <a:ext cx="12192000" cy="65611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9771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3_Exceptions_Page_4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54063"/>
            <a:ext cx="12192000" cy="53482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66828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3_Exceptions_Page_4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075" y="0"/>
            <a:ext cx="94662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65328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3_Exceptions_Page_50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275" y="0"/>
            <a:ext cx="105854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44077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3_Exceptions_Page_5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563"/>
            <a:ext cx="12192000" cy="67452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82525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Checking whether a reference is </a:t>
            </a:r>
            <a:r>
              <a:rPr lang="en-US" dirty="0" smtClean="0">
                <a:latin typeface="Consolas" panose="020B0609020204030204" pitchFamily="49" charset="0"/>
              </a:rPr>
              <a:t>null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smtClean="0"/>
              <a:t>before using it to call a method or access a property avoids </a:t>
            </a:r>
            <a:r>
              <a:rPr lang="en-US" dirty="0" err="1" smtClean="0">
                <a:latin typeface="Consolas" panose="020B0609020204030204" pitchFamily="49" charset="0"/>
              </a:rPr>
              <a:t>NullReferenceException</a:t>
            </a:r>
            <a:r>
              <a:rPr lang="en-US" dirty="0" err="1" smtClean="0"/>
              <a:t>s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0854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13.9 Checking for null References; Introducing C# 6’s ?. Operator</a:t>
            </a:r>
            <a:endParaRPr lang="en-US" dirty="0"/>
          </a:p>
        </p:txBody>
      </p:sp>
      <p:sp>
        <p:nvSpPr>
          <p:cNvPr id="8909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©1992-2014 by Pearson Education, Inc. All Rights Reserved.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7818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3_Exceptions_Page_5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43113"/>
            <a:ext cx="12192000" cy="27701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60661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C# 6’s new </a:t>
            </a:r>
            <a:r>
              <a:rPr lang="en-US" b="1" dirty="0"/>
              <a:t>null-conditional operator (?.)</a:t>
            </a:r>
            <a:r>
              <a:rPr lang="en-US" dirty="0"/>
              <a:t> provides </a:t>
            </a:r>
            <a:r>
              <a:rPr lang="en-US" dirty="0" smtClean="0"/>
              <a:t>an elegant </a:t>
            </a:r>
            <a:r>
              <a:rPr lang="en-US" dirty="0"/>
              <a:t>way to check for </a:t>
            </a:r>
            <a:r>
              <a:rPr lang="en-US" dirty="0">
                <a:latin typeface="Consolas" panose="020B0609020204030204" pitchFamily="49" charset="0"/>
              </a:rPr>
              <a:t>null</a:t>
            </a:r>
            <a:r>
              <a:rPr lang="en-US" dirty="0"/>
              <a:t>. </a:t>
            </a:r>
            <a:endParaRPr lang="en-US" dirty="0"/>
          </a:p>
          <a:p>
            <a:r>
              <a:rPr lang="en-US" dirty="0" smtClean="0"/>
              <a:t>The following statement calls </a:t>
            </a:r>
            <a:r>
              <a:rPr lang="en-US" dirty="0" smtClean="0">
                <a:latin typeface="Consolas" panose="020B0609020204030204" pitchFamily="49" charset="0"/>
              </a:rPr>
              <a:t>Dispose</a:t>
            </a:r>
            <a:r>
              <a:rPr lang="en-US" dirty="0" smtClean="0"/>
              <a:t> </a:t>
            </a:r>
            <a:r>
              <a:rPr lang="en-US" i="1" dirty="0"/>
              <a:t>only</a:t>
            </a:r>
            <a:r>
              <a:rPr lang="en-US" dirty="0"/>
              <a:t> if </a:t>
            </a:r>
            <a:r>
              <a:rPr lang="en-US" dirty="0" err="1">
                <a:latin typeface="Consolas" panose="020B0609020204030204" pitchFamily="49" charset="0"/>
              </a:rPr>
              <a:t>exampleObject</a:t>
            </a:r>
            <a:r>
              <a:rPr lang="en-US" dirty="0"/>
              <a:t> is not </a:t>
            </a:r>
            <a:r>
              <a:rPr lang="en-US" dirty="0" smtClean="0"/>
              <a:t>null</a:t>
            </a:r>
          </a:p>
          <a:p>
            <a:pPr lvl="1"/>
            <a:r>
              <a:rPr lang="en-US" dirty="0" err="1" smtClean="0">
                <a:latin typeface="Consolas" panose="020B0609020204030204" pitchFamily="49" charset="0"/>
              </a:rPr>
              <a:t>exampleObject</a:t>
            </a:r>
            <a:r>
              <a:rPr lang="en-US" dirty="0">
                <a:latin typeface="Consolas" panose="020B0609020204030204" pitchFamily="49" charset="0"/>
              </a:rPr>
              <a:t>?.Dispose();	</a:t>
            </a:r>
          </a:p>
          <a:p>
            <a:r>
              <a:rPr lang="en-US" dirty="0" smtClean="0"/>
              <a:t>This eliminates the need to wrap the statement in and </a:t>
            </a:r>
            <a:r>
              <a:rPr lang="en-US" dirty="0" smtClean="0">
                <a:latin typeface="Consolas" panose="020B0609020204030204" pitchFamily="49" charset="0"/>
              </a:rPr>
              <a:t>if</a:t>
            </a:r>
            <a:r>
              <a:rPr lang="en-US" dirty="0" smtClean="0"/>
              <a:t> statement that checks </a:t>
            </a:r>
            <a:r>
              <a:rPr lang="en-US" dirty="0" err="1" smtClean="0">
                <a:latin typeface="Consolas" panose="020B0609020204030204" pitchFamily="49" charset="0"/>
              </a:rPr>
              <a:t>exampleObject</a:t>
            </a:r>
            <a:r>
              <a:rPr lang="en-US" dirty="0" smtClean="0"/>
              <a:t> to see if it’s </a:t>
            </a:r>
            <a:r>
              <a:rPr lang="en-US" dirty="0" smtClean="0">
                <a:latin typeface="Consolas" panose="020B0609020204030204" pitchFamily="49" charset="0"/>
              </a:rPr>
              <a:t>null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0854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13.9.1 </a:t>
            </a:r>
            <a:r>
              <a:rPr lang="en-US" dirty="0"/>
              <a:t>Null-Conditional Operator (?.)</a:t>
            </a:r>
          </a:p>
        </p:txBody>
      </p:sp>
      <p:sp>
        <p:nvSpPr>
          <p:cNvPr id="8909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©1992-2014 by Pearson Education, Inc. All Rights Reserved.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8374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Downcasting</a:t>
            </a:r>
            <a:r>
              <a:rPr lang="en-US" dirty="0" smtClean="0"/>
              <a:t> with operator </a:t>
            </a:r>
            <a:r>
              <a:rPr lang="en-US" dirty="0" smtClean="0">
                <a:latin typeface="Consolas" panose="020B0609020204030204" pitchFamily="49" charset="0"/>
              </a:rPr>
              <a:t>is</a:t>
            </a:r>
            <a:r>
              <a:rPr lang="en-US" dirty="0" smtClean="0"/>
              <a:t> </a:t>
            </a:r>
            <a:r>
              <a:rPr lang="en-US" dirty="0"/>
              <a:t>can cause </a:t>
            </a:r>
            <a:r>
              <a:rPr lang="en-US" dirty="0" err="1">
                <a:latin typeface="Consolas" panose="020B0609020204030204" pitchFamily="49" charset="0"/>
              </a:rPr>
              <a:t>InvalidCastException</a:t>
            </a:r>
            <a:r>
              <a:rPr lang="en-US" dirty="0" err="1"/>
              <a:t>s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You </a:t>
            </a:r>
            <a:r>
              <a:rPr lang="en-US" dirty="0"/>
              <a:t>can avoid the </a:t>
            </a:r>
            <a:r>
              <a:rPr lang="en-US" dirty="0" err="1">
                <a:latin typeface="Consolas" panose="020B0609020204030204" pitchFamily="49" charset="0"/>
              </a:rPr>
              <a:t>InvalidCastException</a:t>
            </a:r>
            <a:r>
              <a:rPr lang="en-US" dirty="0"/>
              <a:t> by using the </a:t>
            </a:r>
            <a:r>
              <a:rPr lang="en-US" dirty="0">
                <a:latin typeface="Consolas" panose="020B0609020204030204" pitchFamily="49" charset="0"/>
              </a:rPr>
              <a:t>as</a:t>
            </a:r>
            <a:r>
              <a:rPr lang="en-US" dirty="0"/>
              <a:t> </a:t>
            </a:r>
            <a:r>
              <a:rPr lang="en-US" dirty="0" smtClean="0"/>
              <a:t>operator:</a:t>
            </a:r>
            <a:endParaRPr lang="en-US" dirty="0"/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var</a:t>
            </a:r>
            <a:r>
              <a:rPr lang="en-US" dirty="0">
                <a:latin typeface="Consolas" panose="020B0609020204030204" pitchFamily="49" charset="0"/>
              </a:rPr>
              <a:t> employee = </a:t>
            </a:r>
            <a:r>
              <a:rPr lang="en-US" dirty="0" err="1">
                <a:latin typeface="Consolas" panose="020B0609020204030204" pitchFamily="49" charset="0"/>
              </a:rPr>
              <a:t>currentEmployee</a:t>
            </a:r>
            <a:r>
              <a:rPr lang="en-US" dirty="0">
                <a:latin typeface="Consolas" panose="020B0609020204030204" pitchFamily="49" charset="0"/>
              </a:rPr>
              <a:t> as </a:t>
            </a:r>
            <a:r>
              <a:rPr lang="en-US" dirty="0" err="1">
                <a:latin typeface="Consolas" panose="020B0609020204030204" pitchFamily="49" charset="0"/>
              </a:rPr>
              <a:t>BasePlusCommissionEmployee</a:t>
            </a:r>
            <a:r>
              <a:rPr lang="en-US" dirty="0" smtClean="0">
                <a:latin typeface="Consolas" panose="020B0609020204030204" pitchFamily="49" charset="0"/>
              </a:rPr>
              <a:t>;</a:t>
            </a:r>
            <a:endParaRPr lang="en-US" dirty="0"/>
          </a:p>
          <a:p>
            <a:pPr lvl="1"/>
            <a:r>
              <a:rPr lang="en-US" sz="2400" dirty="0"/>
              <a:t>If </a:t>
            </a:r>
            <a:r>
              <a:rPr lang="en-US" sz="2400" dirty="0" err="1">
                <a:latin typeface="Consolas" panose="020B0609020204030204" pitchFamily="49" charset="0"/>
              </a:rPr>
              <a:t>currentEmployee</a:t>
            </a:r>
            <a:r>
              <a:rPr lang="en-US" sz="2400" dirty="0"/>
              <a:t> </a:t>
            </a:r>
            <a:r>
              <a:rPr lang="en-US" sz="2400" i="1" dirty="0"/>
              <a:t>is a</a:t>
            </a:r>
            <a:r>
              <a:rPr lang="en-US" sz="2400" dirty="0"/>
              <a:t> </a:t>
            </a:r>
            <a:r>
              <a:rPr lang="en-US" sz="2400" dirty="0" err="1">
                <a:latin typeface="Consolas" panose="020B0609020204030204" pitchFamily="49" charset="0"/>
              </a:rPr>
              <a:t>BasePlusCommissionEmployee</a:t>
            </a:r>
            <a:r>
              <a:rPr lang="en-US" sz="2400" dirty="0"/>
              <a:t>, employee is assigned the </a:t>
            </a:r>
            <a:r>
              <a:rPr lang="en-US" sz="2400" dirty="0" err="1">
                <a:latin typeface="Consolas" panose="020B0609020204030204" pitchFamily="49" charset="0"/>
              </a:rPr>
              <a:t>BasePlusCommissionEmployee</a:t>
            </a:r>
            <a:r>
              <a:rPr lang="en-US" sz="2400" dirty="0"/>
              <a:t>; otherwise, it’s assigned </a:t>
            </a:r>
            <a:r>
              <a:rPr lang="en-US" sz="2400" dirty="0">
                <a:latin typeface="Consolas" panose="020B0609020204030204" pitchFamily="49" charset="0"/>
              </a:rPr>
              <a:t>null</a:t>
            </a:r>
            <a:r>
              <a:rPr lang="en-US" sz="2400" dirty="0"/>
              <a:t>. </a:t>
            </a:r>
            <a:endParaRPr lang="en-US" sz="2400" dirty="0" smtClean="0"/>
          </a:p>
          <a:p>
            <a:pPr lvl="1"/>
            <a:r>
              <a:rPr lang="en-US" sz="2400" dirty="0" smtClean="0">
                <a:latin typeface="Consolas" panose="020B0609020204030204" pitchFamily="49" charset="0"/>
              </a:rPr>
              <a:t>employee</a:t>
            </a:r>
            <a:r>
              <a:rPr lang="en-US" sz="2400" dirty="0" smtClean="0"/>
              <a:t> </a:t>
            </a:r>
            <a:r>
              <a:rPr lang="en-US" sz="2400" dirty="0"/>
              <a:t>could be </a:t>
            </a:r>
            <a:r>
              <a:rPr lang="en-US" sz="2400" dirty="0">
                <a:latin typeface="Consolas" panose="020B0609020204030204" pitchFamily="49" charset="0"/>
              </a:rPr>
              <a:t>null</a:t>
            </a:r>
            <a:r>
              <a:rPr lang="en-US" sz="2400" dirty="0"/>
              <a:t>, </a:t>
            </a:r>
            <a:r>
              <a:rPr lang="en-US" sz="2400" dirty="0" smtClean="0"/>
              <a:t>so you </a:t>
            </a:r>
            <a:r>
              <a:rPr lang="en-US" sz="2400" dirty="0"/>
              <a:t>must </a:t>
            </a:r>
            <a:r>
              <a:rPr lang="en-US" sz="2400" dirty="0" smtClean="0"/>
              <a:t>check before </a:t>
            </a:r>
            <a:r>
              <a:rPr lang="en-US" sz="2400" dirty="0"/>
              <a:t>using it. </a:t>
            </a:r>
            <a:endParaRPr lang="en-US" sz="2400" dirty="0" smtClean="0"/>
          </a:p>
          <a:p>
            <a:pPr lvl="1"/>
            <a:r>
              <a:rPr lang="en-US" sz="2400" dirty="0" smtClean="0"/>
              <a:t>For example, to give the </a:t>
            </a:r>
            <a:r>
              <a:rPr lang="en-US" sz="2400" dirty="0" err="1" smtClean="0">
                <a:latin typeface="Consolas" panose="020B0609020204030204" pitchFamily="49" charset="0"/>
              </a:rPr>
              <a:t>BasePlusCommissionEmployee</a:t>
            </a:r>
            <a:r>
              <a:rPr lang="en-US" sz="2400" dirty="0" smtClean="0"/>
              <a:t> a 10% raise, we could use the following statement, </a:t>
            </a:r>
            <a:r>
              <a:rPr lang="en-US" sz="2400" dirty="0"/>
              <a:t>which accesses and modifies the </a:t>
            </a:r>
            <a:r>
              <a:rPr lang="en-US" sz="2400" dirty="0" err="1">
                <a:latin typeface="Consolas" panose="020B0609020204030204" pitchFamily="49" charset="0"/>
              </a:rPr>
              <a:t>BaseSalary</a:t>
            </a:r>
            <a:r>
              <a:rPr lang="en-US" sz="2400" dirty="0"/>
              <a:t> property </a:t>
            </a:r>
            <a:r>
              <a:rPr lang="en-US" sz="2400" i="1" dirty="0"/>
              <a:t>only</a:t>
            </a:r>
            <a:r>
              <a:rPr lang="en-US" sz="2400" dirty="0"/>
              <a:t> if employee is not </a:t>
            </a:r>
            <a:r>
              <a:rPr lang="en-US" sz="2400" dirty="0">
                <a:latin typeface="Consolas" panose="020B0609020204030204" pitchFamily="49" charset="0"/>
              </a:rPr>
              <a:t>null</a:t>
            </a:r>
            <a:endParaRPr lang="en-US" sz="2400" dirty="0" smtClean="0">
              <a:latin typeface="Consolas" panose="020B0609020204030204" pitchFamily="49" charset="0"/>
            </a:endParaRPr>
          </a:p>
          <a:p>
            <a:pPr lvl="2"/>
            <a:r>
              <a:rPr lang="en-US" sz="2400" dirty="0" smtClean="0">
                <a:latin typeface="Consolas" panose="020B0609020204030204" pitchFamily="49" charset="0"/>
              </a:rPr>
              <a:t>employee?.</a:t>
            </a:r>
            <a:r>
              <a:rPr lang="en-US" sz="2400" dirty="0" err="1" smtClean="0">
                <a:latin typeface="Consolas" panose="020B0609020204030204" pitchFamily="49" charset="0"/>
              </a:rPr>
              <a:t>BaseSalary</a:t>
            </a:r>
            <a:r>
              <a:rPr lang="en-US" sz="2400" dirty="0" smtClean="0">
                <a:latin typeface="Consolas" panose="020B0609020204030204" pitchFamily="49" charset="0"/>
              </a:rPr>
              <a:t> *= 1.10M;	</a:t>
            </a:r>
          </a:p>
        </p:txBody>
      </p:sp>
      <p:sp>
        <p:nvSpPr>
          <p:cNvPr id="10854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13.9.2 </a:t>
            </a:r>
            <a:r>
              <a:rPr lang="en-US" dirty="0"/>
              <a:t>Revisiting </a:t>
            </a:r>
            <a:r>
              <a:rPr lang="en-US" dirty="0" smtClean="0"/>
              <a:t>Operators </a:t>
            </a:r>
            <a:r>
              <a:rPr lang="en-US" dirty="0">
                <a:latin typeface="Consolas" panose="020B0609020204030204" pitchFamily="49" charset="0"/>
              </a:rPr>
              <a:t>is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</a:rPr>
              <a:t>as </a:t>
            </a:r>
          </a:p>
        </p:txBody>
      </p:sp>
      <p:sp>
        <p:nvSpPr>
          <p:cNvPr id="8909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©1992-2014 by Pearson Education, Inc. All Rights Reserved.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1108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Suppose you’d like to capture the value of </a:t>
            </a:r>
            <a:r>
              <a:rPr lang="en-US" sz="2400" dirty="0" smtClean="0">
                <a:latin typeface="Consolas" panose="020B0609020204030204" pitchFamily="49" charset="0"/>
              </a:rPr>
              <a:t>employee</a:t>
            </a:r>
            <a:r>
              <a:rPr lang="en-US" sz="2400" dirty="0">
                <a:latin typeface="Consolas" panose="020B0609020204030204" pitchFamily="49" charset="0"/>
              </a:rPr>
              <a:t>?.</a:t>
            </a:r>
            <a:r>
              <a:rPr lang="en-US" sz="2400" dirty="0" err="1" smtClean="0">
                <a:latin typeface="Consolas" panose="020B0609020204030204" pitchFamily="49" charset="0"/>
              </a:rPr>
              <a:t>BaseSalary</a:t>
            </a:r>
            <a:endParaRPr lang="en-US" sz="2400" dirty="0" smtClean="0">
              <a:latin typeface="Consolas" panose="020B0609020204030204" pitchFamily="49" charset="0"/>
            </a:endParaRPr>
          </a:p>
          <a:p>
            <a:pPr lvl="1"/>
            <a:r>
              <a:rPr lang="en-US" sz="2000" dirty="0" smtClean="0">
                <a:latin typeface="Consolas" panose="020B0609020204030204" pitchFamily="49" charset="0"/>
              </a:rPr>
              <a:t>decimal </a:t>
            </a:r>
            <a:r>
              <a:rPr lang="en-US" sz="2000" dirty="0">
                <a:latin typeface="Consolas" panose="020B0609020204030204" pitchFamily="49" charset="0"/>
              </a:rPr>
              <a:t>salary = employee?.</a:t>
            </a:r>
            <a:r>
              <a:rPr lang="en-US" sz="2000" dirty="0" err="1">
                <a:latin typeface="Consolas" panose="020B0609020204030204" pitchFamily="49" charset="0"/>
              </a:rPr>
              <a:t>BaseSalary</a:t>
            </a:r>
            <a:r>
              <a:rPr lang="en-US" sz="2000" dirty="0">
                <a:latin typeface="Consolas" panose="020B0609020204030204" pitchFamily="49" charset="0"/>
              </a:rPr>
              <a:t>;	</a:t>
            </a:r>
            <a:endParaRPr lang="en-US" sz="2400" dirty="0"/>
          </a:p>
          <a:p>
            <a:r>
              <a:rPr lang="en-US" sz="2400" dirty="0"/>
              <a:t>This statement actually results in a compilation error indicating that you cannot implicitly convert type </a:t>
            </a:r>
            <a:r>
              <a:rPr lang="en-US" sz="2400" dirty="0" smtClean="0">
                <a:latin typeface="Consolas" panose="020B0609020204030204" pitchFamily="49" charset="0"/>
              </a:rPr>
              <a:t>decimal?</a:t>
            </a:r>
            <a:r>
              <a:rPr lang="en-US" sz="2400" dirty="0" smtClean="0"/>
              <a:t> to </a:t>
            </a:r>
            <a:r>
              <a:rPr lang="en-US" sz="2400" dirty="0"/>
              <a:t>type </a:t>
            </a:r>
            <a:r>
              <a:rPr lang="en-US" sz="2400" dirty="0">
                <a:latin typeface="Consolas" panose="020B0609020204030204" pitchFamily="49" charset="0"/>
              </a:rPr>
              <a:t>decimal</a:t>
            </a:r>
            <a:r>
              <a:rPr lang="en-US" sz="2400" dirty="0"/>
              <a:t>. </a:t>
            </a:r>
          </a:p>
          <a:p>
            <a:r>
              <a:rPr lang="en-US" sz="2400" dirty="0"/>
              <a:t>Normally a value-type variable cannot be assigned </a:t>
            </a:r>
            <a:r>
              <a:rPr lang="en-US" sz="2400" dirty="0">
                <a:latin typeface="Consolas" panose="020B0609020204030204" pitchFamily="49" charset="0"/>
              </a:rPr>
              <a:t>null</a:t>
            </a:r>
            <a:r>
              <a:rPr lang="en-US" sz="2400" dirty="0"/>
              <a:t>. </a:t>
            </a:r>
            <a:endParaRPr lang="en-US" sz="2400" dirty="0" smtClean="0"/>
          </a:p>
          <a:p>
            <a:r>
              <a:rPr lang="en-US" sz="2400" dirty="0" smtClean="0"/>
              <a:t>Because </a:t>
            </a:r>
            <a:r>
              <a:rPr lang="en-US" sz="2400" dirty="0"/>
              <a:t>the </a:t>
            </a:r>
            <a:r>
              <a:rPr lang="en-US" sz="2400" dirty="0">
                <a:latin typeface="Consolas" panose="020B0609020204030204" pitchFamily="49" charset="0"/>
              </a:rPr>
              <a:t>employee</a:t>
            </a:r>
            <a:r>
              <a:rPr lang="en-US" sz="2400" dirty="0"/>
              <a:t> reference might be </a:t>
            </a:r>
            <a:r>
              <a:rPr lang="en-US" sz="2400" dirty="0">
                <a:latin typeface="Consolas" panose="020B0609020204030204" pitchFamily="49" charset="0"/>
              </a:rPr>
              <a:t>null</a:t>
            </a:r>
            <a:r>
              <a:rPr lang="en-US" sz="2400" dirty="0"/>
              <a:t>, the </a:t>
            </a:r>
            <a:r>
              <a:rPr lang="en-US" sz="2400" dirty="0" smtClean="0"/>
              <a:t>expression </a:t>
            </a:r>
            <a:r>
              <a:rPr lang="en-US" sz="2400" dirty="0"/>
              <a:t>returns a </a:t>
            </a:r>
            <a:r>
              <a:rPr lang="en-US" sz="2400" b="1" dirty="0" err="1"/>
              <a:t>nullable</a:t>
            </a:r>
            <a:r>
              <a:rPr lang="en-US" sz="2400" b="1" dirty="0"/>
              <a:t> type</a:t>
            </a:r>
            <a:r>
              <a:rPr lang="en-US" sz="2400" dirty="0"/>
              <a:t>—a value type that also can be </a:t>
            </a:r>
            <a:r>
              <a:rPr lang="en-US" sz="2400" dirty="0">
                <a:latin typeface="Consolas" panose="020B0609020204030204" pitchFamily="49" charset="0"/>
              </a:rPr>
              <a:t>null</a:t>
            </a:r>
            <a:r>
              <a:rPr lang="en-US" sz="2400" dirty="0"/>
              <a:t>. </a:t>
            </a:r>
            <a:endParaRPr lang="en-US" sz="2400" dirty="0"/>
          </a:p>
          <a:p>
            <a:r>
              <a:rPr lang="en-US" sz="2400" dirty="0"/>
              <a:t>You specify a </a:t>
            </a:r>
            <a:r>
              <a:rPr lang="en-US" sz="2400" dirty="0" err="1"/>
              <a:t>nullable</a:t>
            </a:r>
            <a:r>
              <a:rPr lang="en-US" sz="2400" dirty="0"/>
              <a:t> type by following a value type’s name with a question mark (</a:t>
            </a:r>
            <a:r>
              <a:rPr lang="en-US" sz="2400" dirty="0">
                <a:latin typeface="Consolas" panose="020B0609020204030204" pitchFamily="49" charset="0"/>
              </a:rPr>
              <a:t>?</a:t>
            </a:r>
            <a:r>
              <a:rPr lang="en-US" sz="2400" dirty="0"/>
              <a:t>)—so </a:t>
            </a:r>
            <a:r>
              <a:rPr lang="en-US" sz="2400" dirty="0">
                <a:latin typeface="Consolas" panose="020B0609020204030204" pitchFamily="49" charset="0"/>
              </a:rPr>
              <a:t>decimal?</a:t>
            </a:r>
            <a:r>
              <a:rPr lang="en-US" sz="2400" dirty="0"/>
              <a:t> represents a </a:t>
            </a:r>
            <a:r>
              <a:rPr lang="en-US" sz="2400" dirty="0" err="1"/>
              <a:t>nullable</a:t>
            </a:r>
            <a:r>
              <a:rPr lang="en-US" sz="2400" dirty="0"/>
              <a:t> </a:t>
            </a:r>
            <a:r>
              <a:rPr lang="en-US" sz="2400" dirty="0">
                <a:latin typeface="Consolas" panose="020B0609020204030204" pitchFamily="49" charset="0"/>
              </a:rPr>
              <a:t>decimal</a:t>
            </a:r>
            <a:r>
              <a:rPr lang="en-US" sz="2400" dirty="0"/>
              <a:t>. </a:t>
            </a:r>
            <a:endParaRPr lang="en-US" sz="2400" dirty="0" smtClean="0"/>
          </a:p>
          <a:p>
            <a:pPr lvl="1"/>
            <a:r>
              <a:rPr lang="en-US" sz="2000" dirty="0" smtClean="0">
                <a:latin typeface="Consolas" panose="020B0609020204030204" pitchFamily="49" charset="0"/>
              </a:rPr>
              <a:t>decimal</a:t>
            </a:r>
            <a:r>
              <a:rPr lang="en-US" sz="2000" dirty="0">
                <a:latin typeface="Consolas" panose="020B0609020204030204" pitchFamily="49" charset="0"/>
              </a:rPr>
              <a:t>? salary = employee?.</a:t>
            </a:r>
            <a:r>
              <a:rPr lang="en-US" sz="2000" dirty="0" err="1">
                <a:latin typeface="Consolas" panose="020B0609020204030204" pitchFamily="49" charset="0"/>
              </a:rPr>
              <a:t>BaseSalary</a:t>
            </a:r>
            <a:r>
              <a:rPr lang="en-US" sz="2000" dirty="0">
                <a:latin typeface="Consolas" panose="020B0609020204030204" pitchFamily="49" charset="0"/>
              </a:rPr>
              <a:t>;	</a:t>
            </a:r>
            <a:endParaRPr lang="en-US" sz="2400" dirty="0">
              <a:latin typeface="Consolas" panose="020B0609020204030204" pitchFamily="49" charset="0"/>
            </a:endParaRPr>
          </a:p>
          <a:p>
            <a:pPr lvl="1"/>
            <a:r>
              <a:rPr lang="en-US" sz="2400" dirty="0" smtClean="0"/>
              <a:t>indicates </a:t>
            </a:r>
            <a:r>
              <a:rPr lang="en-US" sz="2400" dirty="0"/>
              <a:t>that </a:t>
            </a:r>
            <a:r>
              <a:rPr lang="en-US" sz="2400" dirty="0">
                <a:latin typeface="Consolas" panose="020B0609020204030204" pitchFamily="49" charset="0"/>
              </a:rPr>
              <a:t>salary</a:t>
            </a:r>
            <a:r>
              <a:rPr lang="en-US" sz="2400" dirty="0"/>
              <a:t> either will be </a:t>
            </a:r>
            <a:r>
              <a:rPr lang="en-US" sz="2400" dirty="0">
                <a:latin typeface="Consolas" panose="020B0609020204030204" pitchFamily="49" charset="0"/>
              </a:rPr>
              <a:t>null</a:t>
            </a:r>
            <a:r>
              <a:rPr lang="en-US" sz="2400" dirty="0"/>
              <a:t> or the </a:t>
            </a:r>
            <a:r>
              <a:rPr lang="en-US" sz="2400" dirty="0">
                <a:latin typeface="Consolas" panose="020B0609020204030204" pitchFamily="49" charset="0"/>
              </a:rPr>
              <a:t>employee</a:t>
            </a:r>
            <a:r>
              <a:rPr lang="en-US" sz="2400" dirty="0"/>
              <a:t>’s </a:t>
            </a:r>
            <a:r>
              <a:rPr lang="en-US" sz="2400" dirty="0" err="1">
                <a:latin typeface="Consolas" panose="020B0609020204030204" pitchFamily="49" charset="0"/>
              </a:rPr>
              <a:t>BaseSalary</a:t>
            </a:r>
            <a:r>
              <a:rPr lang="en-US" sz="2400" dirty="0"/>
              <a:t>. </a:t>
            </a:r>
          </a:p>
          <a:p>
            <a:endParaRPr lang="en-US" sz="2400" dirty="0" smtClean="0">
              <a:latin typeface="Consolas" panose="020B0609020204030204" pitchFamily="49" charset="0"/>
            </a:endParaRPr>
          </a:p>
        </p:txBody>
      </p:sp>
      <p:sp>
        <p:nvSpPr>
          <p:cNvPr id="10854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13.9.3 </a:t>
            </a:r>
            <a:r>
              <a:rPr lang="en-US" dirty="0" err="1" smtClean="0"/>
              <a:t>Nullable</a:t>
            </a:r>
            <a:r>
              <a:rPr lang="en-US" dirty="0" smtClean="0"/>
              <a:t> Types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8909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©1992-2014 by Pearson Education, Inc. All Rights Reserved.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6048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Nullable</a:t>
            </a:r>
            <a:r>
              <a:rPr lang="en-US" dirty="0" smtClean="0"/>
              <a:t> types have the following capabilities:</a:t>
            </a:r>
          </a:p>
          <a:p>
            <a:pPr lvl="2"/>
            <a:r>
              <a:rPr lang="en-US" dirty="0" smtClean="0"/>
              <a:t>The </a:t>
            </a:r>
            <a:r>
              <a:rPr lang="en-US" dirty="0" err="1" smtClean="0">
                <a:latin typeface="Consolas" panose="020B0609020204030204" pitchFamily="49" charset="0"/>
              </a:rPr>
              <a:t>GetValueOrDefault</a:t>
            </a:r>
            <a:r>
              <a:rPr lang="en-US" dirty="0" smtClean="0"/>
              <a:t> method checks whether a </a:t>
            </a:r>
            <a:r>
              <a:rPr lang="en-US" dirty="0" err="1" smtClean="0"/>
              <a:t>nullable</a:t>
            </a:r>
            <a:r>
              <a:rPr lang="en-US" dirty="0" smtClean="0"/>
              <a:t>-type variable contains a value. If so, the method returns that value; otherwise, it returns the value type’s default value. </a:t>
            </a:r>
          </a:p>
          <a:p>
            <a:pPr lvl="2"/>
            <a:r>
              <a:rPr lang="en-US" dirty="0" smtClean="0"/>
              <a:t>An overload of this method receives one argument that enables you to specify a custom default value.</a:t>
            </a:r>
          </a:p>
          <a:p>
            <a:pPr lvl="2"/>
            <a:r>
              <a:rPr lang="en-US" dirty="0" smtClean="0"/>
              <a:t>The </a:t>
            </a:r>
            <a:r>
              <a:rPr lang="en-US" dirty="0" err="1" smtClean="0">
                <a:latin typeface="Consolas" panose="020B0609020204030204" pitchFamily="49" charset="0"/>
              </a:rPr>
              <a:t>HasValue</a:t>
            </a:r>
            <a:r>
              <a:rPr lang="en-US" dirty="0" smtClean="0"/>
              <a:t> property returns </a:t>
            </a:r>
            <a:r>
              <a:rPr lang="en-US" dirty="0" smtClean="0">
                <a:latin typeface="Consolas" panose="020B0609020204030204" pitchFamily="49" charset="0"/>
              </a:rPr>
              <a:t>true</a:t>
            </a:r>
            <a:r>
              <a:rPr lang="en-US" dirty="0" smtClean="0"/>
              <a:t> if a </a:t>
            </a:r>
            <a:r>
              <a:rPr lang="en-US" dirty="0" err="1" smtClean="0"/>
              <a:t>nullable</a:t>
            </a:r>
            <a:r>
              <a:rPr lang="en-US" dirty="0" smtClean="0"/>
              <a:t>-type variable contains a value; otherwise, it returns </a:t>
            </a:r>
            <a:r>
              <a:rPr lang="en-US" dirty="0" smtClean="0">
                <a:latin typeface="Consolas" panose="020B0609020204030204" pitchFamily="49" charset="0"/>
              </a:rPr>
              <a:t>false</a:t>
            </a:r>
            <a:r>
              <a:rPr lang="en-US" dirty="0" smtClean="0"/>
              <a:t>.</a:t>
            </a:r>
          </a:p>
          <a:p>
            <a:pPr lvl="2"/>
            <a:r>
              <a:rPr lang="en-US" dirty="0" smtClean="0"/>
              <a:t>The </a:t>
            </a:r>
            <a:r>
              <a:rPr lang="en-US" dirty="0" smtClean="0">
                <a:latin typeface="Consolas" panose="020B0609020204030204" pitchFamily="49" charset="0"/>
              </a:rPr>
              <a:t>Value</a:t>
            </a:r>
            <a:r>
              <a:rPr lang="en-US" dirty="0" smtClean="0"/>
              <a:t> property returns the </a:t>
            </a:r>
            <a:r>
              <a:rPr lang="en-US" dirty="0" err="1" smtClean="0"/>
              <a:t>nullable</a:t>
            </a:r>
            <a:r>
              <a:rPr lang="en-US" dirty="0" smtClean="0"/>
              <a:t>-type variable’s underlying value or throws an </a:t>
            </a:r>
            <a:r>
              <a:rPr lang="en-US" dirty="0" err="1" smtClean="0">
                <a:latin typeface="Consolas" panose="020B0609020204030204" pitchFamily="49" charset="0"/>
              </a:rPr>
              <a:t>InvalidOperationException</a:t>
            </a:r>
            <a:r>
              <a:rPr lang="en-US" dirty="0" smtClean="0"/>
              <a:t> if the underlying value is </a:t>
            </a:r>
            <a:r>
              <a:rPr lang="en-US" dirty="0" smtClean="0">
                <a:latin typeface="Consolas" panose="020B0609020204030204" pitchFamily="49" charset="0"/>
              </a:rPr>
              <a:t>null</a:t>
            </a:r>
            <a:r>
              <a:rPr lang="en-US" dirty="0" smtClean="0"/>
              <a:t>.</a:t>
            </a:r>
          </a:p>
          <a:p>
            <a:r>
              <a:rPr lang="en-US" dirty="0" smtClean="0"/>
              <a:t>Variables of </a:t>
            </a:r>
            <a:r>
              <a:rPr lang="en-US" dirty="0" err="1" smtClean="0"/>
              <a:t>nullable</a:t>
            </a:r>
            <a:r>
              <a:rPr lang="en-US" dirty="0" smtClean="0"/>
              <a:t> types also may be used as the left operand of the null-conditional operator (</a:t>
            </a:r>
            <a:r>
              <a:rPr lang="en-US" dirty="0" smtClean="0">
                <a:latin typeface="Consolas" panose="020B0609020204030204" pitchFamily="49" charset="0"/>
              </a:rPr>
              <a:t>?.</a:t>
            </a:r>
            <a:r>
              <a:rPr lang="en-US" dirty="0" smtClean="0"/>
              <a:t>) or the null coalescing operator (</a:t>
            </a:r>
            <a:r>
              <a:rPr lang="en-US" dirty="0" smtClean="0">
                <a:latin typeface="Consolas" panose="020B0609020204030204" pitchFamily="49" charset="0"/>
              </a:rPr>
              <a:t>??</a:t>
            </a:r>
            <a:r>
              <a:rPr lang="en-US" dirty="0" smtClean="0"/>
              <a:t>).</a:t>
            </a:r>
          </a:p>
          <a:p>
            <a:endParaRPr lang="en-US" dirty="0" smtClean="0"/>
          </a:p>
        </p:txBody>
      </p:sp>
      <p:sp>
        <p:nvSpPr>
          <p:cNvPr id="1085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13.9.3 Nullable Types</a:t>
            </a:r>
            <a:endParaRPr lang="en-US" dirty="0"/>
          </a:p>
        </p:txBody>
      </p:sp>
      <p:sp>
        <p:nvSpPr>
          <p:cNvPr id="8909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©1992-2014 by Pearson Education, Inc. All Rights Reserved.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0193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3_Exceptions_Page_5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47775"/>
            <a:ext cx="12192000" cy="43624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324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C# also offers the </a:t>
            </a:r>
            <a:r>
              <a:rPr lang="en-US" b="1" dirty="0"/>
              <a:t>null coalescing operator (</a:t>
            </a:r>
            <a:r>
              <a:rPr lang="en-US" b="1" dirty="0">
                <a:latin typeface="Consolas" panose="020B0609020204030204" pitchFamily="49" charset="0"/>
              </a:rPr>
              <a:t>??</a:t>
            </a:r>
            <a:r>
              <a:rPr lang="en-US" b="1" dirty="0"/>
              <a:t>)</a:t>
            </a:r>
            <a:r>
              <a:rPr lang="en-US" dirty="0"/>
              <a:t> for working with values that can be </a:t>
            </a:r>
            <a:r>
              <a:rPr lang="en-US" dirty="0">
                <a:latin typeface="Consolas" panose="020B0609020204030204" pitchFamily="49" charset="0"/>
              </a:rPr>
              <a:t>null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operator has two operands. If the left operand is not </a:t>
            </a:r>
            <a:r>
              <a:rPr lang="en-US" dirty="0">
                <a:latin typeface="Consolas" panose="020B0609020204030204" pitchFamily="49" charset="0"/>
              </a:rPr>
              <a:t>null</a:t>
            </a:r>
            <a:r>
              <a:rPr lang="en-US" dirty="0"/>
              <a:t>, the entire </a:t>
            </a:r>
            <a:r>
              <a:rPr lang="en-US" dirty="0">
                <a:latin typeface="Consolas" panose="020B0609020204030204" pitchFamily="49" charset="0"/>
              </a:rPr>
              <a:t>??</a:t>
            </a:r>
            <a:r>
              <a:rPr lang="en-US" dirty="0"/>
              <a:t> expression evaluates to the left operand’s value; otherwise, it evaluates to the right operand’s value. </a:t>
            </a:r>
          </a:p>
          <a:p>
            <a:r>
              <a:rPr lang="en-US" dirty="0">
                <a:latin typeface="Consolas" panose="020B0609020204030204" pitchFamily="49" charset="0"/>
              </a:rPr>
              <a:t>decimal salary = employee?.</a:t>
            </a:r>
            <a:r>
              <a:rPr lang="en-US" dirty="0" err="1">
                <a:latin typeface="Consolas" panose="020B0609020204030204" pitchFamily="49" charset="0"/>
              </a:rPr>
              <a:t>BaseSalary</a:t>
            </a:r>
            <a:r>
              <a:rPr lang="en-US" dirty="0">
                <a:latin typeface="Consolas" panose="020B0609020204030204" pitchFamily="49" charset="0"/>
              </a:rPr>
              <a:t> ?? 0M;	</a:t>
            </a:r>
            <a:endParaRPr lang="en-US" dirty="0"/>
          </a:p>
          <a:p>
            <a:pPr lvl="1"/>
            <a:r>
              <a:rPr lang="en-US" dirty="0"/>
              <a:t>if </a:t>
            </a:r>
            <a:r>
              <a:rPr lang="en-US" dirty="0">
                <a:latin typeface="Consolas" panose="020B0609020204030204" pitchFamily="49" charset="0"/>
              </a:rPr>
              <a:t>employee</a:t>
            </a:r>
            <a:r>
              <a:rPr lang="en-US" dirty="0"/>
              <a:t> is not </a:t>
            </a:r>
            <a:r>
              <a:rPr lang="en-US" dirty="0">
                <a:latin typeface="Consolas" panose="020B0609020204030204" pitchFamily="49" charset="0"/>
              </a:rPr>
              <a:t>null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salary</a:t>
            </a:r>
            <a:r>
              <a:rPr lang="en-US" dirty="0"/>
              <a:t> is assigned the </a:t>
            </a:r>
            <a:r>
              <a:rPr lang="en-US" dirty="0">
                <a:latin typeface="Consolas" panose="020B0609020204030204" pitchFamily="49" charset="0"/>
              </a:rPr>
              <a:t>employee’s</a:t>
            </a:r>
            <a:r>
              <a:rPr lang="en-US" dirty="0"/>
              <a:t> </a:t>
            </a:r>
            <a:r>
              <a:rPr lang="en-US" dirty="0" err="1">
                <a:latin typeface="Consolas" panose="020B0609020204030204" pitchFamily="49" charset="0"/>
              </a:rPr>
              <a:t>BaseSalary</a:t>
            </a:r>
            <a:r>
              <a:rPr lang="en-US" dirty="0"/>
              <a:t>; otherwise, </a:t>
            </a:r>
            <a:r>
              <a:rPr lang="en-US" dirty="0">
                <a:latin typeface="Consolas" panose="020B0609020204030204" pitchFamily="49" charset="0"/>
              </a:rPr>
              <a:t>salary</a:t>
            </a:r>
            <a:r>
              <a:rPr lang="en-US" dirty="0"/>
              <a:t> is assigned </a:t>
            </a:r>
            <a:r>
              <a:rPr lang="en-US" dirty="0">
                <a:latin typeface="Consolas" panose="020B0609020204030204" pitchFamily="49" charset="0"/>
              </a:rPr>
              <a:t>0M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preceding statement is equivalent to </a:t>
            </a:r>
          </a:p>
          <a:p>
            <a:pPr lvl="2"/>
            <a:r>
              <a:rPr lang="en-US" dirty="0">
                <a:latin typeface="Consolas" panose="020B0609020204030204" pitchFamily="49" charset="0"/>
              </a:rPr>
              <a:t>decimal salary = (employee?.</a:t>
            </a:r>
            <a:r>
              <a:rPr lang="en-US" dirty="0" err="1">
                <a:latin typeface="Consolas" panose="020B0609020204030204" pitchFamily="49" charset="0"/>
              </a:rPr>
              <a:t>BaseSalary</a:t>
            </a:r>
            <a:r>
              <a:rPr lang="en-US" dirty="0">
                <a:latin typeface="Consolas" panose="020B0609020204030204" pitchFamily="49" charset="0"/>
              </a:rPr>
              <a:t>).</a:t>
            </a:r>
            <a:r>
              <a:rPr lang="en-US" dirty="0" err="1">
                <a:latin typeface="Consolas" panose="020B0609020204030204" pitchFamily="49" charset="0"/>
              </a:rPr>
              <a:t>GetValueOrDefault</a:t>
            </a:r>
            <a:r>
              <a:rPr lang="en-US" dirty="0">
                <a:latin typeface="Consolas" panose="020B0609020204030204" pitchFamily="49" charset="0"/>
              </a:rPr>
              <a:t>();	</a:t>
            </a:r>
          </a:p>
        </p:txBody>
      </p:sp>
      <p:sp>
        <p:nvSpPr>
          <p:cNvPr id="10854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13.9.4 </a:t>
            </a:r>
            <a:r>
              <a:rPr lang="en-US" dirty="0"/>
              <a:t>Null Coalescing Operator </a:t>
            </a:r>
            <a:r>
              <a:rPr lang="en-US" dirty="0" smtClean="0"/>
              <a:t>(??)</a:t>
            </a:r>
            <a:endParaRPr lang="en-US" dirty="0"/>
          </a:p>
        </p:txBody>
      </p:sp>
      <p:sp>
        <p:nvSpPr>
          <p:cNvPr id="8909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©1992-2014 by Pearson Education, Inc. All Rights Reserved.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2004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More </a:t>
            </a:r>
            <a:r>
              <a:rPr lang="en-US" dirty="0"/>
              <a:t>elegant and more compact than writing the following equivalent code, which must explicitly test for </a:t>
            </a:r>
            <a:r>
              <a:rPr lang="en-US" dirty="0">
                <a:latin typeface="Consolas" panose="020B0609020204030204" pitchFamily="49" charset="0"/>
              </a:rPr>
              <a:t>null</a:t>
            </a:r>
            <a:r>
              <a:rPr lang="en-US" dirty="0"/>
              <a:t>: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decimal salary = 0M;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/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if (employee != null)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{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salary = </a:t>
            </a:r>
            <a:r>
              <a:rPr lang="en-US" dirty="0" err="1">
                <a:latin typeface="Consolas" panose="020B0609020204030204" pitchFamily="49" charset="0"/>
              </a:rPr>
              <a:t>employee.BaseSalary</a:t>
            </a:r>
            <a:r>
              <a:rPr lang="en-US" dirty="0">
                <a:latin typeface="Consolas" panose="020B0609020204030204" pitchFamily="49" charset="0"/>
              </a:rPr>
              <a:t/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}	</a:t>
            </a:r>
          </a:p>
          <a:p>
            <a:endParaRPr lang="en-US" dirty="0"/>
          </a:p>
          <a:p>
            <a:endParaRPr lang="en-US" dirty="0" smtClean="0"/>
          </a:p>
        </p:txBody>
      </p:sp>
      <p:sp>
        <p:nvSpPr>
          <p:cNvPr id="10854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13.9.4 </a:t>
            </a:r>
            <a:r>
              <a:rPr lang="en-US" dirty="0"/>
              <a:t>Null Coalescing Operator </a:t>
            </a:r>
            <a:r>
              <a:rPr lang="en-US" dirty="0" smtClean="0"/>
              <a:t>(??)</a:t>
            </a:r>
            <a:endParaRPr lang="en-US" dirty="0"/>
          </a:p>
        </p:txBody>
      </p:sp>
      <p:sp>
        <p:nvSpPr>
          <p:cNvPr id="8909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©1992-2014 by Pearson Education, Inc. All Rights Reserved.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7169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Prior to C# 6, you could catch an exception based only on its type. </a:t>
            </a:r>
            <a:endParaRPr lang="en-US" sz="2400" dirty="0" smtClean="0"/>
          </a:p>
          <a:p>
            <a:r>
              <a:rPr lang="en-US" sz="2400" dirty="0" smtClean="0"/>
              <a:t>C</a:t>
            </a:r>
            <a:r>
              <a:rPr lang="en-US" sz="2400" dirty="0"/>
              <a:t># 6 introduces </a:t>
            </a:r>
            <a:r>
              <a:rPr lang="en-US" sz="2400" b="1" dirty="0"/>
              <a:t>exception filters</a:t>
            </a:r>
            <a:r>
              <a:rPr lang="en-US" sz="2400" dirty="0"/>
              <a:t> that enable you to catch an exception based on a </a:t>
            </a:r>
            <a:r>
              <a:rPr lang="en-US" sz="2400" dirty="0">
                <a:latin typeface="Consolas" panose="020B0609020204030204" pitchFamily="49" charset="0"/>
              </a:rPr>
              <a:t>catch</a:t>
            </a:r>
            <a:r>
              <a:rPr lang="en-US" sz="2400" dirty="0"/>
              <a:t>’s </a:t>
            </a:r>
            <a:r>
              <a:rPr lang="en-US" sz="2400" dirty="0" err="1" smtClean="0"/>
              <a:t>exeption</a:t>
            </a:r>
            <a:r>
              <a:rPr lang="en-US" sz="2400" dirty="0" smtClean="0"/>
              <a:t> </a:t>
            </a:r>
            <a:r>
              <a:rPr lang="en-US" sz="2400" dirty="0"/>
              <a:t>type and a condition that’s specified with a </a:t>
            </a:r>
            <a:r>
              <a:rPr lang="en-US" sz="2400" b="1" dirty="0">
                <a:latin typeface="Consolas" panose="020B0609020204030204" pitchFamily="49" charset="0"/>
              </a:rPr>
              <a:t>when</a:t>
            </a:r>
            <a:r>
              <a:rPr lang="en-US" sz="2400" b="1" dirty="0"/>
              <a:t> clause</a:t>
            </a:r>
            <a:r>
              <a:rPr lang="en-US" sz="2400" dirty="0"/>
              <a:t>, as in</a:t>
            </a:r>
          </a:p>
          <a:p>
            <a:pPr lvl="1"/>
            <a:r>
              <a:rPr lang="en-US" sz="2000" dirty="0">
                <a:latin typeface="Consolas" panose="020B0609020204030204" pitchFamily="49" charset="0"/>
              </a:rPr>
              <a:t>catch(</a:t>
            </a:r>
            <a:r>
              <a:rPr lang="en-US" sz="2000" i="1" dirty="0" err="1">
                <a:latin typeface="Consolas" panose="020B0609020204030204" pitchFamily="49" charset="0"/>
              </a:rPr>
              <a:t>ExceptionType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i="1" dirty="0">
                <a:latin typeface="Consolas" panose="020B0609020204030204" pitchFamily="49" charset="0"/>
              </a:rPr>
              <a:t>name</a:t>
            </a:r>
            <a:r>
              <a:rPr lang="en-US" sz="2000" dirty="0">
                <a:latin typeface="Consolas" panose="020B0609020204030204" pitchFamily="49" charset="0"/>
              </a:rPr>
              <a:t>) when(</a:t>
            </a:r>
            <a:r>
              <a:rPr lang="en-US" sz="2000" i="1" dirty="0">
                <a:latin typeface="Consolas" panose="020B0609020204030204" pitchFamily="49" charset="0"/>
              </a:rPr>
              <a:t>condition</a:t>
            </a:r>
            <a:r>
              <a:rPr lang="en-US" sz="2000" dirty="0">
                <a:latin typeface="Consolas" panose="020B0609020204030204" pitchFamily="49" charset="0"/>
              </a:rPr>
              <a:t>)	</a:t>
            </a:r>
            <a:endParaRPr lang="en-US" sz="2000" dirty="0"/>
          </a:p>
          <a:p>
            <a:r>
              <a:rPr lang="en-US" sz="2400" dirty="0"/>
              <a:t>You also can specify an exception filter for a general </a:t>
            </a:r>
            <a:r>
              <a:rPr lang="en-US" sz="2400" dirty="0">
                <a:latin typeface="Consolas" panose="020B0609020204030204" pitchFamily="49" charset="0"/>
              </a:rPr>
              <a:t>catch</a:t>
            </a:r>
            <a:r>
              <a:rPr lang="en-US" sz="2400" dirty="0"/>
              <a:t> clause that does not provide an exception type. This allows you to catch an exception based only on a condition, as in </a:t>
            </a:r>
          </a:p>
          <a:p>
            <a:pPr lvl="1"/>
            <a:r>
              <a:rPr lang="en-US" sz="2000" dirty="0">
                <a:latin typeface="Consolas" panose="020B0609020204030204" pitchFamily="49" charset="0"/>
              </a:rPr>
              <a:t>catch when(</a:t>
            </a:r>
            <a:r>
              <a:rPr lang="en-US" sz="2000" i="1" dirty="0">
                <a:latin typeface="Consolas" panose="020B0609020204030204" pitchFamily="49" charset="0"/>
              </a:rPr>
              <a:t>condition</a:t>
            </a:r>
            <a:r>
              <a:rPr lang="en-US" sz="2000" dirty="0">
                <a:latin typeface="Consolas" panose="020B0609020204030204" pitchFamily="49" charset="0"/>
              </a:rPr>
              <a:t>)	</a:t>
            </a:r>
            <a:endParaRPr lang="en-US" sz="2000" dirty="0"/>
          </a:p>
          <a:p>
            <a:r>
              <a:rPr lang="en-US" sz="2400" dirty="0"/>
              <a:t>T</a:t>
            </a:r>
            <a:r>
              <a:rPr lang="en-US" sz="2400" dirty="0" smtClean="0"/>
              <a:t>he </a:t>
            </a:r>
            <a:r>
              <a:rPr lang="en-US" sz="2400" dirty="0"/>
              <a:t>exception is caught only if the </a:t>
            </a:r>
            <a:r>
              <a:rPr lang="en-US" sz="2400" dirty="0">
                <a:latin typeface="Consolas" panose="020B0609020204030204" pitchFamily="49" charset="0"/>
              </a:rPr>
              <a:t>when</a:t>
            </a:r>
            <a:r>
              <a:rPr lang="en-US" sz="2400" dirty="0"/>
              <a:t> clause’s condition is </a:t>
            </a:r>
            <a:r>
              <a:rPr lang="en-US" sz="2400" dirty="0" smtClean="0">
                <a:latin typeface="Consolas" panose="020B0609020204030204" pitchFamily="49" charset="0"/>
              </a:rPr>
              <a:t>true</a:t>
            </a:r>
          </a:p>
          <a:p>
            <a:r>
              <a:rPr lang="en-US" sz="2400" dirty="0"/>
              <a:t>A typical use of an exception filter is to determine whether a property of an exception object has a specific value. </a:t>
            </a:r>
          </a:p>
          <a:p>
            <a:endParaRPr lang="en-US" sz="2400" dirty="0" smtClean="0"/>
          </a:p>
        </p:txBody>
      </p:sp>
      <p:sp>
        <p:nvSpPr>
          <p:cNvPr id="10854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13.10 </a:t>
            </a:r>
            <a:r>
              <a:rPr lang="en-US" dirty="0"/>
              <a:t>Exception Filters and the C# 6 when Clause </a:t>
            </a:r>
          </a:p>
        </p:txBody>
      </p:sp>
      <p:sp>
        <p:nvSpPr>
          <p:cNvPr id="8909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mtClean="0"/>
              <a:t>©1992-2014 by Pearson Education, Inc. All Rights Reserved.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5887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13_Exceptions_Page_5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17613"/>
            <a:ext cx="12192000" cy="44227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8913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vcsharphtp6_10</Template>
  <TotalTime>161</TotalTime>
  <Words>3443</Words>
  <PresentationFormat>Widescreen</PresentationFormat>
  <Paragraphs>326</Paragraphs>
  <Slides>92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4" baseType="lpstr">
      <vt:lpstr>ＭＳ Ｐゴシック</vt:lpstr>
      <vt:lpstr>Arial</vt:lpstr>
      <vt:lpstr>Calibri</vt:lpstr>
      <vt:lpstr>Cambria</vt:lpstr>
      <vt:lpstr>Consolas</vt:lpstr>
      <vt:lpstr>Lucida Sans Unicode</vt:lpstr>
      <vt:lpstr>Times New Roman</vt:lpstr>
      <vt:lpstr>Verdana</vt:lpstr>
      <vt:lpstr>Wingdings</vt:lpstr>
      <vt:lpstr>Wingdings 2</vt:lpstr>
      <vt:lpstr>Wingdings 3</vt:lpstr>
      <vt:lpstr>Concourse</vt:lpstr>
      <vt:lpstr>Exception Handling:  A Deeper Look</vt:lpstr>
      <vt:lpstr>PowerPoint Presentation</vt:lpstr>
      <vt:lpstr>PowerPoint Presentation</vt:lpstr>
      <vt:lpstr>PowerPoint Presentation</vt:lpstr>
      <vt:lpstr>PowerPoint Presentation</vt:lpstr>
      <vt:lpstr>13.1 Introduction</vt:lpstr>
      <vt:lpstr>13.2 Example: Divide by Zero without Exception Handling</vt:lpstr>
      <vt:lpstr>PowerPoint Presentation</vt:lpstr>
      <vt:lpstr>PowerPoint Presentation</vt:lpstr>
      <vt:lpstr>PowerPoint Presentation</vt:lpstr>
      <vt:lpstr>13.2 Example: Divide by Zero without Exception Handling  (cont.)</vt:lpstr>
      <vt:lpstr>13.2 Example: Divide by Zero without Exception Handling  (cont.)</vt:lpstr>
      <vt:lpstr>13.2 Example: Divide by Zero without Exception Handling  (cont.)</vt:lpstr>
      <vt:lpstr>13.3 Example: Handling DivideByZeroExceptions and FormatExceptions</vt:lpstr>
      <vt:lpstr>PowerPoint Presentation</vt:lpstr>
      <vt:lpstr>PowerPoint Presentation</vt:lpstr>
      <vt:lpstr>PowerPoint Presentation</vt:lpstr>
      <vt:lpstr>PowerPoint Presentation</vt:lpstr>
      <vt:lpstr>13.3 Example: Handling DivideByZeroExceptions and FormatExceptions (cont). </vt:lpstr>
      <vt:lpstr>PowerPoint Presentation</vt:lpstr>
      <vt:lpstr>13.3.1 Enclosing Code in a try Block</vt:lpstr>
      <vt:lpstr>13.3.2 Catching Exceptions</vt:lpstr>
      <vt:lpstr>13.3.3 Uncaught Exceptions</vt:lpstr>
      <vt:lpstr>PowerPoint Presentation</vt:lpstr>
      <vt:lpstr>13.3.4 Termination Model of Exception Handling</vt:lpstr>
      <vt:lpstr>PowerPoint Presentation</vt:lpstr>
      <vt:lpstr>13.4 .NET Exception Hierarchy </vt:lpstr>
      <vt:lpstr>13.4.1 Class SystemException</vt:lpstr>
      <vt:lpstr>13.4.1 Class SystemException</vt:lpstr>
      <vt:lpstr>PowerPoint Presentation</vt:lpstr>
      <vt:lpstr>13.4.2 Which Exceptions Might a Method Throw?</vt:lpstr>
      <vt:lpstr>PowerPoint Presentation</vt:lpstr>
      <vt:lpstr>13.5 finally Block </vt:lpstr>
      <vt:lpstr>PowerPoint Presentation</vt:lpstr>
      <vt:lpstr>13.5.1 Moving Resource-Release Code to a finally Block</vt:lpstr>
      <vt:lpstr>13.5 finally Block (Cont.)</vt:lpstr>
      <vt:lpstr>PowerPoint Presentation</vt:lpstr>
      <vt:lpstr>PowerPoint Presentation</vt:lpstr>
      <vt:lpstr>13.5.2 Demonstrating the finally Block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13.5.3 Throwing Exceptions Using the throw Statement</vt:lpstr>
      <vt:lpstr>13.5.4 Rethrowing Exceptions</vt:lpstr>
      <vt:lpstr>PowerPoint Presentation</vt:lpstr>
      <vt:lpstr>13.5.5 Returning After a finally Block</vt:lpstr>
      <vt:lpstr>PowerPoint Presentation</vt:lpstr>
      <vt:lpstr>PowerPoint Presentation</vt:lpstr>
      <vt:lpstr>PowerPoint Presentation</vt:lpstr>
      <vt:lpstr>13.6 The using statement</vt:lpstr>
      <vt:lpstr>13.6 The using statement (Cont.)</vt:lpstr>
      <vt:lpstr>13.7 Exception Properties </vt:lpstr>
      <vt:lpstr>13.7.1 Property InnerException</vt:lpstr>
      <vt:lpstr>13.7.2 Other Exception Properties</vt:lpstr>
      <vt:lpstr>13.7.3 Demonstrating Exception Properties and Stack Unwinding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13.7.4 Throwing an Exception with an InnerException </vt:lpstr>
      <vt:lpstr>13.7.5 Displaying Information About the Exception</vt:lpstr>
      <vt:lpstr>PowerPoint Presentation</vt:lpstr>
      <vt:lpstr>13.8 User-Defined Exception Classes </vt:lpstr>
      <vt:lpstr>13.8 User-Defined Exception Classes (Cont.) </vt:lpstr>
      <vt:lpstr>PowerPoint Presentation</vt:lpstr>
      <vt:lpstr>PowerPoint Presentation</vt:lpstr>
      <vt:lpstr>13.8 User-Defined Exception Classes (Cont.)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13.9 Checking for null References; Introducing C# 6’s ?. Operator</vt:lpstr>
      <vt:lpstr>PowerPoint Presentation</vt:lpstr>
      <vt:lpstr>13.9.1 Null-Conditional Operator (?.)</vt:lpstr>
      <vt:lpstr>13.9.2 Revisiting Operators is and as </vt:lpstr>
      <vt:lpstr>13.9.3 Nullable Types</vt:lpstr>
      <vt:lpstr>13.9.3 Nullable Types</vt:lpstr>
      <vt:lpstr>PowerPoint Presentation</vt:lpstr>
      <vt:lpstr>13.9.4 Null Coalescing Operator (??)</vt:lpstr>
      <vt:lpstr>13.9.4 Null Coalescing Operator (??)</vt:lpstr>
      <vt:lpstr>13.10 Exception Filters and the C# 6 when Clause 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2016-07-22T20:31:44Z</dcterms:created>
  <dcterms:modified xsi:type="dcterms:W3CDTF">2017-02-09T18:15:10Z</dcterms:modified>
</cp:coreProperties>
</file>