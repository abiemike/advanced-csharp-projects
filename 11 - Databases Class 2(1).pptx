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5" r:id="rId6"/>
  </p:sldMasterIdLst>
  <p:notesMasterIdLst>
    <p:notesMasterId r:id="rId27"/>
  </p:notesMasterIdLst>
  <p:handoutMasterIdLst>
    <p:handoutMasterId r:id="rId28"/>
  </p:handoutMasterIdLst>
  <p:sldIdLst>
    <p:sldId id="265" r:id="rId7"/>
    <p:sldId id="264" r:id="rId8"/>
    <p:sldId id="289" r:id="rId9"/>
    <p:sldId id="294" r:id="rId10"/>
    <p:sldId id="295" r:id="rId11"/>
    <p:sldId id="290" r:id="rId12"/>
    <p:sldId id="291" r:id="rId13"/>
    <p:sldId id="296" r:id="rId14"/>
    <p:sldId id="292" r:id="rId15"/>
    <p:sldId id="293" r:id="rId16"/>
    <p:sldId id="272" r:id="rId17"/>
    <p:sldId id="277" r:id="rId18"/>
    <p:sldId id="279" r:id="rId19"/>
    <p:sldId id="281" r:id="rId20"/>
    <p:sldId id="283" r:id="rId21"/>
    <p:sldId id="284" r:id="rId22"/>
    <p:sldId id="285" r:id="rId23"/>
    <p:sldId id="287" r:id="rId24"/>
    <p:sldId id="288" r:id="rId25"/>
    <p:sldId id="261" r:id="rId26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432">
          <p15:clr>
            <a:srgbClr val="A4A3A4"/>
          </p15:clr>
        </p15:guide>
        <p15:guide id="3" orient="horz" pos="3600">
          <p15:clr>
            <a:srgbClr val="A4A3A4"/>
          </p15:clr>
        </p15:guide>
        <p15:guide id="4" orient="horz" pos="2160">
          <p15:clr>
            <a:srgbClr val="A4A3A4"/>
          </p15:clr>
        </p15:guide>
        <p15:guide id="5" pos="5328">
          <p15:clr>
            <a:srgbClr val="A4A3A4"/>
          </p15:clr>
        </p15:guide>
        <p15:guide id="6" pos="2880">
          <p15:clr>
            <a:srgbClr val="A4A3A4"/>
          </p15:clr>
        </p15:guide>
        <p15:guide id="7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C8"/>
    <a:srgbClr val="AFC828"/>
    <a:srgbClr val="1413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96765E-A8E8-4CDB-8692-EFE1CDC19B97}" v="1" dt="2022-12-31T18:41:51.3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75" autoAdjust="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1402" y="58"/>
      </p:cViewPr>
      <p:guideLst>
        <p:guide orient="horz" pos="3888"/>
        <p:guide orient="horz" pos="432"/>
        <p:guide orient="horz" pos="3600"/>
        <p:guide orient="horz" pos="2160"/>
        <p:guide pos="5328"/>
        <p:guide pos="2880"/>
        <p:guide pos="4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inz" userId="7f59dc78-02bd-4886-abaf-6bd5f36ff05a" providerId="ADAL" clId="{1496765E-A8E8-4CDB-8692-EFE1CDC19B97}"/>
    <pc:docChg chg="modSld modMainMaster">
      <pc:chgData name="John Hinz" userId="7f59dc78-02bd-4886-abaf-6bd5f36ff05a" providerId="ADAL" clId="{1496765E-A8E8-4CDB-8692-EFE1CDC19B97}" dt="2022-12-31T18:41:51.306" v="1"/>
      <pc:docMkLst>
        <pc:docMk/>
      </pc:docMkLst>
      <pc:sldChg chg="modSp mod">
        <pc:chgData name="John Hinz" userId="7f59dc78-02bd-4886-abaf-6bd5f36ff05a" providerId="ADAL" clId="{1496765E-A8E8-4CDB-8692-EFE1CDC19B97}" dt="2022-12-31T18:41:43.215" v="0" actId="6549"/>
        <pc:sldMkLst>
          <pc:docMk/>
          <pc:sldMk cId="2853357568" sldId="265"/>
        </pc:sldMkLst>
        <pc:spChg chg="mod">
          <ac:chgData name="John Hinz" userId="7f59dc78-02bd-4886-abaf-6bd5f36ff05a" providerId="ADAL" clId="{1496765E-A8E8-4CDB-8692-EFE1CDC19B97}" dt="2022-12-31T18:41:43.215" v="0" actId="6549"/>
          <ac:spMkLst>
            <pc:docMk/>
            <pc:sldMk cId="2853357568" sldId="265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842218717" sldId="272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842218717" sldId="272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016515866" sldId="277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016515866" sldId="277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637464171" sldId="279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637464171" sldId="279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9816090" sldId="281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9816090" sldId="281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901171526" sldId="283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901171526" sldId="283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3426594097" sldId="284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3426594097" sldId="284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1224271171" sldId="285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1224271171" sldId="285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76951887" sldId="287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76951887" sldId="287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980650871" sldId="288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980650871" sldId="288"/>
            <ac:spMk id="4" creationId="{00000000-0000-0000-0000-000000000000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2811439783" sldId="289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2811439783" sldId="289"/>
            <ac:spMk id="4" creationId="{88960E84-21B3-419A-A1BC-B7E0A7FC3852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1914605395" sldId="290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1914605395" sldId="290"/>
            <ac:spMk id="4" creationId="{F47D7409-70E6-4B64-AEC6-851618F8025F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4255458354" sldId="291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4255458354" sldId="291"/>
            <ac:spMk id="4" creationId="{C07AFF25-0EA8-45F8-B1B1-96773CF0D465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929552986" sldId="292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929552986" sldId="292"/>
            <ac:spMk id="4" creationId="{4A69719E-AACF-40AA-8AD4-ED3E5AC47C6E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1912919968" sldId="293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1912919968" sldId="293"/>
            <ac:spMk id="4" creationId="{A2CECC1B-72C6-4413-A56A-6D563BBA414B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1722487362" sldId="294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1722487362" sldId="294"/>
            <ac:spMk id="4" creationId="{CEF7039C-7E8C-4627-BD59-CDEA77AFAE68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1750110827" sldId="295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1750110827" sldId="295"/>
            <ac:spMk id="4" creationId="{F6C9C1F2-4A97-40B9-B9A6-6426FCE75C95}"/>
          </ac:spMkLst>
        </pc:spChg>
      </pc:sldChg>
      <pc:sldChg chg="modSp">
        <pc:chgData name="John Hinz" userId="7f59dc78-02bd-4886-abaf-6bd5f36ff05a" providerId="ADAL" clId="{1496765E-A8E8-4CDB-8692-EFE1CDC19B97}" dt="2022-12-31T18:41:51.306" v="1"/>
        <pc:sldMkLst>
          <pc:docMk/>
          <pc:sldMk cId="4167301699" sldId="296"/>
        </pc:sldMkLst>
        <pc:spChg chg="mod">
          <ac:chgData name="John Hinz" userId="7f59dc78-02bd-4886-abaf-6bd5f36ff05a" providerId="ADAL" clId="{1496765E-A8E8-4CDB-8692-EFE1CDC19B97}" dt="2022-12-31T18:41:51.306" v="1"/>
          <ac:spMkLst>
            <pc:docMk/>
            <pc:sldMk cId="4167301699" sldId="296"/>
            <ac:spMk id="4" creationId="{2D188B7D-4D00-4037-90DB-C4F688A02DE5}"/>
          </ac:spMkLst>
        </pc:spChg>
      </pc:sldChg>
      <pc:sldMasterChg chg="modSldLayout">
        <pc:chgData name="John Hinz" userId="7f59dc78-02bd-4886-abaf-6bd5f36ff05a" providerId="ADAL" clId="{1496765E-A8E8-4CDB-8692-EFE1CDC19B97}" dt="2022-12-31T18:41:51.306" v="1"/>
        <pc:sldMasterMkLst>
          <pc:docMk/>
          <pc:sldMasterMk cId="3832927138" sldId="2147483650"/>
        </pc:sldMasterMkLst>
        <pc:sldLayoutChg chg="modSp">
          <pc:chgData name="John Hinz" userId="7f59dc78-02bd-4886-abaf-6bd5f36ff05a" providerId="ADAL" clId="{1496765E-A8E8-4CDB-8692-EFE1CDC19B97}" dt="2022-12-31T18:41:51.306" v="1"/>
          <pc:sldLayoutMkLst>
            <pc:docMk/>
            <pc:sldMasterMk cId="3832927138" sldId="2147483650"/>
            <pc:sldLayoutMk cId="2468820788" sldId="2147483657"/>
          </pc:sldLayoutMkLst>
          <pc:spChg chg="mod">
            <ac:chgData name="John Hinz" userId="7f59dc78-02bd-4886-abaf-6bd5f36ff05a" providerId="ADAL" clId="{1496765E-A8E8-4CDB-8692-EFE1CDC19B97}" dt="2022-12-31T18:41:51.306" v="1"/>
            <ac:spMkLst>
              <pc:docMk/>
              <pc:sldMasterMk cId="3832927138" sldId="2147483650"/>
              <pc:sldLayoutMk cId="2468820788" sldId="2147483657"/>
              <ac:spMk id="5" creationId="{00000000-0000-0000-0000-000000000000}"/>
            </ac:spMkLst>
          </pc:spChg>
        </pc:sldLayoutChg>
      </pc:sldMasterChg>
    </pc:docChg>
  </pc:docChgLst>
  <pc:docChgLst>
    <pc:chgData name="John Hinz" userId="7f59dc78-02bd-4886-abaf-6bd5f36ff05a" providerId="ADAL" clId="{C55233E7-4FF0-4DCE-9E35-4ABF98FFB4F9}"/>
    <pc:docChg chg="modSld modNotesMaster modHandout">
      <pc:chgData name="John Hinz" userId="7f59dc78-02bd-4886-abaf-6bd5f36ff05a" providerId="ADAL" clId="{C55233E7-4FF0-4DCE-9E35-4ABF98FFB4F9}" dt="2019-11-25T18:05:28.747" v="1"/>
      <pc:docMkLst>
        <pc:docMk/>
      </pc:docMkLst>
      <pc:sldChg chg="modSp">
        <pc:chgData name="John Hinz" userId="7f59dc78-02bd-4886-abaf-6bd5f36ff05a" providerId="ADAL" clId="{C55233E7-4FF0-4DCE-9E35-4ABF98FFB4F9}" dt="2019-11-25T18:05:16.681" v="0"/>
        <pc:sldMkLst>
          <pc:docMk/>
          <pc:sldMk cId="2853357568" sldId="265"/>
        </pc:sldMkLst>
        <pc:spChg chg="mod">
          <ac:chgData name="John Hinz" userId="7f59dc78-02bd-4886-abaf-6bd5f36ff05a" providerId="ADAL" clId="{C55233E7-4FF0-4DCE-9E35-4ABF98FFB4F9}" dt="2019-11-25T18:05:16.681" v="0"/>
          <ac:spMkLst>
            <pc:docMk/>
            <pc:sldMk cId="2853357568" sldId="265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DAC81C5-AE7A-1044-93C2-6BFF0DD7BC2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6F6EB44-35E4-0D4D-B375-5AD6507359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612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CBB8FA7-5BDC-BF4F-AE27-E2122A3D7D4C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19D953D-192A-4F4A-A51F-DC3C7E58A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29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300"/>
              <a:t>©2019 John Hinz</a:t>
            </a:r>
            <a:endParaRPr lang="en-CA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554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Start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00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Sign</a:t>
            </a:r>
            <a:r>
              <a:rPr lang="en-US" baseline="0"/>
              <a:t> Off </a:t>
            </a:r>
            <a:r>
              <a:rPr lang="en-US" baseline="0" dirty="0"/>
              <a:t>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9D953D-192A-4F4A-A51F-DC3C7E58A63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9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980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76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37BDD08-E33E-4E70-9A4A-E7BE06C20C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882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t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83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15200" y="2984500"/>
            <a:ext cx="1828800" cy="3873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9968" y="5875020"/>
            <a:ext cx="2377440" cy="59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43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58200" y="5405437"/>
            <a:ext cx="685800" cy="145256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383292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8E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1"/>
            <a:ext cx="9144000" cy="6858000"/>
          </a:xfrm>
          <a:prstGeom prst="rect">
            <a:avLst/>
          </a:prstGeom>
          <a:solidFill>
            <a:srgbClr val="008E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58200" y="5405436"/>
            <a:ext cx="685800" cy="1452563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685800" y="6172200"/>
            <a:ext cx="18288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fld id="{88C0C721-AEEC-4745-A24D-5BC52D0B46FB}" type="slidenum">
              <a:rPr lang="en-US" sz="1400" b="0" i="0" smtClean="0">
                <a:solidFill>
                  <a:srgbClr val="FFFFFF"/>
                </a:solidFill>
                <a:latin typeface="ITC Franklin Gothic Std MedCd"/>
                <a:cs typeface="ITC Franklin Gothic Std MedCd"/>
              </a:rPr>
              <a:pPr algn="l"/>
              <a:t>‹#›</a:t>
            </a:fld>
            <a:endParaRPr lang="en-US" sz="1400" b="0" i="0" dirty="0">
              <a:solidFill>
                <a:srgbClr val="FFFFFF"/>
              </a:solidFill>
              <a:latin typeface="ITC Franklin Gothic Std MedCd"/>
              <a:cs typeface="ITC Franklin Gothic Std MedCd"/>
            </a:endParaRPr>
          </a:p>
        </p:txBody>
      </p:sp>
    </p:spTree>
    <p:extLst>
      <p:ext uri="{BB962C8B-B14F-4D97-AF65-F5344CB8AC3E}">
        <p14:creationId xmlns:p14="http://schemas.microsoft.com/office/powerpoint/2010/main" val="162998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85800"/>
            <a:ext cx="7772400" cy="19268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7500"/>
              </a:lnSpc>
            </a:pPr>
            <a:r>
              <a:rPr lang="en-US" sz="8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NET. 012</a:t>
            </a:r>
          </a:p>
          <a:p>
            <a:pPr>
              <a:lnSpc>
                <a:spcPts val="7500"/>
              </a:lnSpc>
            </a:pPr>
            <a:r>
              <a:rPr lang="en-US" sz="7200" spc="100" dirty="0">
                <a:solidFill>
                  <a:schemeClr val="bg1"/>
                </a:solidFill>
                <a:latin typeface="ITC Franklin Gothic Std Dm Cd"/>
                <a:cs typeface="ITC Franklin Gothic Std Bk Cd"/>
              </a:rPr>
              <a:t>Database Access</a:t>
            </a:r>
            <a:endParaRPr lang="en-US" sz="8000" spc="100" dirty="0">
              <a:solidFill>
                <a:schemeClr val="bg1"/>
              </a:solidFill>
              <a:latin typeface="ITC Franklin Gothic Std Dm Cd"/>
              <a:cs typeface="ITC Franklin Gothic Std Bk Cd"/>
            </a:endParaRPr>
          </a:p>
        </p:txBody>
      </p:sp>
    </p:spTree>
    <p:extLst>
      <p:ext uri="{BB962C8B-B14F-4D97-AF65-F5344CB8AC3E}">
        <p14:creationId xmlns:p14="http://schemas.microsoft.com/office/powerpoint/2010/main" val="2853357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685800"/>
            <a:ext cx="7772400" cy="43063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Agenda</a:t>
            </a: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ADO.NET (continued)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Commands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ExecuteNonQuery</a:t>
            </a: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ExecuteReader</a:t>
            </a: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ExecuteScalar</a:t>
            </a: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solidFill>
                  <a:schemeClr val="bg1"/>
                </a:solidFill>
                <a:latin typeface="ITC Franklin Gothic Std Bk Cd"/>
                <a:cs typeface="ITC Franklin Gothic Std Bk Cd"/>
              </a:rPr>
              <a:t>ExecuteXmlReader</a:t>
            </a:r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  <a:p>
            <a:endParaRPr lang="en-US" sz="2600" dirty="0">
              <a:solidFill>
                <a:schemeClr val="bg1"/>
              </a:solidFill>
              <a:latin typeface="ITC Franklin Gothic Std Bk Cd"/>
              <a:cs typeface="ITC Franklin Gothic Std Bk Cd"/>
            </a:endParaRPr>
          </a:p>
        </p:txBody>
      </p:sp>
    </p:spTree>
    <p:extLst>
      <p:ext uri="{BB962C8B-B14F-4D97-AF65-F5344CB8AC3E}">
        <p14:creationId xmlns:p14="http://schemas.microsoft.com/office/powerpoint/2010/main" val="2081111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100" dirty="0"/>
              <a:t>A command is, in its simplest form, a string of text containing SQL statements to be issued to the database.</a:t>
            </a:r>
          </a:p>
          <a:p>
            <a:pPr lvl="1"/>
            <a:r>
              <a:rPr lang="en-CA" sz="1800" b="1" dirty="0" err="1"/>
              <a:t>ExecuteNonQuery</a:t>
            </a:r>
            <a:r>
              <a:rPr lang="en-CA" sz="1800" dirty="0"/>
              <a:t>— Executes the command and returns the number of rows effected</a:t>
            </a:r>
          </a:p>
          <a:p>
            <a:pPr lvl="1"/>
            <a:r>
              <a:rPr lang="en-CA" sz="1800" b="1" dirty="0" err="1"/>
              <a:t>ExecuteReader</a:t>
            </a:r>
            <a:r>
              <a:rPr lang="en-CA" sz="1800" dirty="0"/>
              <a:t>— Executes the command and returns a typed </a:t>
            </a:r>
            <a:r>
              <a:rPr lang="en-CA" sz="1800" dirty="0" err="1"/>
              <a:t>IDataReader</a:t>
            </a:r>
            <a:endParaRPr lang="en-CA" sz="1800" dirty="0"/>
          </a:p>
          <a:p>
            <a:pPr lvl="1"/>
            <a:r>
              <a:rPr lang="en-CA" sz="1800" b="1" dirty="0" err="1"/>
              <a:t>ExecuteScalar</a:t>
            </a:r>
            <a:r>
              <a:rPr lang="en-CA" sz="1800" dirty="0"/>
              <a:t>— Executes the command and returns the value from the first column of the first row of any result set</a:t>
            </a:r>
          </a:p>
          <a:p>
            <a:pPr lvl="1"/>
            <a:r>
              <a:rPr lang="en-CA" sz="1800" b="1" dirty="0" err="1"/>
              <a:t>ExecuteXmlReader</a:t>
            </a:r>
            <a:r>
              <a:rPr lang="en-CA" sz="1800" dirty="0"/>
              <a:t>— Executes the command and returns an </a:t>
            </a:r>
            <a:r>
              <a:rPr lang="en-CA" sz="1800" dirty="0" err="1"/>
              <a:t>XmlReaderobject</a:t>
            </a:r>
            <a:r>
              <a:rPr lang="en-CA" sz="1800" dirty="0"/>
              <a:t>, which can be used to traverse the XML fragment returned from the database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960E84-21B3-419A-A1BC-B7E0A7FC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1143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C9D3C-8019-408E-BF96-77F2DF3C9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Command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E843-1CDF-47E6-86BE-F90B0012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 err="1"/>
              <a:t>SqlCommand</a:t>
            </a:r>
            <a:r>
              <a:rPr lang="en-CA" dirty="0"/>
              <a:t> type has a </a:t>
            </a:r>
            <a:r>
              <a:rPr lang="en-CA" dirty="0" err="1"/>
              <a:t>CommandText</a:t>
            </a:r>
            <a:r>
              <a:rPr lang="en-CA" dirty="0"/>
              <a:t> property</a:t>
            </a:r>
          </a:p>
          <a:p>
            <a:r>
              <a:rPr lang="en-CA" dirty="0"/>
              <a:t>The </a:t>
            </a:r>
            <a:r>
              <a:rPr lang="en-CA" dirty="0" err="1"/>
              <a:t>CommandText</a:t>
            </a:r>
            <a:r>
              <a:rPr lang="en-CA" dirty="0"/>
              <a:t> property allows a developer to associate the SQL to be executed when the connection is opened and the appropriate ‘Execute’ action is called.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7039C-7E8C-4627-BD59-CDEA77AFA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2248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E52FB-49C7-4E0B-A7CF-7EBAECAC2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Parameters Property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56C2-2A53-4917-ACEF-76A17E468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</a:t>
            </a:r>
            <a:r>
              <a:rPr lang="en-CA" dirty="0" err="1"/>
              <a:t>SqlCommand</a:t>
            </a:r>
            <a:r>
              <a:rPr lang="en-CA" dirty="0"/>
              <a:t> has an attribute called Parameters which is a </a:t>
            </a:r>
            <a:r>
              <a:rPr lang="en-CA" dirty="0" err="1"/>
              <a:t>SqlParametersCollection</a:t>
            </a:r>
            <a:r>
              <a:rPr lang="en-CA" dirty="0"/>
              <a:t> type.</a:t>
            </a:r>
          </a:p>
          <a:p>
            <a:r>
              <a:rPr lang="en-CA" dirty="0"/>
              <a:t>The Parameters allows you to specify the values required in the </a:t>
            </a:r>
            <a:r>
              <a:rPr lang="en-CA" dirty="0" err="1"/>
              <a:t>CommandText</a:t>
            </a:r>
            <a:r>
              <a:rPr lang="en-CA" dirty="0"/>
              <a:t> property.</a:t>
            </a:r>
          </a:p>
          <a:p>
            <a:r>
              <a:rPr lang="en-CA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C9C1F2-4A97-40B9-B9A6-6426FCE75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011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err="1"/>
              <a:t>ExecuteNonQuery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The </a:t>
            </a:r>
            <a:r>
              <a:rPr lang="en-CA" sz="3000" dirty="0" err="1"/>
              <a:t>ExecuteNonQuery</a:t>
            </a:r>
            <a:r>
              <a:rPr lang="en-CA" sz="3000" dirty="0"/>
              <a:t> method is commonly used for UPDATE, INSERT, or DELETE statements, for which the only returned value is the number of records affected</a:t>
            </a:r>
          </a:p>
          <a:p>
            <a:r>
              <a:rPr lang="en-CA" sz="3000" dirty="0" err="1"/>
              <a:t>ExecuteNonQuery</a:t>
            </a:r>
            <a:r>
              <a:rPr lang="en-CA" sz="3000" dirty="0"/>
              <a:t> returns the number of rows affected by the command as an int.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D7409-70E6-4B64-AEC6-851618F8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1460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err="1"/>
              <a:t>ExecuteReader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300" dirty="0"/>
              <a:t>The </a:t>
            </a:r>
            <a:r>
              <a:rPr lang="en-CA" sz="3300" dirty="0" err="1"/>
              <a:t>ExecuteReader</a:t>
            </a:r>
            <a:r>
              <a:rPr lang="en-CA" sz="3300" dirty="0"/>
              <a:t> method executes the command and returns a typed data reader object</a:t>
            </a:r>
          </a:p>
          <a:p>
            <a:r>
              <a:rPr lang="en-CA" sz="3300" dirty="0"/>
              <a:t>The data reader object returned can be used to iterate through the record(s) returned by the </a:t>
            </a:r>
            <a:r>
              <a:rPr lang="en-CA" sz="3300" dirty="0" err="1"/>
              <a:t>CommandText</a:t>
            </a:r>
            <a:endParaRPr lang="en-CA" sz="3300" dirty="0"/>
          </a:p>
          <a:p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AFF25-0EA8-45F8-B1B1-96773CF0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55458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err="1"/>
              <a:t>ExecuteReader</a:t>
            </a:r>
            <a:r>
              <a:rPr lang="en-CA" b="1" dirty="0"/>
              <a:t> (</a:t>
            </a:r>
            <a:r>
              <a:rPr lang="en-CA" b="1" dirty="0" err="1"/>
              <a:t>cont</a:t>
            </a:r>
            <a:r>
              <a:rPr lang="en-CA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reader has several methods for getting data returned from </a:t>
            </a:r>
            <a:r>
              <a:rPr lang="en-CA" dirty="0" err="1"/>
              <a:t>CommandText</a:t>
            </a:r>
            <a:endParaRPr lang="en-CA" dirty="0"/>
          </a:p>
          <a:p>
            <a:r>
              <a:rPr lang="en-CA" dirty="0"/>
              <a:t>These methods return a specific datatype and take an integer.  The integer is the zero based column number.</a:t>
            </a:r>
          </a:p>
          <a:p>
            <a:r>
              <a:rPr lang="en-CA" dirty="0"/>
              <a:t>E.g.</a:t>
            </a:r>
          </a:p>
          <a:p>
            <a:pPr lvl="1"/>
            <a:r>
              <a:rPr lang="en-CA" dirty="0" err="1"/>
              <a:t>GetGuid</a:t>
            </a:r>
            <a:r>
              <a:rPr lang="en-CA" dirty="0"/>
              <a:t>(0) will return a </a:t>
            </a:r>
            <a:r>
              <a:rPr lang="en-CA" dirty="0" err="1"/>
              <a:t>Guid</a:t>
            </a:r>
            <a:r>
              <a:rPr lang="en-CA" dirty="0"/>
              <a:t> from </a:t>
            </a:r>
            <a:r>
              <a:rPr lang="en-CA"/>
              <a:t>column zero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88B7D-4D00-4037-90DB-C4F688A0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67301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err="1"/>
              <a:t>ExecuteScalar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3000" dirty="0"/>
              <a:t>Sometimes it is necessary to return a single result from a SQL statement, such as the count of records in a given table or the current date/time on the server</a:t>
            </a:r>
          </a:p>
          <a:p>
            <a:r>
              <a:rPr lang="en-CA" sz="3000" dirty="0"/>
              <a:t>This method returns an object, which you can cast to the appropriate type if required.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9719E-AACF-40AA-8AD4-ED3E5AC47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29552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err="1"/>
              <a:t>ExecuteXmlReader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100" dirty="0"/>
              <a:t>SQL Server provider only</a:t>
            </a:r>
          </a:p>
          <a:p>
            <a:r>
              <a:rPr lang="en-CA" sz="2100" dirty="0"/>
              <a:t>Executes a SQL statement and returns an </a:t>
            </a:r>
            <a:r>
              <a:rPr lang="en-CA" sz="2100" dirty="0" err="1"/>
              <a:t>XmlReader</a:t>
            </a:r>
            <a:r>
              <a:rPr lang="en-CA" sz="2100" dirty="0"/>
              <a:t> object to the caller.</a:t>
            </a:r>
          </a:p>
          <a:p>
            <a:r>
              <a:rPr lang="en-CA" sz="2100" dirty="0"/>
              <a:t>SQL Server permits a SQL SELECT statement to be extended with a FOR XML clause.</a:t>
            </a:r>
          </a:p>
          <a:p>
            <a:pPr lvl="1"/>
            <a:r>
              <a:rPr lang="en-CA" sz="1800" dirty="0"/>
              <a:t>FOR XML AUTO— Builds a tree based on the tables in the FROM clause</a:t>
            </a:r>
          </a:p>
          <a:p>
            <a:pPr lvl="1"/>
            <a:r>
              <a:rPr lang="en-CA" sz="1800" dirty="0"/>
              <a:t>FOR XML RAW— Maps result set rows to elements with columns mapped to attributes</a:t>
            </a:r>
          </a:p>
          <a:p>
            <a:pPr lvl="1"/>
            <a:r>
              <a:rPr lang="en-CA" sz="1800" dirty="0"/>
              <a:t>FOR XML EXPLICIT— Requires that you specify the shape of the XML tree to be returned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ECC1B-72C6-4413-A56A-6D563BBA4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12919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Understanding Errors with ADO.NET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Catching database errors and inspecting error messages</a:t>
            </a:r>
          </a:p>
          <a:p>
            <a:pPr lvl="1"/>
            <a:r>
              <a:rPr lang="en-CA" dirty="0" err="1"/>
              <a:t>SqlException</a:t>
            </a:r>
            <a:r>
              <a:rPr lang="en-CA" dirty="0"/>
              <a:t> and </a:t>
            </a:r>
            <a:r>
              <a:rPr lang="en-CA" dirty="0" err="1"/>
              <a:t>SqlError</a:t>
            </a:r>
            <a:r>
              <a:rPr lang="en-CA" dirty="0"/>
              <a:t> classes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42218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Bind a </a:t>
            </a:r>
            <a:r>
              <a:rPr lang="en-CA" b="1" dirty="0" err="1"/>
              <a:t>DataTable</a:t>
            </a:r>
            <a:r>
              <a:rPr lang="en-CA" b="1" dirty="0"/>
              <a:t> to a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Display the disconnected dataset in your application</a:t>
            </a:r>
          </a:p>
          <a:p>
            <a:r>
              <a:rPr lang="en-CA" dirty="0"/>
              <a:t>Use the </a:t>
            </a:r>
            <a:r>
              <a:rPr lang="en-CA" dirty="0" err="1"/>
              <a:t>SqlDataAdapter</a:t>
            </a:r>
            <a:endParaRPr lang="en-CA" dirty="0"/>
          </a:p>
          <a:p>
            <a:endParaRPr lang="en-CA" dirty="0"/>
          </a:p>
          <a:p>
            <a:pPr marL="800100" lvl="2" indent="0">
              <a:buNone/>
            </a:pPr>
            <a:r>
              <a:rPr lang="en-CA" sz="1800" dirty="0" err="1"/>
              <a:t>SqlDataAdapter</a:t>
            </a:r>
            <a:r>
              <a:rPr lang="en-CA" sz="1800" dirty="0"/>
              <a:t> adapter = new </a:t>
            </a:r>
            <a:r>
              <a:rPr lang="en-CA" sz="1800" dirty="0" err="1"/>
              <a:t>SqlDataAdapter</a:t>
            </a:r>
            <a:r>
              <a:rPr lang="en-CA" sz="1800" dirty="0"/>
              <a:t>( "select * from Courses", conn);</a:t>
            </a:r>
          </a:p>
          <a:p>
            <a:pPr marL="800100" lvl="2" indent="0">
              <a:buNone/>
            </a:pPr>
            <a:r>
              <a:rPr lang="en-CA" sz="1800" dirty="0" err="1"/>
              <a:t>adapter.TableMappings.Add</a:t>
            </a:r>
            <a:r>
              <a:rPr lang="en-CA" sz="1800" dirty="0"/>
              <a:t>("Table", "Courses");</a:t>
            </a:r>
          </a:p>
          <a:p>
            <a:pPr marL="800100" lvl="2" indent="0">
              <a:buNone/>
            </a:pPr>
            <a:r>
              <a:rPr lang="en-CA" sz="1800" dirty="0" err="1"/>
              <a:t>adapter.Fill</a:t>
            </a:r>
            <a:r>
              <a:rPr lang="en-CA" sz="1800" dirty="0"/>
              <a:t>(ds);</a:t>
            </a:r>
          </a:p>
          <a:p>
            <a:pPr marL="800100" lvl="2" indent="0">
              <a:buNone/>
            </a:pPr>
            <a:r>
              <a:rPr lang="en-CA" sz="1800" dirty="0" err="1"/>
              <a:t>txtCourse.DataBindings.Add</a:t>
            </a:r>
            <a:r>
              <a:rPr lang="en-CA" sz="1800" dirty="0"/>
              <a:t>(new Binding("Text", ds, "</a:t>
            </a:r>
            <a:r>
              <a:rPr lang="en-CA" sz="1800" dirty="0" err="1"/>
              <a:t>Courses.Name</a:t>
            </a:r>
            <a:r>
              <a:rPr lang="en-CA" sz="1800" dirty="0"/>
              <a:t>"));</a:t>
            </a:r>
            <a:br>
              <a:rPr lang="en-CA" sz="1800" dirty="0"/>
            </a:br>
            <a:endParaRPr lang="en-CA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16515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 err="1"/>
              <a:t>SqlConnection.StatisticsEnabled</a:t>
            </a:r>
            <a:endParaRPr lang="en-CA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Enabling client side statistics gathering</a:t>
            </a:r>
          </a:p>
          <a:p>
            <a:r>
              <a:rPr lang="en-CA" sz="2800" dirty="0"/>
              <a:t>SQL Server/SQL Database performance issues</a:t>
            </a:r>
          </a:p>
          <a:p>
            <a:pPr lvl="1"/>
            <a:r>
              <a:rPr lang="en-CA" sz="2400" dirty="0"/>
              <a:t>Are you waiting a lot on server resources?</a:t>
            </a:r>
          </a:p>
          <a:p>
            <a:pPr lvl="1"/>
            <a:r>
              <a:rPr lang="en-CA" sz="2400" dirty="0"/>
              <a:t>Network latency?</a:t>
            </a:r>
          </a:p>
          <a:p>
            <a:r>
              <a:rPr lang="en-CA" sz="2800" dirty="0"/>
              <a:t>Inspecting the behavior of your client application</a:t>
            </a:r>
          </a:p>
          <a:p>
            <a:pPr lvl="1"/>
            <a:r>
              <a:rPr lang="en-CA" sz="2400" dirty="0"/>
              <a:t>Are you consuming too many rows? Too many roundtrips?</a:t>
            </a:r>
            <a:br>
              <a:rPr lang="en-CA" sz="2000" dirty="0"/>
            </a:br>
            <a:endParaRPr lang="en-CA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7464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Enabling Statistics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Open Connection to SQL Server or SQL Database</a:t>
            </a:r>
          </a:p>
          <a:p>
            <a:pPr lvl="1"/>
            <a:r>
              <a:rPr lang="en-CA" sz="2400" dirty="0"/>
              <a:t>A connection must be established before enabling statistics</a:t>
            </a:r>
          </a:p>
          <a:p>
            <a:r>
              <a:rPr lang="en-CA" sz="2800" dirty="0"/>
              <a:t>Execute Statement against the database</a:t>
            </a:r>
          </a:p>
          <a:p>
            <a:pPr lvl="1"/>
            <a:r>
              <a:rPr lang="en-CA" sz="2400" dirty="0"/>
              <a:t>Captures time spent on the server, plus the time spent by the provider</a:t>
            </a:r>
          </a:p>
          <a:p>
            <a:r>
              <a:rPr lang="en-CA" sz="2800" dirty="0"/>
              <a:t>Call </a:t>
            </a:r>
            <a:r>
              <a:rPr lang="en-CA" sz="2800" dirty="0" err="1"/>
              <a:t>RetrieveStatistics</a:t>
            </a:r>
            <a:endParaRPr lang="en-CA" sz="2800" dirty="0"/>
          </a:p>
          <a:p>
            <a:pPr lvl="1"/>
            <a:r>
              <a:rPr lang="en-CA" sz="2400" dirty="0"/>
              <a:t>Returns a collection of </a:t>
            </a:r>
            <a:r>
              <a:rPr lang="en-CA" sz="2400" dirty="0" err="1"/>
              <a:t>KeyValuePair</a:t>
            </a:r>
            <a:r>
              <a:rPr lang="en-CA" sz="2400" dirty="0"/>
              <a:t> containing the statistics</a:t>
            </a:r>
            <a:br>
              <a:rPr lang="en-CA" sz="2400" dirty="0"/>
            </a:br>
            <a:endParaRPr lang="en-CA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816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Managing Concurrency and Transactions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 err="1"/>
              <a:t>Autocommit</a:t>
            </a:r>
            <a:r>
              <a:rPr lang="fr-FR" sz="2800" dirty="0"/>
              <a:t> vs. </a:t>
            </a:r>
            <a:r>
              <a:rPr lang="fr-FR" sz="2800" dirty="0" err="1"/>
              <a:t>Implicit</a:t>
            </a:r>
            <a:r>
              <a:rPr lang="fr-FR" sz="2800" dirty="0"/>
              <a:t> vs. Explicit Transactions</a:t>
            </a:r>
          </a:p>
          <a:p>
            <a:r>
              <a:rPr lang="en-CA" sz="2800" dirty="0" err="1"/>
              <a:t>Autocommit</a:t>
            </a:r>
            <a:r>
              <a:rPr lang="en-CA" sz="2800" dirty="0"/>
              <a:t> = Default</a:t>
            </a:r>
          </a:p>
          <a:p>
            <a:pPr lvl="1"/>
            <a:r>
              <a:rPr lang="en-CA" sz="2400" dirty="0"/>
              <a:t>By default, the database automatically commits statements</a:t>
            </a:r>
          </a:p>
          <a:p>
            <a:r>
              <a:rPr lang="en-CA" sz="2800" dirty="0"/>
              <a:t>Implicit requires COMMIT or ROLLBACK</a:t>
            </a:r>
          </a:p>
          <a:p>
            <a:pPr lvl="1"/>
            <a:r>
              <a:rPr lang="en-CA" sz="2400" dirty="0"/>
              <a:t>In implicit mode, a transaction starts automatically</a:t>
            </a:r>
          </a:p>
          <a:p>
            <a:r>
              <a:rPr lang="en-CA" sz="2800" dirty="0"/>
              <a:t>Use </a:t>
            </a:r>
            <a:r>
              <a:rPr lang="en-CA" sz="2800" dirty="0" err="1"/>
              <a:t>BeginTransaction</a:t>
            </a:r>
            <a:r>
              <a:rPr lang="en-CA" sz="2800" dirty="0"/>
              <a:t> to declare an Explicit transaction</a:t>
            </a:r>
          </a:p>
          <a:p>
            <a:pPr lvl="1"/>
            <a:r>
              <a:rPr lang="en-CA" sz="2400" dirty="0"/>
              <a:t>In explicit mode, a transaction requires a COMMIT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1171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Managing Concurrency and Transactions (</a:t>
            </a:r>
            <a:r>
              <a:rPr lang="en-CA" b="1" dirty="0" err="1"/>
              <a:t>cont</a:t>
            </a:r>
            <a:r>
              <a:rPr lang="en-CA" b="1" dirty="0"/>
              <a:t>)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Database</a:t>
            </a:r>
          </a:p>
          <a:p>
            <a:pPr lvl="1"/>
            <a:r>
              <a:rPr lang="en-CA" sz="2000" dirty="0"/>
              <a:t>BEGIN TRAN and COMMIT TRAN in SQL Server/SQL Database</a:t>
            </a:r>
          </a:p>
          <a:p>
            <a:pPr lvl="1"/>
            <a:r>
              <a:rPr lang="en-CA" sz="2000" dirty="0"/>
              <a:t>Server-side transactions offer highest performance</a:t>
            </a:r>
          </a:p>
          <a:p>
            <a:r>
              <a:rPr lang="en-CA" sz="2400" dirty="0"/>
              <a:t>Local</a:t>
            </a:r>
          </a:p>
          <a:p>
            <a:pPr lvl="1"/>
            <a:r>
              <a:rPr lang="en-CA" sz="2000" dirty="0"/>
              <a:t>Within .NET using </a:t>
            </a:r>
            <a:r>
              <a:rPr lang="en-CA" sz="2000" dirty="0" err="1"/>
              <a:t>TransactionScope</a:t>
            </a:r>
            <a:r>
              <a:rPr lang="en-CA" sz="2000" dirty="0"/>
              <a:t> or </a:t>
            </a:r>
            <a:r>
              <a:rPr lang="en-CA" sz="2000" dirty="0" err="1"/>
              <a:t>BeginTransaction</a:t>
            </a:r>
            <a:endParaRPr lang="en-CA" sz="2000" dirty="0"/>
          </a:p>
          <a:p>
            <a:r>
              <a:rPr lang="en-CA" sz="2400" dirty="0"/>
              <a:t>Distributed Transactions</a:t>
            </a:r>
          </a:p>
          <a:p>
            <a:pPr lvl="1"/>
            <a:r>
              <a:rPr lang="en-CA" sz="2000" dirty="0"/>
              <a:t>Involves the Distributed Transactions Coordinator (DTC)</a:t>
            </a:r>
          </a:p>
          <a:p>
            <a:pPr lvl="1"/>
            <a:r>
              <a:rPr lang="en-CA" sz="2000" dirty="0"/>
              <a:t>Applies when multiple databases/systems are involved</a:t>
            </a:r>
          </a:p>
          <a:p>
            <a:pPr lvl="1"/>
            <a:r>
              <a:rPr lang="en-CA" sz="2000" dirty="0"/>
              <a:t>Use </a:t>
            </a:r>
            <a:r>
              <a:rPr lang="en-CA" sz="2000" dirty="0" err="1"/>
              <a:t>TransactionScope</a:t>
            </a:r>
            <a:r>
              <a:rPr lang="en-CA" sz="2000" dirty="0"/>
              <a:t> to promote to full distributed transactions</a:t>
            </a:r>
            <a:br>
              <a:rPr lang="en-CA" sz="2000" dirty="0"/>
            </a:br>
            <a:endParaRPr lang="en-CA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2659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Managing Optimistic Concurrency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3600" dirty="0"/>
              <a:t>Concurrency Models</a:t>
            </a:r>
          </a:p>
          <a:p>
            <a:pPr lvl="1"/>
            <a:r>
              <a:rPr lang="en-CA" sz="3200" dirty="0"/>
              <a:t>No concurrency checks: Last update wins</a:t>
            </a:r>
          </a:p>
          <a:p>
            <a:pPr lvl="1"/>
            <a:r>
              <a:rPr lang="en-CA" sz="3200" dirty="0"/>
              <a:t>Pessimistic Concurrency: Lock established while records are being changed</a:t>
            </a:r>
          </a:p>
          <a:p>
            <a:pPr lvl="1"/>
            <a:r>
              <a:rPr lang="en-CA" sz="3200" dirty="0"/>
              <a:t>Optimistic Concurrency: Lock established during the commit phase</a:t>
            </a:r>
          </a:p>
          <a:p>
            <a:pPr marL="0" indent="0">
              <a:buNone/>
            </a:pPr>
            <a:br>
              <a:rPr lang="en-CA" dirty="0"/>
            </a:br>
            <a:br>
              <a:rPr lang="en-CA" dirty="0"/>
            </a:b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4271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Connection 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Reasons for connection pooling</a:t>
            </a:r>
          </a:p>
          <a:p>
            <a:pPr lvl="1"/>
            <a:r>
              <a:rPr lang="en-CA" sz="2000" dirty="0"/>
              <a:t>Improves application performance</a:t>
            </a:r>
          </a:p>
          <a:p>
            <a:pPr lvl="1"/>
            <a:r>
              <a:rPr lang="en-CA" sz="2000" dirty="0"/>
              <a:t>Improves database scalability</a:t>
            </a:r>
          </a:p>
          <a:p>
            <a:r>
              <a:rPr lang="en-CA" sz="2400" dirty="0"/>
              <a:t>What controls connection pooling</a:t>
            </a:r>
          </a:p>
          <a:p>
            <a:pPr lvl="1"/>
            <a:r>
              <a:rPr lang="en-CA" sz="2000" dirty="0"/>
              <a:t>Connection String</a:t>
            </a:r>
          </a:p>
          <a:p>
            <a:pPr lvl="1"/>
            <a:r>
              <a:rPr lang="en-CA" sz="2000" dirty="0"/>
              <a:t>Currently logged on user for connections with Integration Security</a:t>
            </a:r>
          </a:p>
          <a:p>
            <a:pPr lvl="1"/>
            <a:r>
              <a:rPr lang="en-CA" sz="2000" dirty="0"/>
              <a:t>Transaction state</a:t>
            </a:r>
          </a:p>
          <a:p>
            <a:r>
              <a:rPr lang="en-CA" sz="2400" dirty="0"/>
              <a:t>Multiple connections are needed when</a:t>
            </a:r>
          </a:p>
          <a:p>
            <a:pPr lvl="1"/>
            <a:r>
              <a:rPr lang="en-CA" sz="2000" dirty="0"/>
              <a:t>Applications use multi-threading to connect to a database</a:t>
            </a:r>
          </a:p>
          <a:p>
            <a:pPr lvl="1"/>
            <a:r>
              <a:rPr lang="en-CA" sz="2000" dirty="0"/>
              <a:t>Different connection strings are used over time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6951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Connection Pooling (</a:t>
            </a:r>
            <a:r>
              <a:rPr lang="en-CA" b="1" dirty="0" err="1"/>
              <a:t>cont</a:t>
            </a:r>
            <a:r>
              <a:rPr lang="en-CA" b="1" dirty="0"/>
              <a:t>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835" y="1825625"/>
            <a:ext cx="5714330" cy="4351338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80650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85800"/>
            <a:ext cx="7772400" cy="741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5500"/>
              </a:lnSpc>
            </a:pPr>
            <a:r>
              <a:rPr lang="en-US" sz="6000" spc="100" dirty="0">
                <a:solidFill>
                  <a:schemeClr val="bg1"/>
                </a:solidFill>
                <a:latin typeface="ITC Franklin Gothic Std Dm Cd"/>
                <a:cs typeface="ITC Franklin Gothic Std Dm Cd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75705073"/>
      </p:ext>
    </p:extLst>
  </p:cSld>
  <p:clrMapOvr>
    <a:masterClrMapping/>
  </p:clrMapOvr>
</p:sld>
</file>

<file path=ppt/theme/theme1.xml><?xml version="1.0" encoding="utf-8"?>
<a:theme xmlns:a="http://schemas.openxmlformats.org/drawingml/2006/main" name="Humber Title Slide">
  <a:themeElements>
    <a:clrScheme name="Humber">
      <a:dk1>
        <a:srgbClr val="141313"/>
      </a:dk1>
      <a:lt1>
        <a:srgbClr val="FFFFFE"/>
      </a:lt1>
      <a:dk2>
        <a:srgbClr val="141313"/>
      </a:dk2>
      <a:lt2>
        <a:srgbClr val="EFEEED"/>
      </a:lt2>
      <a:accent1>
        <a:srgbClr val="008EC8"/>
      </a:accent1>
      <a:accent2>
        <a:srgbClr val="AFC828"/>
      </a:accent2>
      <a:accent3>
        <a:srgbClr val="D53958"/>
      </a:accent3>
      <a:accent4>
        <a:srgbClr val="FFE319"/>
      </a:accent4>
      <a:accent5>
        <a:srgbClr val="3C1C66"/>
      </a:accent5>
      <a:accent6>
        <a:srgbClr val="008C99"/>
      </a:accent6>
      <a:hlink>
        <a:srgbClr val="0000FF"/>
      </a:hlink>
      <a:folHlink>
        <a:srgbClr val="EFEEE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umber Conten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Humber Section Star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371C8B94430640A2F350B6533A274C" ma:contentTypeVersion="1" ma:contentTypeDescription="Create a new document." ma:contentTypeScope="" ma:versionID="5d43878db8b0c71b6e7401f8c5a7f179">
  <xsd:schema xmlns:xsd="http://www.w3.org/2001/XMLSchema" xmlns:xs="http://www.w3.org/2001/XMLSchema" xmlns:p="http://schemas.microsoft.com/office/2006/metadata/properties" xmlns:ns3="0c056a99-50b4-4809-aade-01fba2756a6f" targetNamespace="http://schemas.microsoft.com/office/2006/metadata/properties" ma:root="true" ma:fieldsID="2e2fcfc1b79692e7cbcf306c1c2defed" ns3:_="">
    <xsd:import namespace="0c056a99-50b4-4809-aade-01fba2756a6f"/>
    <xsd:element name="properties">
      <xsd:complexType>
        <xsd:sequence>
          <xsd:element name="documentManagement">
            <xsd:complexType>
              <xsd:all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056a99-50b4-4809-aade-01fba2756a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80490D-3AF5-4B12-9687-2DC26D0BB19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AAD99A-6ABE-4F1C-AC22-C5F81303ECCE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0c056a99-50b4-4809-aade-01fba2756a6f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4EF33B7-E8EB-4E3B-BA1C-BF808B8EB6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056a99-50b4-4809-aade-01fba2756a6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2420</TotalTime>
  <Words>841</Words>
  <Application>Microsoft Office PowerPoint</Application>
  <PresentationFormat>On-screen Show (4:3)</PresentationFormat>
  <Paragraphs>129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ITC Franklin Gothic Std Bk Cd</vt:lpstr>
      <vt:lpstr>ITC Franklin Gothic Std Dm Cd</vt:lpstr>
      <vt:lpstr>ITC Franklin Gothic Std MedCd</vt:lpstr>
      <vt:lpstr>Humber Title Slide</vt:lpstr>
      <vt:lpstr>Humber Content Slide</vt:lpstr>
      <vt:lpstr>Humber Section Start Slide</vt:lpstr>
      <vt:lpstr>PowerPoint Presentation</vt:lpstr>
      <vt:lpstr>PowerPoint Presentation</vt:lpstr>
      <vt:lpstr>Commands</vt:lpstr>
      <vt:lpstr>Command Text</vt:lpstr>
      <vt:lpstr>Parameters Property</vt:lpstr>
      <vt:lpstr>ExecuteNonQuery</vt:lpstr>
      <vt:lpstr>ExecuteReader</vt:lpstr>
      <vt:lpstr>ExecuteReader (cont)</vt:lpstr>
      <vt:lpstr>ExecuteScalar</vt:lpstr>
      <vt:lpstr>ExecuteXmlReader</vt:lpstr>
      <vt:lpstr>Understanding Errors with ADO.NET </vt:lpstr>
      <vt:lpstr>Bind a DataTable to a control</vt:lpstr>
      <vt:lpstr>SqlConnection.StatisticsEnabled</vt:lpstr>
      <vt:lpstr>Enabling Statistics</vt:lpstr>
      <vt:lpstr>Managing Concurrency and Transactions</vt:lpstr>
      <vt:lpstr>Managing Concurrency and Transactions (cont)</vt:lpstr>
      <vt:lpstr>Managing Optimistic Concurrency</vt:lpstr>
      <vt:lpstr>Connection Pooling</vt:lpstr>
      <vt:lpstr>Connection Pooling (cont)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Amandeep S. Patti</cp:lastModifiedBy>
  <cp:revision>1</cp:revision>
  <cp:lastPrinted>2019-11-25T18:05:49Z</cp:lastPrinted>
  <dcterms:created xsi:type="dcterms:W3CDTF">2013-11-05T15:35:21Z</dcterms:created>
  <dcterms:modified xsi:type="dcterms:W3CDTF">2023-10-16T16:37:19Z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0x010100FA371C8B94430640A2F350B6533A274C</vt:lpwstr>
  </property>
</Properties>
</file>